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207" autoAdjust="0"/>
  </p:normalViewPr>
  <p:slideViewPr>
    <p:cSldViewPr snapToGrid="0">
      <p:cViewPr varScale="1">
        <p:scale>
          <a:sx n="49" d="100"/>
          <a:sy n="49" d="100"/>
        </p:scale>
        <p:origin x="1312" y="264"/>
      </p:cViewPr>
      <p:guideLst>
        <p:guide orient="horz" pos="2160"/>
        <p:guide pos="3840"/>
      </p:guideLst>
    </p:cSldViewPr>
  </p:slideViewPr>
  <p:notesTextViewPr>
    <p:cViewPr>
      <p:scale>
        <a:sx n="20" d="100"/>
        <a:sy n="2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弘樹 中村" userId="a025bb5ecfdc7ca2" providerId="LiveId" clId="{AC29752E-9633-413F-A998-E9529B1C9327}"/>
    <pc:docChg chg="modSld">
      <pc:chgData name="弘樹 中村" userId="a025bb5ecfdc7ca2" providerId="LiveId" clId="{AC29752E-9633-413F-A998-E9529B1C9327}" dt="2025-11-06T02:28:00.153" v="279" actId="20577"/>
      <pc:docMkLst>
        <pc:docMk/>
      </pc:docMkLst>
      <pc:sldChg chg="modSp mod">
        <pc:chgData name="弘樹 中村" userId="a025bb5ecfdc7ca2" providerId="LiveId" clId="{AC29752E-9633-413F-A998-E9529B1C9327}" dt="2025-11-06T02:15:29.967" v="75" actId="20577"/>
        <pc:sldMkLst>
          <pc:docMk/>
          <pc:sldMk cId="483593960" sldId="256"/>
        </pc:sldMkLst>
        <pc:spChg chg="mod">
          <ac:chgData name="弘樹 中村" userId="a025bb5ecfdc7ca2" providerId="LiveId" clId="{AC29752E-9633-413F-A998-E9529B1C9327}" dt="2025-11-06T02:15:29.967" v="75" actId="20577"/>
          <ac:spMkLst>
            <pc:docMk/>
            <pc:sldMk cId="483593960" sldId="256"/>
            <ac:spMk id="2" creationId="{99406DF4-3525-9DAC-253F-65E7246E4865}"/>
          </ac:spMkLst>
        </pc:spChg>
      </pc:sldChg>
      <pc:sldChg chg="modSp mod">
        <pc:chgData name="弘樹 中村" userId="a025bb5ecfdc7ca2" providerId="LiveId" clId="{AC29752E-9633-413F-A998-E9529B1C9327}" dt="2025-11-06T02:25:14.400" v="117" actId="20577"/>
        <pc:sldMkLst>
          <pc:docMk/>
          <pc:sldMk cId="1283283129" sldId="258"/>
        </pc:sldMkLst>
        <pc:spChg chg="mod">
          <ac:chgData name="弘樹 中村" userId="a025bb5ecfdc7ca2" providerId="LiveId" clId="{AC29752E-9633-413F-A998-E9529B1C9327}" dt="2025-11-06T02:25:14.400" v="117" actId="20577"/>
          <ac:spMkLst>
            <pc:docMk/>
            <pc:sldMk cId="1283283129" sldId="258"/>
            <ac:spMk id="4" creationId="{A1510045-05F5-3106-C0EA-171DC15C19E3}"/>
          </ac:spMkLst>
        </pc:spChg>
      </pc:sldChg>
      <pc:sldChg chg="modSp mod">
        <pc:chgData name="弘樹 中村" userId="a025bb5ecfdc7ca2" providerId="LiveId" clId="{AC29752E-9633-413F-A998-E9529B1C9327}" dt="2025-11-06T02:25:19.252" v="125" actId="20577"/>
        <pc:sldMkLst>
          <pc:docMk/>
          <pc:sldMk cId="3869579632" sldId="259"/>
        </pc:sldMkLst>
        <pc:spChg chg="mod">
          <ac:chgData name="弘樹 中村" userId="a025bb5ecfdc7ca2" providerId="LiveId" clId="{AC29752E-9633-413F-A998-E9529B1C9327}" dt="2025-11-06T02:25:19.252" v="125" actId="20577"/>
          <ac:spMkLst>
            <pc:docMk/>
            <pc:sldMk cId="3869579632" sldId="259"/>
            <ac:spMk id="4" creationId="{89C244D9-6391-637C-1F81-5A56BDE82CB3}"/>
          </ac:spMkLst>
        </pc:spChg>
      </pc:sldChg>
      <pc:sldChg chg="modSp mod">
        <pc:chgData name="弘樹 中村" userId="a025bb5ecfdc7ca2" providerId="LiveId" clId="{AC29752E-9633-413F-A998-E9529B1C9327}" dt="2025-11-06T02:15:49.328" v="89" actId="20577"/>
        <pc:sldMkLst>
          <pc:docMk/>
          <pc:sldMk cId="4041492840" sldId="262"/>
        </pc:sldMkLst>
        <pc:spChg chg="mod">
          <ac:chgData name="弘樹 中村" userId="a025bb5ecfdc7ca2" providerId="LiveId" clId="{AC29752E-9633-413F-A998-E9529B1C9327}" dt="2025-11-06T02:15:49.328" v="89" actId="20577"/>
          <ac:spMkLst>
            <pc:docMk/>
            <pc:sldMk cId="4041492840" sldId="262"/>
            <ac:spMk id="3" creationId="{239721C9-7CEA-A402-3932-6A570817890D}"/>
          </ac:spMkLst>
        </pc:spChg>
      </pc:sldChg>
      <pc:sldChg chg="modSp mod">
        <pc:chgData name="弘樹 中村" userId="a025bb5ecfdc7ca2" providerId="LiveId" clId="{AC29752E-9633-413F-A998-E9529B1C9327}" dt="2025-11-06T02:28:00.153" v="279" actId="20577"/>
        <pc:sldMkLst>
          <pc:docMk/>
          <pc:sldMk cId="3159785736" sldId="263"/>
        </pc:sldMkLst>
        <pc:spChg chg="mod">
          <ac:chgData name="弘樹 中村" userId="a025bb5ecfdc7ca2" providerId="LiveId" clId="{AC29752E-9633-413F-A998-E9529B1C9327}" dt="2025-11-06T02:16:14.342" v="101" actId="20577"/>
          <ac:spMkLst>
            <pc:docMk/>
            <pc:sldMk cId="3159785736" sldId="263"/>
            <ac:spMk id="2" creationId="{98341CF3-E6B3-DB66-667F-39F8A0963F92}"/>
          </ac:spMkLst>
        </pc:spChg>
        <pc:spChg chg="mod">
          <ac:chgData name="弘樹 中村" userId="a025bb5ecfdc7ca2" providerId="LiveId" clId="{AC29752E-9633-413F-A998-E9529B1C9327}" dt="2025-11-06T02:28:00.153" v="279" actId="20577"/>
          <ac:spMkLst>
            <pc:docMk/>
            <pc:sldMk cId="3159785736" sldId="263"/>
            <ac:spMk id="3" creationId="{8A21BB34-1029-839E-0E97-9BCDFEC12165}"/>
          </ac:spMkLst>
        </pc:spChg>
        <pc:graphicFrameChg chg="mod">
          <ac:chgData name="弘樹 中村" userId="a025bb5ecfdc7ca2" providerId="LiveId" clId="{AC29752E-9633-413F-A998-E9529B1C9327}" dt="2025-11-06T02:27:17.704" v="142" actId="1036"/>
          <ac:graphicFrameMkLst>
            <pc:docMk/>
            <pc:sldMk cId="3159785736" sldId="263"/>
            <ac:graphicFrameMk id="6" creationId="{E2A47E18-5AC0-61F1-EA59-53308E4FF6F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11F95-8E30-4421-A04D-78812C9EDB37}" type="datetimeFigureOut">
              <a:rPr kumimoji="1" lang="ja-JP" altLang="en-US" smtClean="0"/>
              <a:t>2025/11/6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9A2F61-5E68-44F8-A5A8-A3E930359A08}" type="slidenum">
              <a:rPr kumimoji="1" lang="ja-JP" altLang="en-US" smtClean="0"/>
              <a:t>‹#›</a:t>
            </a:fld>
            <a:endParaRPr kumimoji="1" lang="ja-JP" altLang="en-US"/>
          </a:p>
        </p:txBody>
      </p:sp>
    </p:spTree>
    <p:extLst>
      <p:ext uri="{BB962C8B-B14F-4D97-AF65-F5344CB8AC3E}">
        <p14:creationId xmlns:p14="http://schemas.microsoft.com/office/powerpoint/2010/main" val="214359449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39A2F61-5E68-44F8-A5A8-A3E930359A08}" type="slidenum">
              <a:rPr kumimoji="1" lang="ja-JP" altLang="en-US" smtClean="0"/>
              <a:t>1</a:t>
            </a:fld>
            <a:endParaRPr kumimoji="1" lang="ja-JP" altLang="en-US"/>
          </a:p>
        </p:txBody>
      </p:sp>
    </p:spTree>
    <p:extLst>
      <p:ext uri="{BB962C8B-B14F-4D97-AF65-F5344CB8AC3E}">
        <p14:creationId xmlns:p14="http://schemas.microsoft.com/office/powerpoint/2010/main" val="3739886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39A2F61-5E68-44F8-A5A8-A3E930359A08}" type="slidenum">
              <a:rPr kumimoji="1" lang="ja-JP" altLang="en-US" smtClean="0"/>
              <a:t>6</a:t>
            </a:fld>
            <a:endParaRPr kumimoji="1" lang="ja-JP" altLang="en-US"/>
          </a:p>
        </p:txBody>
      </p:sp>
    </p:spTree>
    <p:extLst>
      <p:ext uri="{BB962C8B-B14F-4D97-AF65-F5344CB8AC3E}">
        <p14:creationId xmlns:p14="http://schemas.microsoft.com/office/powerpoint/2010/main" val="1563310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39A2F61-5E68-44F8-A5A8-A3E930359A08}" type="slidenum">
              <a:rPr kumimoji="1" lang="ja-JP" altLang="en-US" smtClean="0"/>
              <a:t>7</a:t>
            </a:fld>
            <a:endParaRPr kumimoji="1" lang="ja-JP" altLang="en-US"/>
          </a:p>
        </p:txBody>
      </p:sp>
    </p:spTree>
    <p:extLst>
      <p:ext uri="{BB962C8B-B14F-4D97-AF65-F5344CB8AC3E}">
        <p14:creationId xmlns:p14="http://schemas.microsoft.com/office/powerpoint/2010/main" val="2276558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39A2F61-5E68-44F8-A5A8-A3E930359A08}" type="slidenum">
              <a:rPr kumimoji="1" lang="ja-JP" altLang="en-US" smtClean="0"/>
              <a:t>8</a:t>
            </a:fld>
            <a:endParaRPr kumimoji="1" lang="ja-JP" altLang="en-US"/>
          </a:p>
        </p:txBody>
      </p:sp>
    </p:spTree>
    <p:extLst>
      <p:ext uri="{BB962C8B-B14F-4D97-AF65-F5344CB8AC3E}">
        <p14:creationId xmlns:p14="http://schemas.microsoft.com/office/powerpoint/2010/main" val="3357179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578CEB-B957-333E-E3A5-4F0E598EB55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80DABA6-A06C-9BE0-5E95-F8890A67A9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DFBF6CE-8A62-64FF-8B48-0CD39E5A069F}"/>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5" name="フッター プレースホルダー 4">
            <a:extLst>
              <a:ext uri="{FF2B5EF4-FFF2-40B4-BE49-F238E27FC236}">
                <a16:creationId xmlns:a16="http://schemas.microsoft.com/office/drawing/2014/main" id="{79DCE1D7-F071-EA0F-74CC-58E49F05E28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DF7150-6981-E6E0-05E8-944AB3A91326}"/>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3526149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8FE59B-F02B-8ADA-BBE6-DCC1FF99FAF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20A5FE5-D1A5-FD20-60F7-07137376AE4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E1A4AC-D93E-40B9-5E2F-1CB67EC25626}"/>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5" name="フッター プレースホルダー 4">
            <a:extLst>
              <a:ext uri="{FF2B5EF4-FFF2-40B4-BE49-F238E27FC236}">
                <a16:creationId xmlns:a16="http://schemas.microsoft.com/office/drawing/2014/main" id="{59545AF9-2426-2E1A-BF1E-F65B9B4746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09A194-1BAD-C0AE-DE5B-06D093836975}"/>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845382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48026E-674F-B174-66D2-163A13F9C29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7163D6-E72D-4D31-7C39-DE851F8561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D4A37FA-A13D-C7D9-81CF-C8353CDCE5DB}"/>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5" name="フッター プレースホルダー 4">
            <a:extLst>
              <a:ext uri="{FF2B5EF4-FFF2-40B4-BE49-F238E27FC236}">
                <a16:creationId xmlns:a16="http://schemas.microsoft.com/office/drawing/2014/main" id="{52CD1B24-0558-EC41-1E9E-4343287E8E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361182-7BB6-B98C-13AC-04ED80681361}"/>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3943238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2D279F-BE2A-6571-EDE6-D8EDF3A7E87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BCB3C52-98FB-F504-963F-656A29F30E1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8A84429-3F33-AC53-FCE5-FB016A9A537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049ED3A-FEA6-AB96-EAF9-873C0C295F30}"/>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6" name="フッター プレースホルダー 5">
            <a:extLst>
              <a:ext uri="{FF2B5EF4-FFF2-40B4-BE49-F238E27FC236}">
                <a16:creationId xmlns:a16="http://schemas.microsoft.com/office/drawing/2014/main" id="{364B15E8-16E0-7ED4-5F09-F4161D4AFE0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E8E423C-940F-8B27-FAAF-A4E7B4BEDB7B}"/>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3207605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28F9C9-1DBD-ADD1-FDE4-2A5740576EE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3C21712-FCC7-3F71-1716-3FFFCCEE37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1D658E0-149E-8D27-7852-6B88A98C962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0D88A31-B34A-4D6C-7579-5D1468C4D4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5D984C9-84E6-F88D-3A81-C0C84EF1D82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E34E6F1-C602-040F-91F2-84BB8223CFA2}"/>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8" name="フッター プレースホルダー 7">
            <a:extLst>
              <a:ext uri="{FF2B5EF4-FFF2-40B4-BE49-F238E27FC236}">
                <a16:creationId xmlns:a16="http://schemas.microsoft.com/office/drawing/2014/main" id="{6D21C718-B287-6DF6-6A49-C9BD2DE1DFE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F4B20AC-667F-5C11-4C68-DA1ED9FAC555}"/>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2061585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C638AE-174D-DF10-EF9D-ABA91BD4E45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6E4E25E-4394-FAA1-DDB5-96E15E8B40A7}"/>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4" name="フッター プレースホルダー 3">
            <a:extLst>
              <a:ext uri="{FF2B5EF4-FFF2-40B4-BE49-F238E27FC236}">
                <a16:creationId xmlns:a16="http://schemas.microsoft.com/office/drawing/2014/main" id="{88D5964B-138D-AA45-F38F-7EC3CD7B502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D81BFBD-072E-4D48-DF11-88888C6634BF}"/>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2292794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5E4223A-0745-EF20-63EA-50A20C51C6DC}"/>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3" name="フッター プレースホルダー 2">
            <a:extLst>
              <a:ext uri="{FF2B5EF4-FFF2-40B4-BE49-F238E27FC236}">
                <a16:creationId xmlns:a16="http://schemas.microsoft.com/office/drawing/2014/main" id="{7AD6716A-442E-43F5-26C7-0E6A13ABF8F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C238716-AF56-BE4C-5CF6-13A0A1AF043A}"/>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3730559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0C8957-9B21-B89D-B7A3-3059887594E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159968-2AF8-2468-0C22-E249C75263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3578B0C-855C-795A-FACB-DFE1CD7C88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E95E59E-9D24-B8A1-4767-CDEA8DDB6545}"/>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6" name="フッター プレースホルダー 5">
            <a:extLst>
              <a:ext uri="{FF2B5EF4-FFF2-40B4-BE49-F238E27FC236}">
                <a16:creationId xmlns:a16="http://schemas.microsoft.com/office/drawing/2014/main" id="{B68DD381-C089-EA6C-CD02-F5D702BA5C9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AFE300-89AE-D0CB-DA36-6FB171186A22}"/>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2335301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006EB5-E264-4BC1-C06C-544A105FAE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813BA08-C25D-A941-CCE3-023033203D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060956F-8395-A184-AA64-2A9E5538A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933E68A-F2B0-CF6D-5FCD-D30DE24881D2}"/>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6" name="フッター プレースホルダー 5">
            <a:extLst>
              <a:ext uri="{FF2B5EF4-FFF2-40B4-BE49-F238E27FC236}">
                <a16:creationId xmlns:a16="http://schemas.microsoft.com/office/drawing/2014/main" id="{286A18DE-F312-D4D9-A383-78B6C45146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2154AB-5D64-ED7D-FB1E-926C71D09893}"/>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1409830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1C9DE0-16CA-DCB5-0F23-46D8678DC72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F17EDBA-432B-CFC1-15D7-E390C97A2D0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250B4DC-A8F2-D78B-95AE-DF0274A3DA5A}"/>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5" name="フッター プレースホルダー 4">
            <a:extLst>
              <a:ext uri="{FF2B5EF4-FFF2-40B4-BE49-F238E27FC236}">
                <a16:creationId xmlns:a16="http://schemas.microsoft.com/office/drawing/2014/main" id="{789FC0CE-7014-7515-9DC5-82590D3B5CB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00FEA4-CD63-05E2-3EB5-00D155950B20}"/>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139737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C71237D-1621-F7A8-96FE-AA091D3744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91E2C51-556B-9A4D-7336-445D05B192B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01531C-5543-06DD-F83A-E368B34AB625}"/>
              </a:ext>
            </a:extLst>
          </p:cNvPr>
          <p:cNvSpPr>
            <a:spLocks noGrp="1"/>
          </p:cNvSpPr>
          <p:nvPr>
            <p:ph type="dt" sz="half" idx="10"/>
          </p:nvPr>
        </p:nvSpPr>
        <p:spPr/>
        <p:txBody>
          <a:bodyPr/>
          <a:lstStyle/>
          <a:p>
            <a:fld id="{0AF76EE5-AE59-41C3-89E5-84B01B2A366D}" type="datetimeFigureOut">
              <a:rPr kumimoji="1" lang="ja-JP" altLang="en-US" smtClean="0"/>
              <a:t>2025/11/6</a:t>
            </a:fld>
            <a:endParaRPr kumimoji="1" lang="ja-JP" altLang="en-US"/>
          </a:p>
        </p:txBody>
      </p:sp>
      <p:sp>
        <p:nvSpPr>
          <p:cNvPr id="5" name="フッター プレースホルダー 4">
            <a:extLst>
              <a:ext uri="{FF2B5EF4-FFF2-40B4-BE49-F238E27FC236}">
                <a16:creationId xmlns:a16="http://schemas.microsoft.com/office/drawing/2014/main" id="{0809948E-F07A-FA83-BBB8-50E97F6797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6D3933-DD39-72A3-4C21-6EF9F3DE334E}"/>
              </a:ext>
            </a:extLst>
          </p:cNvPr>
          <p:cNvSpPr>
            <a:spLocks noGrp="1"/>
          </p:cNvSpPr>
          <p:nvPr>
            <p:ph type="sldNum" sz="quarter" idx="12"/>
          </p:nvPr>
        </p:nvSpPr>
        <p:spPr/>
        <p:txBody>
          <a:body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396620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79493FD-C24A-21A5-009B-40245D707B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3507C53-15BB-040C-C671-97B78E3F2E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FE66618-5010-B0D3-3580-94105C8251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F76EE5-AE59-41C3-89E5-84B01B2A366D}" type="datetimeFigureOut">
              <a:rPr kumimoji="1" lang="ja-JP" altLang="en-US" smtClean="0"/>
              <a:t>2025/11/6</a:t>
            </a:fld>
            <a:endParaRPr kumimoji="1" lang="ja-JP" altLang="en-US"/>
          </a:p>
        </p:txBody>
      </p:sp>
      <p:sp>
        <p:nvSpPr>
          <p:cNvPr id="5" name="フッター プレースホルダー 4">
            <a:extLst>
              <a:ext uri="{FF2B5EF4-FFF2-40B4-BE49-F238E27FC236}">
                <a16:creationId xmlns:a16="http://schemas.microsoft.com/office/drawing/2014/main" id="{9F25D46A-65FB-CF41-38E8-A3989538F0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18C7D6F-11EE-F819-A15B-4A8D458B40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40C951-38A2-47D1-89BF-471B3F631EBF}" type="slidenum">
              <a:rPr kumimoji="1" lang="ja-JP" altLang="en-US" smtClean="0"/>
              <a:t>‹#›</a:t>
            </a:fld>
            <a:endParaRPr kumimoji="1" lang="ja-JP" altLang="en-US"/>
          </a:p>
        </p:txBody>
      </p:sp>
    </p:spTree>
    <p:extLst>
      <p:ext uri="{BB962C8B-B14F-4D97-AF65-F5344CB8AC3E}">
        <p14:creationId xmlns:p14="http://schemas.microsoft.com/office/powerpoint/2010/main" val="1495449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406DF4-3525-9DAC-253F-65E7246E4865}"/>
              </a:ext>
            </a:extLst>
          </p:cNvPr>
          <p:cNvSpPr>
            <a:spLocks noGrp="1"/>
          </p:cNvSpPr>
          <p:nvPr>
            <p:ph type="ctrTitle"/>
          </p:nvPr>
        </p:nvSpPr>
        <p:spPr/>
        <p:txBody>
          <a:bodyPr/>
          <a:lstStyle/>
          <a:p>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設計について考える</a:t>
            </a:r>
            <a:endPar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 name="字幕 2">
            <a:extLst>
              <a:ext uri="{FF2B5EF4-FFF2-40B4-BE49-F238E27FC236}">
                <a16:creationId xmlns:a16="http://schemas.microsoft.com/office/drawing/2014/main" id="{021E2DB7-F37B-C9E8-0BA5-0A27D0FD33FF}"/>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483593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C1AEBD-B647-9C89-BD5C-AFCA761D1AD0}"/>
              </a:ext>
            </a:extLst>
          </p:cNvPr>
          <p:cNvSpPr>
            <a:spLocks noGrp="1"/>
          </p:cNvSpPr>
          <p:nvPr>
            <p:ph type="title"/>
          </p:nvPr>
        </p:nvSpPr>
        <p:spPr/>
        <p:txBody>
          <a:bodyPr/>
          <a:lstStyle/>
          <a:p>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とはなにか</a:t>
            </a:r>
          </a:p>
        </p:txBody>
      </p:sp>
      <p:sp>
        <p:nvSpPr>
          <p:cNvPr id="3" name="コンテンツ プレースホルダー 2">
            <a:extLst>
              <a:ext uri="{FF2B5EF4-FFF2-40B4-BE49-F238E27FC236}">
                <a16:creationId xmlns:a16="http://schemas.microsoft.com/office/drawing/2014/main" id="{BEAC97DB-33B5-195A-1D39-AF9C033B164D}"/>
              </a:ext>
            </a:extLst>
          </p:cNvPr>
          <p:cNvSpPr>
            <a:spLocks noGrp="1"/>
          </p:cNvSpPr>
          <p:nvPr>
            <p:ph idx="1"/>
          </p:nvPr>
        </p:nvSpPr>
        <p:spPr>
          <a:xfrm>
            <a:off x="838200" y="1825625"/>
            <a:ext cx="10515600" cy="773196"/>
          </a:xfrm>
        </p:spPr>
        <p:txBody>
          <a:bodyPr>
            <a:normAutofit/>
          </a:bodyPr>
          <a:lstStyle/>
          <a:p>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とは、モノやヒトを区別するために使う「一意の名前や番号」である。</a:t>
            </a:r>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(Identifier</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の略</a:t>
            </a:r>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a:t>
            </a:r>
          </a:p>
          <a:p>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の具体例としては「マイナンバー」や「運転免許番号」、「クレジットカード番号」がある。</a:t>
            </a:r>
          </a:p>
        </p:txBody>
      </p:sp>
      <p:graphicFrame>
        <p:nvGraphicFramePr>
          <p:cNvPr id="6" name="表 5">
            <a:extLst>
              <a:ext uri="{FF2B5EF4-FFF2-40B4-BE49-F238E27FC236}">
                <a16:creationId xmlns:a16="http://schemas.microsoft.com/office/drawing/2014/main" id="{9BEB62D3-5DA0-A2F6-6CCA-5EA28B348897}"/>
              </a:ext>
            </a:extLst>
          </p:cNvPr>
          <p:cNvGraphicFramePr>
            <a:graphicFrameLocks noGrp="1"/>
          </p:cNvGraphicFramePr>
          <p:nvPr>
            <p:extLst>
              <p:ext uri="{D42A27DB-BD31-4B8C-83A1-F6EECF244321}">
                <p14:modId xmlns:p14="http://schemas.microsoft.com/office/powerpoint/2010/main" val="2382092769"/>
              </p:ext>
            </p:extLst>
          </p:nvPr>
        </p:nvGraphicFramePr>
        <p:xfrm>
          <a:off x="1075704" y="2733758"/>
          <a:ext cx="10075227" cy="2743200"/>
        </p:xfrm>
        <a:graphic>
          <a:graphicData uri="http://schemas.openxmlformats.org/drawingml/2006/table">
            <a:tbl>
              <a:tblPr firstRow="1" bandRow="1">
                <a:tableStyleId>{5C22544A-7EE6-4342-B048-85BDC9FD1C3A}</a:tableStyleId>
              </a:tblPr>
              <a:tblGrid>
                <a:gridCol w="1038104">
                  <a:extLst>
                    <a:ext uri="{9D8B030D-6E8A-4147-A177-3AD203B41FA5}">
                      <a16:colId xmlns:a16="http://schemas.microsoft.com/office/drawing/2014/main" val="2122804136"/>
                    </a:ext>
                  </a:extLst>
                </a:gridCol>
                <a:gridCol w="3705101">
                  <a:extLst>
                    <a:ext uri="{9D8B030D-6E8A-4147-A177-3AD203B41FA5}">
                      <a16:colId xmlns:a16="http://schemas.microsoft.com/office/drawing/2014/main" val="345308190"/>
                    </a:ext>
                  </a:extLst>
                </a:gridCol>
                <a:gridCol w="5332022">
                  <a:extLst>
                    <a:ext uri="{9D8B030D-6E8A-4147-A177-3AD203B41FA5}">
                      <a16:colId xmlns:a16="http://schemas.microsoft.com/office/drawing/2014/main" val="1317318590"/>
                    </a:ext>
                  </a:extLst>
                </a:gridCol>
              </a:tblGrid>
              <a:tr h="370840">
                <a:tc>
                  <a:txBody>
                    <a:bodyPr/>
                    <a:lstStyle/>
                    <a:p>
                      <a:pPr algn="ctr"/>
                      <a:r>
                        <a:rPr kumimoji="1" lang="ja-JP" altLang="en-US" dirty="0">
                          <a:solidFill>
                            <a:schemeClr val="bg1"/>
                          </a:solidFill>
                        </a:rPr>
                        <a:t>項番</a:t>
                      </a:r>
                    </a:p>
                  </a:txBody>
                  <a:tcPr/>
                </a:tc>
                <a:tc>
                  <a:txBody>
                    <a:bodyPr/>
                    <a:lstStyle/>
                    <a:p>
                      <a:pPr algn="ctr"/>
                      <a:r>
                        <a:rPr kumimoji="1" lang="ja-JP" altLang="en-US" dirty="0">
                          <a:solidFill>
                            <a:schemeClr val="bg1"/>
                          </a:solidFill>
                        </a:rPr>
                        <a:t>名称</a:t>
                      </a:r>
                    </a:p>
                  </a:txBody>
                  <a:tcPr/>
                </a:tc>
                <a:tc>
                  <a:txBody>
                    <a:bodyPr/>
                    <a:lstStyle/>
                    <a:p>
                      <a:pPr algn="ctr"/>
                      <a:r>
                        <a:rPr kumimoji="1" lang="ja-JP" altLang="en-US" dirty="0">
                          <a:solidFill>
                            <a:schemeClr val="bg1"/>
                          </a:solidFill>
                        </a:rPr>
                        <a:t>用途</a:t>
                      </a:r>
                    </a:p>
                  </a:txBody>
                  <a:tcPr/>
                </a:tc>
                <a:extLst>
                  <a:ext uri="{0D108BD9-81ED-4DB2-BD59-A6C34878D82A}">
                    <a16:rowId xmlns:a16="http://schemas.microsoft.com/office/drawing/2014/main" val="4164494696"/>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1</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マイナンバー</a:t>
                      </a: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日本に住民票を持つ人間の個人番号。行政手続きで個人を特定する</a:t>
                      </a:r>
                      <a:endPar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ための</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931489600"/>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2</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運転免許番号</a:t>
                      </a: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各人に割り当てられる免許証の番号。身分証明書として利用される</a:t>
                      </a:r>
                    </a:p>
                  </a:txBody>
                  <a:tcPr/>
                </a:tc>
                <a:extLst>
                  <a:ext uri="{0D108BD9-81ED-4DB2-BD59-A6C34878D82A}">
                    <a16:rowId xmlns:a16="http://schemas.microsoft.com/office/drawing/2014/main" val="1845765786"/>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3</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クレジットカード番号</a:t>
                      </a: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発行されたカード固有の番号。支払いや決済時に使用</a:t>
                      </a:r>
                    </a:p>
                  </a:txBody>
                  <a:tcPr/>
                </a:tc>
                <a:extLst>
                  <a:ext uri="{0D108BD9-81ED-4DB2-BD59-A6C34878D82A}">
                    <a16:rowId xmlns:a16="http://schemas.microsoft.com/office/drawing/2014/main" val="1394610113"/>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4</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パスポート番号</a:t>
                      </a: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旅券ごとに発行される番号。出入国管理や本人確認で使用</a:t>
                      </a:r>
                    </a:p>
                  </a:txBody>
                  <a:tcPr/>
                </a:tc>
                <a:extLst>
                  <a:ext uri="{0D108BD9-81ED-4DB2-BD59-A6C34878D82A}">
                    <a16:rowId xmlns:a16="http://schemas.microsoft.com/office/drawing/2014/main" val="1624257534"/>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5</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電話番号</a:t>
                      </a: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電話回線ごとの番号。通信網で利用者を特定</a:t>
                      </a:r>
                    </a:p>
                  </a:txBody>
                  <a:tcPr/>
                </a:tc>
                <a:extLst>
                  <a:ext uri="{0D108BD9-81ED-4DB2-BD59-A6C34878D82A}">
                    <a16:rowId xmlns:a16="http://schemas.microsoft.com/office/drawing/2014/main" val="1482577758"/>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6</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amazon</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のユーザ</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利用者ごとに割り当て。注文履歴やポイント管理に使用</a:t>
                      </a:r>
                    </a:p>
                  </a:txBody>
                  <a:tcPr/>
                </a:tc>
                <a:extLst>
                  <a:ext uri="{0D108BD9-81ED-4DB2-BD59-A6C34878D82A}">
                    <a16:rowId xmlns:a16="http://schemas.microsoft.com/office/drawing/2014/main" val="1167327745"/>
                  </a:ext>
                </a:extLst>
              </a:tr>
            </a:tbl>
          </a:graphicData>
        </a:graphic>
      </p:graphicFrame>
    </p:spTree>
    <p:extLst>
      <p:ext uri="{BB962C8B-B14F-4D97-AF65-F5344CB8AC3E}">
        <p14:creationId xmlns:p14="http://schemas.microsoft.com/office/powerpoint/2010/main" val="415197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0FE3B1-E740-D99D-9DFE-C4542017681B}"/>
              </a:ext>
            </a:extLst>
          </p:cNvPr>
          <p:cNvSpPr>
            <a:spLocks noGrp="1"/>
          </p:cNvSpPr>
          <p:nvPr>
            <p:ph type="title"/>
          </p:nvPr>
        </p:nvSpPr>
        <p:spPr/>
        <p:txBody>
          <a:bodyPr/>
          <a:lstStyle/>
          <a:p>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設計のポイント </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(1/2)</a:t>
            </a:r>
            <a:endPar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A1510045-05F5-3106-C0EA-171DC15C19E3}"/>
              </a:ext>
            </a:extLst>
          </p:cNvPr>
          <p:cNvSpPr>
            <a:spLocks noGrp="1"/>
          </p:cNvSpPr>
          <p:nvPr>
            <p:ph idx="1"/>
          </p:nvPr>
        </p:nvSpPr>
        <p:spPr>
          <a:xfrm>
            <a:off x="838200" y="1825625"/>
            <a:ext cx="10515600" cy="773196"/>
          </a:xfrm>
        </p:spPr>
        <p:txBody>
          <a:bodyPr>
            <a:normAutofit/>
          </a:bodyPr>
          <a:lstStyle/>
          <a:p>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を設計するうえでの重要ポイントを複数例示する。</a:t>
            </a:r>
            <a:endPar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本</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ページ</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では「一意性」と</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「不変性」について説明する</a:t>
            </a:r>
            <a:endPar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6" name="直線コネクタ 5">
            <a:extLst>
              <a:ext uri="{FF2B5EF4-FFF2-40B4-BE49-F238E27FC236}">
                <a16:creationId xmlns:a16="http://schemas.microsoft.com/office/drawing/2014/main" id="{E7CC6A87-F1CA-6976-15D8-3CF02D07FA45}"/>
              </a:ext>
            </a:extLst>
          </p:cNvPr>
          <p:cNvCxnSpPr>
            <a:cxnSpLocks/>
          </p:cNvCxnSpPr>
          <p:nvPr/>
        </p:nvCxnSpPr>
        <p:spPr>
          <a:xfrm>
            <a:off x="6096000" y="2907792"/>
            <a:ext cx="0" cy="3419117"/>
          </a:xfrm>
          <a:prstGeom prst="line">
            <a:avLst/>
          </a:prstGeom>
          <a:ln w="381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D3C23D74-A874-3285-92A8-9B7542FFA783}"/>
              </a:ext>
            </a:extLst>
          </p:cNvPr>
          <p:cNvSpPr/>
          <p:nvPr/>
        </p:nvSpPr>
        <p:spPr>
          <a:xfrm>
            <a:off x="6871851" y="2963208"/>
            <a:ext cx="1560939" cy="44500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不変性</a:t>
            </a:r>
          </a:p>
        </p:txBody>
      </p:sp>
      <p:sp>
        <p:nvSpPr>
          <p:cNvPr id="9" name="正方形/長方形 8">
            <a:extLst>
              <a:ext uri="{FF2B5EF4-FFF2-40B4-BE49-F238E27FC236}">
                <a16:creationId xmlns:a16="http://schemas.microsoft.com/office/drawing/2014/main" id="{05F6C025-5663-AE72-9B83-064740B8646A}"/>
              </a:ext>
            </a:extLst>
          </p:cNvPr>
          <p:cNvSpPr/>
          <p:nvPr/>
        </p:nvSpPr>
        <p:spPr>
          <a:xfrm>
            <a:off x="1089894" y="2963208"/>
            <a:ext cx="1560939" cy="44500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一意性</a:t>
            </a:r>
          </a:p>
        </p:txBody>
      </p:sp>
      <p:sp>
        <p:nvSpPr>
          <p:cNvPr id="10" name="テキスト ボックス 9">
            <a:extLst>
              <a:ext uri="{FF2B5EF4-FFF2-40B4-BE49-F238E27FC236}">
                <a16:creationId xmlns:a16="http://schemas.microsoft.com/office/drawing/2014/main" id="{7FEE331C-D350-7CEC-A32F-BCEC54C5BF9B}"/>
              </a:ext>
            </a:extLst>
          </p:cNvPr>
          <p:cNvSpPr txBox="1"/>
          <p:nvPr/>
        </p:nvSpPr>
        <p:spPr>
          <a:xfrm>
            <a:off x="1089894" y="3537529"/>
            <a:ext cx="4294903" cy="3139321"/>
          </a:xfrm>
          <a:prstGeom prst="rect">
            <a:avLst/>
          </a:prstGeom>
          <a:noFill/>
        </p:spPr>
        <p:txBody>
          <a:bodyPr wrap="square" rtlCol="0">
            <a:spAutoFit/>
          </a:bodyPr>
          <a:lstStyle/>
          <a:p>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観点</a:t>
            </a:r>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p>
          <a:p>
            <a:pPr marL="285750" indent="-285750">
              <a:buFont typeface="Arial" panose="020B0604020202020204" pitchFamily="34" charset="0"/>
              <a:buChar char="•"/>
            </a:pP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他と絶対に重複しないこと</a:t>
            </a:r>
            <a:b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b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重複があると誰の情報かわからなくなる。</a:t>
            </a:r>
            <a:endPar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一意性の確保のために「発番方式」も</a:t>
            </a:r>
            <a:b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b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考慮する必要がある。</a:t>
            </a:r>
            <a:endPar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endPar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発番方式具体例：</a:t>
            </a:r>
            <a:endParaRPr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シーケンシャル払い出し、</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UUID</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、連携</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etc..</a:t>
            </a:r>
            <a:br>
              <a:rPr kumimoji="1" lang="en-US" altLang="ja-JP" dirty="0">
                <a:latin typeface="Meiryo UI" panose="020B0604030504040204" pitchFamily="50" charset="-128"/>
                <a:ea typeface="Meiryo UI" panose="020B0604030504040204" pitchFamily="50" charset="-128"/>
              </a:rPr>
            </a:br>
            <a:br>
              <a:rPr kumimoji="1" lang="en-US" altLang="ja-JP" dirty="0">
                <a:latin typeface="Meiryo UI" panose="020B0604030504040204" pitchFamily="50" charset="-128"/>
                <a:ea typeface="Meiryo UI" panose="020B0604030504040204" pitchFamily="50" charset="-128"/>
              </a:rPr>
            </a:br>
            <a:endParaRPr kumimoji="1" lang="ja-JP" altLang="en-US" dirty="0">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B9C82660-4F23-16B0-A92F-484736468DD8}"/>
              </a:ext>
            </a:extLst>
          </p:cNvPr>
          <p:cNvSpPr txBox="1"/>
          <p:nvPr/>
        </p:nvSpPr>
        <p:spPr>
          <a:xfrm>
            <a:off x="6871851" y="3537529"/>
            <a:ext cx="4294903" cy="3416320"/>
          </a:xfrm>
          <a:prstGeom prst="rect">
            <a:avLst/>
          </a:prstGeom>
          <a:noFill/>
        </p:spPr>
        <p:txBody>
          <a:bodyPr wrap="square" rtlCol="0">
            <a:spAutoFit/>
          </a:bodyPr>
          <a:lstStyle/>
          <a:p>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観点</a:t>
            </a:r>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p>
          <a:p>
            <a:pPr marL="285750" indent="-285750">
              <a:buFont typeface="Arial" panose="020B0604020202020204" pitchFamily="34" charset="0"/>
              <a:buChar char="•"/>
            </a:pP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発行した</a:t>
            </a:r>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は変更しないこと</a:t>
            </a:r>
            <a:br>
              <a:rPr lang="en-US" altLang="ja-JP" dirty="0">
                <a:solidFill>
                  <a:schemeClr val="tx1">
                    <a:lumMod val="75000"/>
                    <a:lumOff val="25000"/>
                  </a:schemeClr>
                </a:solidFill>
                <a:latin typeface="Meiryo UI" panose="020B0604030504040204" pitchFamily="50" charset="-128"/>
                <a:ea typeface="Meiryo UI" panose="020B0604030504040204" pitchFamily="50" charset="-128"/>
              </a:rPr>
            </a:b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変更があると参照整合性が崩れ、システム障害やデータ不整合を招く。</a:t>
            </a:r>
            <a:endParaRPr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変更要件がある際は外部</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変更が効く</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と内部</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外部</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とマッピングさせ実際の処理ではこちらを利用</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を準備するなど対応が必要。</a:t>
            </a:r>
            <a:endPar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br>
              <a:rPr kumimoji="1" lang="en-US" altLang="ja-JP" dirty="0">
                <a:latin typeface="Meiryo UI" panose="020B0604030504040204" pitchFamily="50" charset="-128"/>
                <a:ea typeface="Meiryo UI" panose="020B0604030504040204" pitchFamily="50" charset="-128"/>
              </a:rPr>
            </a:br>
            <a:br>
              <a:rPr kumimoji="1" lang="en-US" altLang="ja-JP" dirty="0">
                <a:latin typeface="Meiryo UI" panose="020B0604030504040204" pitchFamily="50" charset="-128"/>
                <a:ea typeface="Meiryo UI" panose="020B0604030504040204" pitchFamily="50" charset="-128"/>
              </a:rPr>
            </a:b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8328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58BF-C6B9-B40D-3440-B230B732C6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6A7EA7-F120-D502-FD55-F3C9796186AC}"/>
              </a:ext>
            </a:extLst>
          </p:cNvPr>
          <p:cNvSpPr>
            <a:spLocks noGrp="1"/>
          </p:cNvSpPr>
          <p:nvPr>
            <p:ph type="title"/>
          </p:nvPr>
        </p:nvSpPr>
        <p:spPr/>
        <p:txBody>
          <a:bodyPr/>
          <a:lstStyle/>
          <a:p>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設計のポイント </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(2/2)</a:t>
            </a:r>
            <a:endPar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89C244D9-6391-637C-1F81-5A56BDE82CB3}"/>
              </a:ext>
            </a:extLst>
          </p:cNvPr>
          <p:cNvSpPr>
            <a:spLocks noGrp="1"/>
          </p:cNvSpPr>
          <p:nvPr>
            <p:ph idx="1"/>
          </p:nvPr>
        </p:nvSpPr>
        <p:spPr>
          <a:xfrm>
            <a:off x="838200" y="1825625"/>
            <a:ext cx="10515600" cy="773196"/>
          </a:xfrm>
        </p:spPr>
        <p:txBody>
          <a:bodyPr>
            <a:normAutofit/>
          </a:bodyPr>
          <a:lstStyle/>
          <a:p>
            <a:r>
              <a:rPr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を設計するうえでの重要ポイントを複数例示する。</a:t>
            </a:r>
            <a:endParaRPr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本ページでは「意味情報排除」と</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「拡張性」について説明する</a:t>
            </a:r>
            <a:endPar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6" name="直線コネクタ 5">
            <a:extLst>
              <a:ext uri="{FF2B5EF4-FFF2-40B4-BE49-F238E27FC236}">
                <a16:creationId xmlns:a16="http://schemas.microsoft.com/office/drawing/2014/main" id="{57917551-1671-9D01-4D15-08D9E99BF922}"/>
              </a:ext>
            </a:extLst>
          </p:cNvPr>
          <p:cNvCxnSpPr>
            <a:cxnSpLocks/>
          </p:cNvCxnSpPr>
          <p:nvPr/>
        </p:nvCxnSpPr>
        <p:spPr>
          <a:xfrm>
            <a:off x="6096000" y="2907792"/>
            <a:ext cx="0" cy="3419117"/>
          </a:xfrm>
          <a:prstGeom prst="line">
            <a:avLst/>
          </a:prstGeom>
          <a:ln w="381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B5490462-655C-775F-5161-B1E015209717}"/>
              </a:ext>
            </a:extLst>
          </p:cNvPr>
          <p:cNvSpPr/>
          <p:nvPr/>
        </p:nvSpPr>
        <p:spPr>
          <a:xfrm>
            <a:off x="6871851" y="2963208"/>
            <a:ext cx="1560939" cy="44500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拡張</a:t>
            </a: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性</a:t>
            </a:r>
          </a:p>
        </p:txBody>
      </p:sp>
      <p:sp>
        <p:nvSpPr>
          <p:cNvPr id="9" name="正方形/長方形 8">
            <a:extLst>
              <a:ext uri="{FF2B5EF4-FFF2-40B4-BE49-F238E27FC236}">
                <a16:creationId xmlns:a16="http://schemas.microsoft.com/office/drawing/2014/main" id="{6A2E8C9D-1883-130A-D244-053C632C21D7}"/>
              </a:ext>
            </a:extLst>
          </p:cNvPr>
          <p:cNvSpPr/>
          <p:nvPr/>
        </p:nvSpPr>
        <p:spPr>
          <a:xfrm>
            <a:off x="1089894" y="2963208"/>
            <a:ext cx="1560939" cy="44500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意味情報排除</a:t>
            </a:r>
          </a:p>
        </p:txBody>
      </p:sp>
      <p:sp>
        <p:nvSpPr>
          <p:cNvPr id="10" name="テキスト ボックス 9">
            <a:extLst>
              <a:ext uri="{FF2B5EF4-FFF2-40B4-BE49-F238E27FC236}">
                <a16:creationId xmlns:a16="http://schemas.microsoft.com/office/drawing/2014/main" id="{4B44FC07-1263-6CAF-0496-21636EF540CB}"/>
              </a:ext>
            </a:extLst>
          </p:cNvPr>
          <p:cNvSpPr txBox="1"/>
          <p:nvPr/>
        </p:nvSpPr>
        <p:spPr>
          <a:xfrm>
            <a:off x="1089894" y="3537529"/>
            <a:ext cx="4294903" cy="2862322"/>
          </a:xfrm>
          <a:prstGeom prst="rect">
            <a:avLst/>
          </a:prstGeom>
          <a:noFill/>
        </p:spPr>
        <p:txBody>
          <a:bodyPr wrap="square" rtlCol="0">
            <a:spAutoFit/>
          </a:bodyPr>
          <a:lstStyle/>
          <a:p>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観点</a:t>
            </a:r>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p>
          <a:p>
            <a:pPr marL="285750" indent="-285750">
              <a:buFont typeface="Arial" panose="020B0604020202020204" pitchFamily="34" charset="0"/>
              <a:buChar char="•"/>
            </a:pPr>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に業務上の意味や属性（例：部署コード、作成年月、地域情報など）を含めない。</a:t>
            </a:r>
            <a:endPar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意味を持たせると、業務変更（例：部署再編、ルール変更）で</a:t>
            </a:r>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の整合性が崩れるリスクが高まる。</a:t>
            </a:r>
            <a:endPar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br>
              <a:rPr kumimoji="1" lang="en-US" altLang="ja-JP" dirty="0">
                <a:latin typeface="Meiryo UI" panose="020B0604030504040204" pitchFamily="50" charset="-128"/>
                <a:ea typeface="Meiryo UI" panose="020B0604030504040204" pitchFamily="50" charset="-128"/>
              </a:rPr>
            </a:br>
            <a:br>
              <a:rPr kumimoji="1" lang="en-US" altLang="ja-JP" dirty="0">
                <a:latin typeface="Meiryo UI" panose="020B0604030504040204" pitchFamily="50" charset="-128"/>
                <a:ea typeface="Meiryo UI" panose="020B0604030504040204" pitchFamily="50" charset="-128"/>
              </a:rPr>
            </a:br>
            <a:endParaRPr kumimoji="1" lang="ja-JP" altLang="en-US" dirty="0">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825D0A8C-7915-B626-7554-A5128107B6AC}"/>
              </a:ext>
            </a:extLst>
          </p:cNvPr>
          <p:cNvSpPr txBox="1"/>
          <p:nvPr/>
        </p:nvSpPr>
        <p:spPr>
          <a:xfrm>
            <a:off x="6871851" y="3537529"/>
            <a:ext cx="4294903" cy="2585323"/>
          </a:xfrm>
          <a:prstGeom prst="rect">
            <a:avLst/>
          </a:prstGeom>
          <a:noFill/>
        </p:spPr>
        <p:txBody>
          <a:bodyPr wrap="square" rtlCol="0">
            <a:spAutoFit/>
          </a:bodyPr>
          <a:lstStyle/>
          <a:p>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観点</a:t>
            </a:r>
            <a:r>
              <a:rPr lang="en-US" altLang="ja-JP" dirty="0">
                <a:solidFill>
                  <a:schemeClr val="tx1">
                    <a:lumMod val="75000"/>
                    <a:lumOff val="25000"/>
                  </a:schemeClr>
                </a:solidFill>
                <a:latin typeface="Meiryo UI" panose="020B0604030504040204" pitchFamily="50" charset="-128"/>
                <a:ea typeface="Meiryo UI" panose="020B0604030504040204" pitchFamily="50" charset="-128"/>
              </a:rPr>
              <a:t>]</a:t>
            </a:r>
          </a:p>
          <a:p>
            <a:pPr marL="285750" indent="-285750">
              <a:buFont typeface="Arial" panose="020B0604020202020204" pitchFamily="34" charset="0"/>
              <a:buChar char="•"/>
            </a:pP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将来的な利用者・対象データの増加やシステム統合にも対応できる柔軟な設計を行う必要がある。</a:t>
            </a:r>
            <a:endParaRPr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十分な桁数を用意したり異なるシステム同士で同じ対象を示せるようにする。</a:t>
            </a:r>
            <a:endPar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endParaRPr>
          </a:p>
          <a:p>
            <a:br>
              <a:rPr kumimoji="1" lang="en-US" altLang="ja-JP" dirty="0">
                <a:latin typeface="Meiryo UI" panose="020B0604030504040204" pitchFamily="50" charset="-128"/>
                <a:ea typeface="Meiryo UI" panose="020B0604030504040204" pitchFamily="50" charset="-128"/>
              </a:rPr>
            </a:br>
            <a:br>
              <a:rPr kumimoji="1" lang="en-US" altLang="ja-JP" dirty="0">
                <a:latin typeface="Meiryo UI" panose="020B0604030504040204" pitchFamily="50" charset="-128"/>
                <a:ea typeface="Meiryo UI" panose="020B0604030504040204" pitchFamily="50" charset="-128"/>
              </a:rPr>
            </a:b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69579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869A17-CC0E-C07F-F6AC-1550BCBC2975}"/>
              </a:ext>
            </a:extLst>
          </p:cNvPr>
          <p:cNvSpPr>
            <a:spLocks noGrp="1"/>
          </p:cNvSpPr>
          <p:nvPr>
            <p:ph type="title"/>
          </p:nvPr>
        </p:nvSpPr>
        <p:spPr/>
        <p:txBody>
          <a:bodyPr/>
          <a:lstStyle/>
          <a:p>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ユーザとして意識する</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9CE1BC86-1B38-A979-AC87-B9D56C881DBF}"/>
              </a:ext>
            </a:extLst>
          </p:cNvPr>
          <p:cNvSpPr>
            <a:spLocks noGrp="1"/>
          </p:cNvSpPr>
          <p:nvPr>
            <p:ph idx="1"/>
          </p:nvPr>
        </p:nvSpPr>
        <p:spPr>
          <a:xfrm>
            <a:off x="838200" y="1825625"/>
            <a:ext cx="10515600" cy="895541"/>
          </a:xfrm>
        </p:spPr>
        <p:txBody>
          <a:bodyPr>
            <a:normAutofit/>
          </a:bodyPr>
          <a:lstStyle/>
          <a:p>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ユーザとして意識する</a:t>
            </a:r>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は一つであることが多い</a:t>
            </a:r>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はず</a:t>
            </a:r>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endParaRPr>
          </a:p>
        </p:txBody>
      </p:sp>
      <p:pic>
        <p:nvPicPr>
          <p:cNvPr id="8" name="図 7" descr="アイコン&#10;&#10;AI 生成コンテンツは誤りを含む可能性があります。">
            <a:extLst>
              <a:ext uri="{FF2B5EF4-FFF2-40B4-BE49-F238E27FC236}">
                <a16:creationId xmlns:a16="http://schemas.microsoft.com/office/drawing/2014/main" id="{8E8FF346-1C93-DB96-5EA6-0FEFA396A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771" y="3474291"/>
            <a:ext cx="2095318" cy="1746098"/>
          </a:xfrm>
          <a:prstGeom prst="rect">
            <a:avLst/>
          </a:prstGeom>
        </p:spPr>
      </p:pic>
      <p:pic>
        <p:nvPicPr>
          <p:cNvPr id="11" name="図 10" descr="ロゴ, 会社名&#10;&#10;AI 生成コンテンツは誤りを含む可能性があります。">
            <a:extLst>
              <a:ext uri="{FF2B5EF4-FFF2-40B4-BE49-F238E27FC236}">
                <a16:creationId xmlns:a16="http://schemas.microsoft.com/office/drawing/2014/main" id="{1A789367-A068-644B-2DCB-BF41D31552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1424" y="3279390"/>
            <a:ext cx="2038814" cy="1714890"/>
          </a:xfrm>
          <a:prstGeom prst="rect">
            <a:avLst/>
          </a:prstGeom>
        </p:spPr>
      </p:pic>
      <p:sp>
        <p:nvSpPr>
          <p:cNvPr id="12" name="正方形/長方形 11">
            <a:extLst>
              <a:ext uri="{FF2B5EF4-FFF2-40B4-BE49-F238E27FC236}">
                <a16:creationId xmlns:a16="http://schemas.microsoft.com/office/drawing/2014/main" id="{8FB3570E-981A-C630-4A61-3AB6DDD44DEC}"/>
              </a:ext>
            </a:extLst>
          </p:cNvPr>
          <p:cNvSpPr/>
          <p:nvPr/>
        </p:nvSpPr>
        <p:spPr>
          <a:xfrm>
            <a:off x="551762" y="3103120"/>
            <a:ext cx="2918551"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ユーザ</a:t>
            </a:r>
            <a:r>
              <a:rPr kumimoji="1" lang="en-US" altLang="ja-JP" sz="16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でログインして注文だ！</a:t>
            </a:r>
          </a:p>
        </p:txBody>
      </p:sp>
      <p:sp>
        <p:nvSpPr>
          <p:cNvPr id="13" name="正方形/長方形 12">
            <a:extLst>
              <a:ext uri="{FF2B5EF4-FFF2-40B4-BE49-F238E27FC236}">
                <a16:creationId xmlns:a16="http://schemas.microsoft.com/office/drawing/2014/main" id="{9CEBE393-9886-A3DE-0578-9DE6A1CD5F32}"/>
              </a:ext>
            </a:extLst>
          </p:cNvPr>
          <p:cNvSpPr/>
          <p:nvPr/>
        </p:nvSpPr>
        <p:spPr>
          <a:xfrm>
            <a:off x="8878678" y="3103120"/>
            <a:ext cx="2918551"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ほいよ！</a:t>
            </a:r>
          </a:p>
        </p:txBody>
      </p:sp>
    </p:spTree>
    <p:extLst>
      <p:ext uri="{BB962C8B-B14F-4D97-AF65-F5344CB8AC3E}">
        <p14:creationId xmlns:p14="http://schemas.microsoft.com/office/powerpoint/2010/main" val="2623757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E6CC-25BB-B676-2BC2-677F924679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08F4D4-1B89-C90D-562A-D49CB9501223}"/>
              </a:ext>
            </a:extLst>
          </p:cNvPr>
          <p:cNvSpPr>
            <a:spLocks noGrp="1"/>
          </p:cNvSpPr>
          <p:nvPr>
            <p:ph type="title"/>
          </p:nvPr>
        </p:nvSpPr>
        <p:spPr/>
        <p:txBody>
          <a:bodyPr/>
          <a:lstStyle/>
          <a:p>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実際に機能しているであろう</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239721C9-7CEA-A402-3932-6A570817890D}"/>
              </a:ext>
            </a:extLst>
          </p:cNvPr>
          <p:cNvSpPr>
            <a:spLocks noGrp="1"/>
          </p:cNvSpPr>
          <p:nvPr>
            <p:ph idx="1"/>
          </p:nvPr>
        </p:nvSpPr>
        <p:spPr>
          <a:xfrm>
            <a:off x="838200" y="1825625"/>
            <a:ext cx="10515600" cy="895541"/>
          </a:xfrm>
        </p:spPr>
        <p:txBody>
          <a:bodyPr>
            <a:normAutofit/>
          </a:bodyPr>
          <a:lstStyle/>
          <a:p>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ユーザニーズを満たすために実際には様々なステークホルダーが存在している。</a:t>
            </a:r>
            <a:endPar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ステークホルダーごとに</a:t>
            </a:r>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を扱う「目的」が異なる。</a:t>
            </a:r>
          </a:p>
        </p:txBody>
      </p:sp>
      <p:sp>
        <p:nvSpPr>
          <p:cNvPr id="5" name="正方形/長方形 4">
            <a:extLst>
              <a:ext uri="{FF2B5EF4-FFF2-40B4-BE49-F238E27FC236}">
                <a16:creationId xmlns:a16="http://schemas.microsoft.com/office/drawing/2014/main" id="{3F29FE19-0167-2F40-B593-20431280FB35}"/>
              </a:ext>
            </a:extLst>
          </p:cNvPr>
          <p:cNvSpPr/>
          <p:nvPr/>
        </p:nvSpPr>
        <p:spPr>
          <a:xfrm>
            <a:off x="1674562"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ユーザ</a:t>
            </a:r>
          </a:p>
        </p:txBody>
      </p:sp>
      <p:sp>
        <p:nvSpPr>
          <p:cNvPr id="6" name="正方形/長方形 5">
            <a:extLst>
              <a:ext uri="{FF2B5EF4-FFF2-40B4-BE49-F238E27FC236}">
                <a16:creationId xmlns:a16="http://schemas.microsoft.com/office/drawing/2014/main" id="{E7C12A05-6C06-6272-7484-4353DC256C80}"/>
              </a:ext>
            </a:extLst>
          </p:cNvPr>
          <p:cNvSpPr/>
          <p:nvPr/>
        </p:nvSpPr>
        <p:spPr>
          <a:xfrm>
            <a:off x="4032171"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Amazon</a:t>
            </a: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サイト</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B5473632-8331-2C50-C53C-1539F6F509AF}"/>
              </a:ext>
            </a:extLst>
          </p:cNvPr>
          <p:cNvSpPr/>
          <p:nvPr/>
        </p:nvSpPr>
        <p:spPr>
          <a:xfrm>
            <a:off x="6389780"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Amazon(</a:t>
            </a: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倉庫</a:t>
            </a: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FAA0D389-9E65-AEC0-1465-A7F0ED1E13CF}"/>
              </a:ext>
            </a:extLst>
          </p:cNvPr>
          <p:cNvSpPr/>
          <p:nvPr/>
        </p:nvSpPr>
        <p:spPr>
          <a:xfrm>
            <a:off x="8747389"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配送会社</a:t>
            </a:r>
          </a:p>
        </p:txBody>
      </p:sp>
      <p:sp>
        <p:nvSpPr>
          <p:cNvPr id="10" name="吹き出し: 角を丸めた四角形 9">
            <a:extLst>
              <a:ext uri="{FF2B5EF4-FFF2-40B4-BE49-F238E27FC236}">
                <a16:creationId xmlns:a16="http://schemas.microsoft.com/office/drawing/2014/main" id="{C9A3B256-0EBB-BE4B-9444-646CBD0B4AAD}"/>
              </a:ext>
            </a:extLst>
          </p:cNvPr>
          <p:cNvSpPr/>
          <p:nvPr/>
        </p:nvSpPr>
        <p:spPr>
          <a:xfrm>
            <a:off x="1178803" y="3745736"/>
            <a:ext cx="1983036" cy="1344057"/>
          </a:xfrm>
          <a:prstGeom prst="wedgeRoundRectCallout">
            <a:avLst>
              <a:gd name="adj1" fmla="val -20277"/>
              <a:gd name="adj2" fmla="val -79303"/>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サイトにログインして商品を注文したい。</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吹き出し: 角を丸めた四角形 21">
            <a:extLst>
              <a:ext uri="{FF2B5EF4-FFF2-40B4-BE49-F238E27FC236}">
                <a16:creationId xmlns:a16="http://schemas.microsoft.com/office/drawing/2014/main" id="{0B94A831-6D82-C110-AE9B-35B6946FE3EA}"/>
              </a:ext>
            </a:extLst>
          </p:cNvPr>
          <p:cNvSpPr/>
          <p:nvPr/>
        </p:nvSpPr>
        <p:spPr>
          <a:xfrm>
            <a:off x="3558447" y="3745736"/>
            <a:ext cx="1983036" cy="1344057"/>
          </a:xfrm>
          <a:prstGeom prst="wedgeRoundRectCallout">
            <a:avLst>
              <a:gd name="adj1" fmla="val -20277"/>
              <a:gd name="adj2" fmla="val -79303"/>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ユーザからの注文を管理したい</a:t>
            </a:r>
          </a:p>
        </p:txBody>
      </p:sp>
      <p:sp>
        <p:nvSpPr>
          <p:cNvPr id="23" name="吹き出し: 角を丸めた四角形 22">
            <a:extLst>
              <a:ext uri="{FF2B5EF4-FFF2-40B4-BE49-F238E27FC236}">
                <a16:creationId xmlns:a16="http://schemas.microsoft.com/office/drawing/2014/main" id="{57A77E07-E284-C0A0-54B1-BF53446BF153}"/>
              </a:ext>
            </a:extLst>
          </p:cNvPr>
          <p:cNvSpPr/>
          <p:nvPr/>
        </p:nvSpPr>
        <p:spPr>
          <a:xfrm>
            <a:off x="5938091" y="3745736"/>
            <a:ext cx="1983036" cy="1344057"/>
          </a:xfrm>
          <a:prstGeom prst="wedgeRoundRectCallout">
            <a:avLst>
              <a:gd name="adj1" fmla="val -20277"/>
              <a:gd name="adj2" fmla="val -79303"/>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注文による商品ごとの在庫増減を管理したい</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吹き出し: 角を丸めた四角形 26">
            <a:extLst>
              <a:ext uri="{FF2B5EF4-FFF2-40B4-BE49-F238E27FC236}">
                <a16:creationId xmlns:a16="http://schemas.microsoft.com/office/drawing/2014/main" id="{ADDA6C09-B217-B0B8-5258-EABDFF02B8F3}"/>
              </a:ext>
            </a:extLst>
          </p:cNvPr>
          <p:cNvSpPr/>
          <p:nvPr/>
        </p:nvSpPr>
        <p:spPr>
          <a:xfrm>
            <a:off x="8317735" y="3745736"/>
            <a:ext cx="1983036" cy="1344057"/>
          </a:xfrm>
          <a:prstGeom prst="wedgeRoundRectCallout">
            <a:avLst>
              <a:gd name="adj1" fmla="val -20277"/>
              <a:gd name="adj2" fmla="val -79303"/>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lumMod val="85000"/>
                    <a:lumOff val="15000"/>
                  </a:schemeClr>
                </a:solidFill>
                <a:latin typeface="Meiryo UI" panose="020B0604030504040204" pitchFamily="50" charset="-128"/>
                <a:ea typeface="Meiryo UI" panose="020B0604030504040204" pitchFamily="50" charset="-128"/>
              </a:rPr>
              <a:t>注文ごとに発生する配送を管理したい</a:t>
            </a:r>
          </a:p>
        </p:txBody>
      </p:sp>
    </p:spTree>
    <p:extLst>
      <p:ext uri="{BB962C8B-B14F-4D97-AF65-F5344CB8AC3E}">
        <p14:creationId xmlns:p14="http://schemas.microsoft.com/office/powerpoint/2010/main" val="4041492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8970C-2A73-6932-A1C9-E2BCFBE43F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2778D9-862A-2134-EA3B-268C14FFA8C5}"/>
              </a:ext>
            </a:extLst>
          </p:cNvPr>
          <p:cNvSpPr>
            <a:spLocks noGrp="1"/>
          </p:cNvSpPr>
          <p:nvPr>
            <p:ph type="title"/>
          </p:nvPr>
        </p:nvSpPr>
        <p:spPr/>
        <p:txBody>
          <a:bodyPr/>
          <a:lstStyle/>
          <a:p>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実際に機能しているであろう</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293AC270-9A86-DB00-7DEA-02E24B3FF84F}"/>
              </a:ext>
            </a:extLst>
          </p:cNvPr>
          <p:cNvSpPr>
            <a:spLocks noGrp="1"/>
          </p:cNvSpPr>
          <p:nvPr>
            <p:ph idx="1"/>
          </p:nvPr>
        </p:nvSpPr>
        <p:spPr>
          <a:xfrm>
            <a:off x="838200" y="1825625"/>
            <a:ext cx="10515600" cy="895541"/>
          </a:xfrm>
        </p:spPr>
        <p:txBody>
          <a:bodyPr>
            <a:normAutofit/>
          </a:bodyPr>
          <a:lstStyle/>
          <a:p>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ユーザニーズを満たすまでに様々な</a:t>
            </a:r>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が動いている</a:t>
            </a:r>
            <a:endPar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ステークホルダそれぞれが意識する</a:t>
            </a:r>
            <a:r>
              <a:rPr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は違う</a:t>
            </a:r>
            <a:r>
              <a:rPr lang="en-US" altLang="ja-JP" sz="1800" dirty="0">
                <a:solidFill>
                  <a:schemeClr val="tx1">
                    <a:lumMod val="75000"/>
                    <a:lumOff val="25000"/>
                  </a:schemeClr>
                </a:solidFill>
                <a:latin typeface="Meiryo UI" panose="020B0604030504040204" pitchFamily="50" charset="-128"/>
                <a:ea typeface="Meiryo UI" panose="020B0604030504040204" pitchFamily="50" charset="-128"/>
              </a:rPr>
              <a:t>(Amazon</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での注文を例に考える</a:t>
            </a:r>
            <a:r>
              <a:rPr lang="en-US" altLang="ja-JP" sz="1800" dirty="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6348FE81-2002-368E-7075-164B6A687FFE}"/>
              </a:ext>
            </a:extLst>
          </p:cNvPr>
          <p:cNvSpPr/>
          <p:nvPr/>
        </p:nvSpPr>
        <p:spPr>
          <a:xfrm>
            <a:off x="1674562"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ユーザ</a:t>
            </a:r>
          </a:p>
        </p:txBody>
      </p:sp>
      <p:sp>
        <p:nvSpPr>
          <p:cNvPr id="6" name="正方形/長方形 5">
            <a:extLst>
              <a:ext uri="{FF2B5EF4-FFF2-40B4-BE49-F238E27FC236}">
                <a16:creationId xmlns:a16="http://schemas.microsoft.com/office/drawing/2014/main" id="{C3F3C3AA-FDA7-B5D9-AA7F-4052D0BF6C72}"/>
              </a:ext>
            </a:extLst>
          </p:cNvPr>
          <p:cNvSpPr/>
          <p:nvPr/>
        </p:nvSpPr>
        <p:spPr>
          <a:xfrm>
            <a:off x="4032171"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Amazon</a:t>
            </a: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サイト</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5464B01B-469D-0239-A97A-60AC8AA9B96D}"/>
              </a:ext>
            </a:extLst>
          </p:cNvPr>
          <p:cNvSpPr/>
          <p:nvPr/>
        </p:nvSpPr>
        <p:spPr>
          <a:xfrm>
            <a:off x="6389780"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Amazon(</a:t>
            </a: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倉庫</a:t>
            </a: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31AAB8C5-9997-BAE1-2793-569E61530414}"/>
              </a:ext>
            </a:extLst>
          </p:cNvPr>
          <p:cNvSpPr/>
          <p:nvPr/>
        </p:nvSpPr>
        <p:spPr>
          <a:xfrm>
            <a:off x="8747389" y="2825059"/>
            <a:ext cx="1773715" cy="49729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配送会社</a:t>
            </a:r>
          </a:p>
        </p:txBody>
      </p:sp>
      <p:cxnSp>
        <p:nvCxnSpPr>
          <p:cNvPr id="14" name="直線コネクタ 13">
            <a:extLst>
              <a:ext uri="{FF2B5EF4-FFF2-40B4-BE49-F238E27FC236}">
                <a16:creationId xmlns:a16="http://schemas.microsoft.com/office/drawing/2014/main" id="{83639D3A-4220-639F-0406-189C2DBC9652}"/>
              </a:ext>
            </a:extLst>
          </p:cNvPr>
          <p:cNvCxnSpPr>
            <a:cxnSpLocks/>
          </p:cNvCxnSpPr>
          <p:nvPr/>
        </p:nvCxnSpPr>
        <p:spPr>
          <a:xfrm>
            <a:off x="2511846" y="3327091"/>
            <a:ext cx="0" cy="3283027"/>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8560430A-60B5-5F9E-ED4E-D74D0AE34ECE}"/>
              </a:ext>
            </a:extLst>
          </p:cNvPr>
          <p:cNvCxnSpPr>
            <a:cxnSpLocks/>
          </p:cNvCxnSpPr>
          <p:nvPr/>
        </p:nvCxnSpPr>
        <p:spPr>
          <a:xfrm>
            <a:off x="4957590" y="3327091"/>
            <a:ext cx="0" cy="3283027"/>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9CD07C08-5043-4176-5B38-B34263469604}"/>
              </a:ext>
            </a:extLst>
          </p:cNvPr>
          <p:cNvCxnSpPr>
            <a:cxnSpLocks/>
          </p:cNvCxnSpPr>
          <p:nvPr/>
        </p:nvCxnSpPr>
        <p:spPr>
          <a:xfrm>
            <a:off x="7304183" y="3327091"/>
            <a:ext cx="0" cy="3283027"/>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C7F1A173-D941-4F4A-FAA3-33B0B5960E33}"/>
              </a:ext>
            </a:extLst>
          </p:cNvPr>
          <p:cNvCxnSpPr>
            <a:cxnSpLocks/>
          </p:cNvCxnSpPr>
          <p:nvPr/>
        </p:nvCxnSpPr>
        <p:spPr>
          <a:xfrm>
            <a:off x="9727894" y="3327091"/>
            <a:ext cx="0" cy="3283027"/>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正方形/長方形 3">
            <a:extLst>
              <a:ext uri="{FF2B5EF4-FFF2-40B4-BE49-F238E27FC236}">
                <a16:creationId xmlns:a16="http://schemas.microsoft.com/office/drawing/2014/main" id="{582F2752-2429-A749-FC82-5DE091EDE392}"/>
              </a:ext>
            </a:extLst>
          </p:cNvPr>
          <p:cNvSpPr/>
          <p:nvPr/>
        </p:nvSpPr>
        <p:spPr>
          <a:xfrm>
            <a:off x="2335579" y="3481328"/>
            <a:ext cx="352534" cy="2610998"/>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ユーザ</a:t>
            </a:r>
            <a:r>
              <a:rPr kumimoji="1" lang="en-US" altLang="ja-JP" sz="16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7A6A10A5-A6E4-D728-5429-82AB4970CDE6}"/>
              </a:ext>
            </a:extLst>
          </p:cNvPr>
          <p:cNvSpPr/>
          <p:nvPr/>
        </p:nvSpPr>
        <p:spPr>
          <a:xfrm>
            <a:off x="4797849" y="3781538"/>
            <a:ext cx="352534" cy="2310788"/>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注文</a:t>
            </a:r>
            <a:r>
              <a:rPr kumimoji="1" lang="en-US" altLang="ja-JP" sz="16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1" name="直線矢印コネクタ 10">
            <a:extLst>
              <a:ext uri="{FF2B5EF4-FFF2-40B4-BE49-F238E27FC236}">
                <a16:creationId xmlns:a16="http://schemas.microsoft.com/office/drawing/2014/main" id="{1C1A38EF-C339-1EAC-48E2-2A11116FCBEF}"/>
              </a:ext>
            </a:extLst>
          </p:cNvPr>
          <p:cNvCxnSpPr/>
          <p:nvPr/>
        </p:nvCxnSpPr>
        <p:spPr>
          <a:xfrm>
            <a:off x="2688113" y="3781538"/>
            <a:ext cx="21097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52BEBF5C-B593-3668-DD97-7D0C2A6CCAD4}"/>
              </a:ext>
            </a:extLst>
          </p:cNvPr>
          <p:cNvSpPr txBox="1"/>
          <p:nvPr/>
        </p:nvSpPr>
        <p:spPr>
          <a:xfrm>
            <a:off x="3084719" y="3495101"/>
            <a:ext cx="1333041" cy="338554"/>
          </a:xfrm>
          <a:prstGeom prst="rect">
            <a:avLst/>
          </a:prstGeom>
          <a:noFill/>
        </p:spPr>
        <p:txBody>
          <a:bodyPr wrap="square" rtlCol="0">
            <a:spAutoFit/>
          </a:bodyPr>
          <a:lstStyle/>
          <a:p>
            <a:pPr algn="ctr"/>
            <a:r>
              <a:rPr kumimoji="1" lang="ja-JP" altLang="en-US" sz="1600" dirty="0">
                <a:solidFill>
                  <a:schemeClr val="accent1"/>
                </a:solidFill>
                <a:latin typeface="Meiryo UI" panose="020B0604030504040204" pitchFamily="50" charset="-128"/>
                <a:ea typeface="Meiryo UI" panose="020B0604030504040204" pitchFamily="50" charset="-128"/>
              </a:rPr>
              <a:t>ログイン</a:t>
            </a:r>
          </a:p>
        </p:txBody>
      </p:sp>
      <p:cxnSp>
        <p:nvCxnSpPr>
          <p:cNvPr id="13" name="直線矢印コネクタ 12">
            <a:extLst>
              <a:ext uri="{FF2B5EF4-FFF2-40B4-BE49-F238E27FC236}">
                <a16:creationId xmlns:a16="http://schemas.microsoft.com/office/drawing/2014/main" id="{BD95DEC1-BB69-54AF-3827-E06E569767B7}"/>
              </a:ext>
            </a:extLst>
          </p:cNvPr>
          <p:cNvCxnSpPr/>
          <p:nvPr/>
        </p:nvCxnSpPr>
        <p:spPr>
          <a:xfrm>
            <a:off x="2688113" y="4139289"/>
            <a:ext cx="21097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607087BA-4809-3F00-E9C5-9321F3AFB4D8}"/>
              </a:ext>
            </a:extLst>
          </p:cNvPr>
          <p:cNvSpPr txBox="1"/>
          <p:nvPr/>
        </p:nvSpPr>
        <p:spPr>
          <a:xfrm>
            <a:off x="3084719" y="3852852"/>
            <a:ext cx="1333041" cy="338554"/>
          </a:xfrm>
          <a:prstGeom prst="rect">
            <a:avLst/>
          </a:prstGeom>
          <a:noFill/>
        </p:spPr>
        <p:txBody>
          <a:bodyPr wrap="square" rtlCol="0">
            <a:spAutoFit/>
          </a:bodyPr>
          <a:lstStyle/>
          <a:p>
            <a:pPr algn="ctr"/>
            <a:r>
              <a:rPr lang="ja-JP" altLang="en-US" sz="1600" dirty="0">
                <a:solidFill>
                  <a:schemeClr val="accent1"/>
                </a:solidFill>
                <a:latin typeface="Meiryo UI" panose="020B0604030504040204" pitchFamily="50" charset="-128"/>
                <a:ea typeface="Meiryo UI" panose="020B0604030504040204" pitchFamily="50" charset="-128"/>
              </a:rPr>
              <a:t>注文</a:t>
            </a:r>
            <a:endParaRPr kumimoji="1" lang="ja-JP" altLang="en-US" sz="1600" dirty="0">
              <a:solidFill>
                <a:schemeClr val="accent1"/>
              </a:solidFill>
              <a:latin typeface="Meiryo UI" panose="020B0604030504040204" pitchFamily="50" charset="-128"/>
              <a:ea typeface="Meiryo UI" panose="020B0604030504040204" pitchFamily="50" charset="-128"/>
            </a:endParaRPr>
          </a:p>
        </p:txBody>
      </p:sp>
      <p:cxnSp>
        <p:nvCxnSpPr>
          <p:cNvPr id="19" name="直線矢印コネクタ 18">
            <a:extLst>
              <a:ext uri="{FF2B5EF4-FFF2-40B4-BE49-F238E27FC236}">
                <a16:creationId xmlns:a16="http://schemas.microsoft.com/office/drawing/2014/main" id="{AF1F4D0A-3B1D-E854-86BF-01D0D072E74E}"/>
              </a:ext>
            </a:extLst>
          </p:cNvPr>
          <p:cNvCxnSpPr>
            <a:cxnSpLocks/>
          </p:cNvCxnSpPr>
          <p:nvPr/>
        </p:nvCxnSpPr>
        <p:spPr>
          <a:xfrm>
            <a:off x="5159571" y="4335029"/>
            <a:ext cx="19628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942F4F33-63AF-230C-A72C-DCDCB7B264A2}"/>
              </a:ext>
            </a:extLst>
          </p:cNvPr>
          <p:cNvSpPr txBox="1"/>
          <p:nvPr/>
        </p:nvSpPr>
        <p:spPr>
          <a:xfrm>
            <a:off x="5574544" y="4015543"/>
            <a:ext cx="1333041" cy="338554"/>
          </a:xfrm>
          <a:prstGeom prst="rect">
            <a:avLst/>
          </a:prstGeom>
          <a:noFill/>
        </p:spPr>
        <p:txBody>
          <a:bodyPr wrap="square" rtlCol="0">
            <a:spAutoFit/>
          </a:bodyPr>
          <a:lstStyle/>
          <a:p>
            <a:pPr algn="ctr"/>
            <a:r>
              <a:rPr lang="ja-JP" altLang="en-US" sz="1600" dirty="0">
                <a:solidFill>
                  <a:schemeClr val="accent1"/>
                </a:solidFill>
                <a:latin typeface="Meiryo UI" panose="020B0604030504040204" pitchFamily="50" charset="-128"/>
                <a:ea typeface="Meiryo UI" panose="020B0604030504040204" pitchFamily="50" charset="-128"/>
              </a:rPr>
              <a:t>注文取次</a:t>
            </a:r>
            <a:endParaRPr kumimoji="1" lang="ja-JP" altLang="en-US" sz="1600" dirty="0">
              <a:solidFill>
                <a:schemeClr val="accent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0D630017-E07B-2190-FE3F-0A9A67B304DE}"/>
              </a:ext>
            </a:extLst>
          </p:cNvPr>
          <p:cNvSpPr/>
          <p:nvPr/>
        </p:nvSpPr>
        <p:spPr>
          <a:xfrm>
            <a:off x="7133439" y="4315962"/>
            <a:ext cx="269878" cy="1776363"/>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rPr>
              <a:t>商品</a:t>
            </a:r>
            <a:r>
              <a:rPr kumimoji="1" lang="en-US" altLang="ja-JP" sz="16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24" name="直線矢印コネクタ 23">
            <a:extLst>
              <a:ext uri="{FF2B5EF4-FFF2-40B4-BE49-F238E27FC236}">
                <a16:creationId xmlns:a16="http://schemas.microsoft.com/office/drawing/2014/main" id="{C2527703-FA97-A658-4512-E81B365C4DE6}"/>
              </a:ext>
            </a:extLst>
          </p:cNvPr>
          <p:cNvCxnSpPr>
            <a:cxnSpLocks/>
          </p:cNvCxnSpPr>
          <p:nvPr/>
        </p:nvCxnSpPr>
        <p:spPr>
          <a:xfrm>
            <a:off x="7418032" y="4786721"/>
            <a:ext cx="21721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C80D1381-C87F-29C5-AE76-D3A3D5E8AE37}"/>
              </a:ext>
            </a:extLst>
          </p:cNvPr>
          <p:cNvSpPr txBox="1"/>
          <p:nvPr/>
        </p:nvSpPr>
        <p:spPr>
          <a:xfrm>
            <a:off x="7888090" y="4467235"/>
            <a:ext cx="1333041" cy="338554"/>
          </a:xfrm>
          <a:prstGeom prst="rect">
            <a:avLst/>
          </a:prstGeom>
          <a:noFill/>
        </p:spPr>
        <p:txBody>
          <a:bodyPr wrap="square" rtlCol="0">
            <a:spAutoFit/>
          </a:bodyPr>
          <a:lstStyle/>
          <a:p>
            <a:pPr algn="ctr"/>
            <a:r>
              <a:rPr kumimoji="1" lang="ja-JP" altLang="en-US" sz="1600" dirty="0">
                <a:solidFill>
                  <a:schemeClr val="accent1"/>
                </a:solidFill>
                <a:latin typeface="Meiryo UI" panose="020B0604030504040204" pitchFamily="50" charset="-128"/>
                <a:ea typeface="Meiryo UI" panose="020B0604030504040204" pitchFamily="50" charset="-128"/>
              </a:rPr>
              <a:t>配送依頼</a:t>
            </a:r>
          </a:p>
        </p:txBody>
      </p:sp>
      <p:sp>
        <p:nvSpPr>
          <p:cNvPr id="26" name="正方形/長方形 25">
            <a:extLst>
              <a:ext uri="{FF2B5EF4-FFF2-40B4-BE49-F238E27FC236}">
                <a16:creationId xmlns:a16="http://schemas.microsoft.com/office/drawing/2014/main" id="{E22AC510-891D-5A5E-A116-64A715F21E6E}"/>
              </a:ext>
            </a:extLst>
          </p:cNvPr>
          <p:cNvSpPr/>
          <p:nvPr/>
        </p:nvSpPr>
        <p:spPr>
          <a:xfrm>
            <a:off x="9590185" y="4786721"/>
            <a:ext cx="269869" cy="1305604"/>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配送</a:t>
            </a:r>
            <a:r>
              <a:rPr kumimoji="1" lang="en-US" altLang="ja-JP" sz="16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600" dirty="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22" name="直線矢印コネクタ 21">
            <a:extLst>
              <a:ext uri="{FF2B5EF4-FFF2-40B4-BE49-F238E27FC236}">
                <a16:creationId xmlns:a16="http://schemas.microsoft.com/office/drawing/2014/main" id="{196B456E-C45C-0714-E0C9-13839604C0D2}"/>
              </a:ext>
            </a:extLst>
          </p:cNvPr>
          <p:cNvCxnSpPr>
            <a:cxnSpLocks/>
          </p:cNvCxnSpPr>
          <p:nvPr/>
        </p:nvCxnSpPr>
        <p:spPr>
          <a:xfrm flipH="1">
            <a:off x="7403317" y="5847907"/>
            <a:ext cx="21868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6BDD9C93-EB36-4F3E-4614-17BCFC462E63}"/>
              </a:ext>
            </a:extLst>
          </p:cNvPr>
          <p:cNvSpPr txBox="1"/>
          <p:nvPr/>
        </p:nvSpPr>
        <p:spPr>
          <a:xfrm>
            <a:off x="7654174" y="5562518"/>
            <a:ext cx="1702094" cy="338554"/>
          </a:xfrm>
          <a:prstGeom prst="rect">
            <a:avLst/>
          </a:prstGeom>
          <a:noFill/>
        </p:spPr>
        <p:txBody>
          <a:bodyPr wrap="square" rtlCol="0">
            <a:spAutoFit/>
          </a:bodyPr>
          <a:lstStyle/>
          <a:p>
            <a:pPr algn="ctr"/>
            <a:r>
              <a:rPr lang="ja-JP" altLang="en-US" sz="1600" dirty="0">
                <a:solidFill>
                  <a:schemeClr val="accent1"/>
                </a:solidFill>
                <a:latin typeface="Meiryo UI" panose="020B0604030504040204" pitchFamily="50" charset="-128"/>
                <a:ea typeface="Meiryo UI" panose="020B0604030504040204" pitchFamily="50" charset="-128"/>
              </a:rPr>
              <a:t>在庫情報コミット</a:t>
            </a:r>
            <a:endParaRPr kumimoji="1" lang="ja-JP" altLang="en-US" sz="1600" dirty="0">
              <a:solidFill>
                <a:schemeClr val="accent1"/>
              </a:solidFill>
              <a:latin typeface="Meiryo UI" panose="020B0604030504040204" pitchFamily="50" charset="-128"/>
              <a:ea typeface="Meiryo UI" panose="020B0604030504040204" pitchFamily="50" charset="-128"/>
            </a:endParaRPr>
          </a:p>
        </p:txBody>
      </p:sp>
      <p:cxnSp>
        <p:nvCxnSpPr>
          <p:cNvPr id="28" name="直線矢印コネクタ 27">
            <a:extLst>
              <a:ext uri="{FF2B5EF4-FFF2-40B4-BE49-F238E27FC236}">
                <a16:creationId xmlns:a16="http://schemas.microsoft.com/office/drawing/2014/main" id="{ED56884A-8D72-25A5-822F-90D411D462A6}"/>
              </a:ext>
            </a:extLst>
          </p:cNvPr>
          <p:cNvCxnSpPr>
            <a:cxnSpLocks/>
          </p:cNvCxnSpPr>
          <p:nvPr/>
        </p:nvCxnSpPr>
        <p:spPr>
          <a:xfrm flipH="1">
            <a:off x="5166705" y="5571461"/>
            <a:ext cx="44234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5DB33BCF-3DF7-0309-D18C-309F0CD98083}"/>
              </a:ext>
            </a:extLst>
          </p:cNvPr>
          <p:cNvSpPr txBox="1"/>
          <p:nvPr/>
        </p:nvSpPr>
        <p:spPr>
          <a:xfrm>
            <a:off x="5417562" y="5232907"/>
            <a:ext cx="1702094" cy="338554"/>
          </a:xfrm>
          <a:prstGeom prst="rect">
            <a:avLst/>
          </a:prstGeom>
          <a:noFill/>
        </p:spPr>
        <p:txBody>
          <a:bodyPr wrap="square" rtlCol="0">
            <a:spAutoFit/>
          </a:bodyPr>
          <a:lstStyle/>
          <a:p>
            <a:pPr algn="ctr"/>
            <a:r>
              <a:rPr lang="ja-JP" altLang="en-US" sz="1600" dirty="0">
                <a:solidFill>
                  <a:schemeClr val="accent1"/>
                </a:solidFill>
                <a:latin typeface="Meiryo UI" panose="020B0604030504040204" pitchFamily="50" charset="-128"/>
                <a:ea typeface="Meiryo UI" panose="020B0604030504040204" pitchFamily="50" charset="-128"/>
              </a:rPr>
              <a:t>注文完了</a:t>
            </a:r>
            <a:endParaRPr kumimoji="1" lang="ja-JP" altLang="en-US" sz="1600" dirty="0">
              <a:solidFill>
                <a:schemeClr val="accent1"/>
              </a:solidFill>
              <a:latin typeface="Meiryo UI" panose="020B0604030504040204" pitchFamily="50" charset="-128"/>
              <a:ea typeface="Meiryo UI" panose="020B0604030504040204" pitchFamily="50" charset="-128"/>
            </a:endParaRPr>
          </a:p>
        </p:txBody>
      </p:sp>
      <p:cxnSp>
        <p:nvCxnSpPr>
          <p:cNvPr id="32" name="直線矢印コネクタ 31">
            <a:extLst>
              <a:ext uri="{FF2B5EF4-FFF2-40B4-BE49-F238E27FC236}">
                <a16:creationId xmlns:a16="http://schemas.microsoft.com/office/drawing/2014/main" id="{67ED5436-5BC6-D2F7-3923-2079278A8240}"/>
              </a:ext>
            </a:extLst>
          </p:cNvPr>
          <p:cNvCxnSpPr>
            <a:cxnSpLocks/>
          </p:cNvCxnSpPr>
          <p:nvPr/>
        </p:nvCxnSpPr>
        <p:spPr>
          <a:xfrm flipH="1">
            <a:off x="2704417" y="5390706"/>
            <a:ext cx="20934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63E9D993-34C9-0518-D964-070F3E4E58B5}"/>
              </a:ext>
            </a:extLst>
          </p:cNvPr>
          <p:cNvSpPr txBox="1"/>
          <p:nvPr/>
        </p:nvSpPr>
        <p:spPr>
          <a:xfrm>
            <a:off x="2955274" y="5105317"/>
            <a:ext cx="1702094" cy="338554"/>
          </a:xfrm>
          <a:prstGeom prst="rect">
            <a:avLst/>
          </a:prstGeom>
          <a:noFill/>
        </p:spPr>
        <p:txBody>
          <a:bodyPr wrap="square" rtlCol="0">
            <a:spAutoFit/>
          </a:bodyPr>
          <a:lstStyle/>
          <a:p>
            <a:pPr algn="ctr"/>
            <a:r>
              <a:rPr kumimoji="1" lang="ja-JP" altLang="en-US" sz="1600" dirty="0">
                <a:solidFill>
                  <a:schemeClr val="accent1"/>
                </a:solidFill>
                <a:latin typeface="Meiryo UI" panose="020B0604030504040204" pitchFamily="50" charset="-128"/>
                <a:ea typeface="Meiryo UI" panose="020B0604030504040204" pitchFamily="50" charset="-128"/>
              </a:rPr>
              <a:t>配送済み連絡</a:t>
            </a:r>
          </a:p>
        </p:txBody>
      </p:sp>
    </p:spTree>
    <p:extLst>
      <p:ext uri="{BB962C8B-B14F-4D97-AF65-F5344CB8AC3E}">
        <p14:creationId xmlns:p14="http://schemas.microsoft.com/office/powerpoint/2010/main" val="4250656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9122D-DC8D-CB0F-F817-77497ECD6E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341CF3-E6B3-DB66-667F-39F8A0963F92}"/>
              </a:ext>
            </a:extLst>
          </p:cNvPr>
          <p:cNvSpPr>
            <a:spLocks noGrp="1"/>
          </p:cNvSpPr>
          <p:nvPr>
            <p:ph type="title"/>
          </p:nvPr>
        </p:nvSpPr>
        <p:spPr/>
        <p:txBody>
          <a:bodyPr/>
          <a:lstStyle/>
          <a:p>
            <a:r>
              <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rPr>
              <a:t>登場する</a:t>
            </a:r>
            <a:r>
              <a:rPr kumimoji="1" lang="en-US" altLang="ja-JP"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dirty="0">
                <a:solidFill>
                  <a:schemeClr val="tx1">
                    <a:lumMod val="75000"/>
                    <a:lumOff val="25000"/>
                  </a:schemeClr>
                </a:solidFill>
                <a:latin typeface="Meiryo UI" panose="020B0604030504040204" pitchFamily="50" charset="-128"/>
                <a:ea typeface="Meiryo UI" panose="020B0604030504040204" pitchFamily="50" charset="-128"/>
              </a:rPr>
              <a:t>の「目的」</a:t>
            </a:r>
            <a:endParaRPr kumimoji="1" lang="ja-JP" altLang="en-US"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8A21BB34-1029-839E-0E97-9BCDFEC12165}"/>
              </a:ext>
            </a:extLst>
          </p:cNvPr>
          <p:cNvSpPr>
            <a:spLocks noGrp="1"/>
          </p:cNvSpPr>
          <p:nvPr>
            <p:ph idx="1"/>
          </p:nvPr>
        </p:nvSpPr>
        <p:spPr>
          <a:xfrm>
            <a:off x="838200" y="1825625"/>
            <a:ext cx="10515600" cy="1204958"/>
          </a:xfrm>
        </p:spPr>
        <p:txBody>
          <a:bodyPr>
            <a:normAutofit/>
          </a:bodyPr>
          <a:lstStyle/>
          <a:p>
            <a:r>
              <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とは、モノやヒトを区別するために使う「一意の名前や番号」であった</a:t>
            </a:r>
            <a:endPar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ステークホルダーごとに意識する</a:t>
            </a:r>
            <a:r>
              <a:rPr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が固定であることで効率化ができている</a:t>
            </a:r>
            <a:r>
              <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rPr>
              <a:t>。</a:t>
            </a:r>
            <a:endPar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pPr marL="0" indent="0">
              <a:buNone/>
            </a:pPr>
            <a:r>
              <a:rPr lang="en-US" altLang="ja-JP" sz="1800"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効率化：意識する「</a:t>
            </a:r>
            <a:r>
              <a:rPr lang="en-US" altLang="ja-JP" sz="1800" dirty="0">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sz="1800" dirty="0">
                <a:solidFill>
                  <a:schemeClr val="tx1">
                    <a:lumMod val="75000"/>
                    <a:lumOff val="25000"/>
                  </a:schemeClr>
                </a:solidFill>
                <a:latin typeface="Meiryo UI" panose="020B0604030504040204" pitchFamily="50" charset="-128"/>
                <a:ea typeface="Meiryo UI" panose="020B0604030504040204" pitchFamily="50" charset="-128"/>
              </a:rPr>
              <a:t>」を絞ることでステークホルダごとに必要ない情報をそぎ落とすことができる。</a:t>
            </a:r>
            <a:endPar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endParaRPr kumimoji="1" lang="en-US" altLang="ja-JP" sz="1800" dirty="0">
              <a:solidFill>
                <a:schemeClr val="tx1">
                  <a:lumMod val="75000"/>
                  <a:lumOff val="25000"/>
                </a:schemeClr>
              </a:solidFill>
              <a:latin typeface="Meiryo UI" panose="020B0604030504040204" pitchFamily="50" charset="-128"/>
              <a:ea typeface="Meiryo UI" panose="020B0604030504040204" pitchFamily="50" charset="-128"/>
            </a:endParaRPr>
          </a:p>
          <a:p>
            <a:endParaRPr kumimoji="1" lang="ja-JP" altLang="en-US" sz="1800" dirty="0">
              <a:solidFill>
                <a:schemeClr val="tx1">
                  <a:lumMod val="75000"/>
                  <a:lumOff val="25000"/>
                </a:schemeClr>
              </a:solidFill>
              <a:latin typeface="Meiryo UI" panose="020B0604030504040204" pitchFamily="50" charset="-128"/>
              <a:ea typeface="Meiryo UI" panose="020B0604030504040204" pitchFamily="50" charset="-128"/>
            </a:endParaRPr>
          </a:p>
        </p:txBody>
      </p:sp>
      <p:graphicFrame>
        <p:nvGraphicFramePr>
          <p:cNvPr id="6" name="表 5">
            <a:extLst>
              <a:ext uri="{FF2B5EF4-FFF2-40B4-BE49-F238E27FC236}">
                <a16:creationId xmlns:a16="http://schemas.microsoft.com/office/drawing/2014/main" id="{E2A47E18-5AC0-61F1-EA59-53308E4FF6F1}"/>
              </a:ext>
            </a:extLst>
          </p:cNvPr>
          <p:cNvGraphicFramePr>
            <a:graphicFrameLocks noGrp="1"/>
          </p:cNvGraphicFramePr>
          <p:nvPr>
            <p:extLst>
              <p:ext uri="{D42A27DB-BD31-4B8C-83A1-F6EECF244321}">
                <p14:modId xmlns:p14="http://schemas.microsoft.com/office/powerpoint/2010/main" val="1482821878"/>
              </p:ext>
            </p:extLst>
          </p:nvPr>
        </p:nvGraphicFramePr>
        <p:xfrm>
          <a:off x="1075704" y="3334650"/>
          <a:ext cx="10075227" cy="2001520"/>
        </p:xfrm>
        <a:graphic>
          <a:graphicData uri="http://schemas.openxmlformats.org/drawingml/2006/table">
            <a:tbl>
              <a:tblPr firstRow="1" bandRow="1">
                <a:tableStyleId>{5C22544A-7EE6-4342-B048-85BDC9FD1C3A}</a:tableStyleId>
              </a:tblPr>
              <a:tblGrid>
                <a:gridCol w="1038104">
                  <a:extLst>
                    <a:ext uri="{9D8B030D-6E8A-4147-A177-3AD203B41FA5}">
                      <a16:colId xmlns:a16="http://schemas.microsoft.com/office/drawing/2014/main" val="2122804136"/>
                    </a:ext>
                  </a:extLst>
                </a:gridCol>
                <a:gridCol w="3705101">
                  <a:extLst>
                    <a:ext uri="{9D8B030D-6E8A-4147-A177-3AD203B41FA5}">
                      <a16:colId xmlns:a16="http://schemas.microsoft.com/office/drawing/2014/main" val="345308190"/>
                    </a:ext>
                  </a:extLst>
                </a:gridCol>
                <a:gridCol w="5332022">
                  <a:extLst>
                    <a:ext uri="{9D8B030D-6E8A-4147-A177-3AD203B41FA5}">
                      <a16:colId xmlns:a16="http://schemas.microsoft.com/office/drawing/2014/main" val="1317318590"/>
                    </a:ext>
                  </a:extLst>
                </a:gridCol>
              </a:tblGrid>
              <a:tr h="370840">
                <a:tc>
                  <a:txBody>
                    <a:bodyPr/>
                    <a:lstStyle/>
                    <a:p>
                      <a:pPr algn="ctr"/>
                      <a:r>
                        <a:rPr kumimoji="1" lang="ja-JP" altLang="en-US" dirty="0">
                          <a:solidFill>
                            <a:schemeClr val="bg1"/>
                          </a:solidFill>
                        </a:rPr>
                        <a:t>項番</a:t>
                      </a:r>
                    </a:p>
                  </a:txBody>
                  <a:tcPr/>
                </a:tc>
                <a:tc>
                  <a:txBody>
                    <a:bodyPr/>
                    <a:lstStyle/>
                    <a:p>
                      <a:pPr algn="ctr"/>
                      <a:r>
                        <a:rPr kumimoji="1" lang="ja-JP" altLang="en-US" dirty="0">
                          <a:solidFill>
                            <a:schemeClr val="bg1"/>
                          </a:solidFill>
                        </a:rPr>
                        <a:t>名称</a:t>
                      </a:r>
                    </a:p>
                  </a:txBody>
                  <a:tcPr/>
                </a:tc>
                <a:tc>
                  <a:txBody>
                    <a:bodyPr/>
                    <a:lstStyle/>
                    <a:p>
                      <a:pPr algn="ctr"/>
                      <a:r>
                        <a:rPr kumimoji="1" lang="ja-JP" altLang="en-US" dirty="0">
                          <a:solidFill>
                            <a:schemeClr val="bg1"/>
                          </a:solidFill>
                        </a:rPr>
                        <a:t>用途</a:t>
                      </a:r>
                    </a:p>
                  </a:txBody>
                  <a:tcPr/>
                </a:tc>
                <a:extLst>
                  <a:ext uri="{0D108BD9-81ED-4DB2-BD59-A6C34878D82A}">
                    <a16:rowId xmlns:a16="http://schemas.microsoft.com/office/drawing/2014/main" val="4164494696"/>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1</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ユーザ</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ユーザを</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1</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意に識別する。住所や支払情報などが紐づいている。</a:t>
                      </a:r>
                      <a:endPar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931489600"/>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2</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注文</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注文を</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1</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意に識別する。ユーザ</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ID</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や商品情報などが紐づいている。</a:t>
                      </a:r>
                    </a:p>
                  </a:txBody>
                  <a:tcPr/>
                </a:tc>
                <a:extLst>
                  <a:ext uri="{0D108BD9-81ED-4DB2-BD59-A6C34878D82A}">
                    <a16:rowId xmlns:a16="http://schemas.microsoft.com/office/drawing/2014/main" val="1845765786"/>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3</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商品</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商品を</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1</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意に識別する。在庫情報などが紐づいている。</a:t>
                      </a:r>
                    </a:p>
                  </a:txBody>
                  <a:tcPr/>
                </a:tc>
                <a:extLst>
                  <a:ext uri="{0D108BD9-81ED-4DB2-BD59-A6C34878D82A}">
                    <a16:rowId xmlns:a16="http://schemas.microsoft.com/office/drawing/2014/main" val="1394610113"/>
                  </a:ext>
                </a:extLst>
              </a:tr>
              <a:tr h="370840">
                <a:tc>
                  <a:txBody>
                    <a:bodyPr/>
                    <a:lstStyle/>
                    <a:p>
                      <a:pPr algn="ct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4</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配送</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ID</a:t>
                      </a:r>
                      <a:endPar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endParaRPr>
                    </a:p>
                  </a:txBody>
                  <a:tcPr/>
                </a:tc>
                <a:tc>
                  <a:txBody>
                    <a:bodyPr/>
                    <a:lstStyle/>
                    <a:p>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配送を</a:t>
                      </a:r>
                      <a:r>
                        <a:rPr kumimoji="1" lang="en-US" altLang="ja-JP" sz="1400" dirty="0">
                          <a:solidFill>
                            <a:schemeClr val="tx1">
                              <a:lumMod val="75000"/>
                              <a:lumOff val="25000"/>
                            </a:schemeClr>
                          </a:solidFill>
                          <a:latin typeface="Meiryo UI" panose="020B0604030504040204" pitchFamily="50" charset="-128"/>
                          <a:ea typeface="Meiryo UI" panose="020B0604030504040204" pitchFamily="50" charset="-128"/>
                        </a:rPr>
                        <a:t>1</a:t>
                      </a:r>
                      <a:r>
                        <a:rPr kumimoji="1" lang="ja-JP" altLang="en-US" sz="1400" dirty="0">
                          <a:solidFill>
                            <a:schemeClr val="tx1">
                              <a:lumMod val="75000"/>
                              <a:lumOff val="25000"/>
                            </a:schemeClr>
                          </a:solidFill>
                          <a:latin typeface="Meiryo UI" panose="020B0604030504040204" pitchFamily="50" charset="-128"/>
                          <a:ea typeface="Meiryo UI" panose="020B0604030504040204" pitchFamily="50" charset="-128"/>
                        </a:rPr>
                        <a:t>意に識別する。配達先住所や担当するドライバーなどが紐づいている。</a:t>
                      </a:r>
                    </a:p>
                  </a:txBody>
                  <a:tcPr/>
                </a:tc>
                <a:extLst>
                  <a:ext uri="{0D108BD9-81ED-4DB2-BD59-A6C34878D82A}">
                    <a16:rowId xmlns:a16="http://schemas.microsoft.com/office/drawing/2014/main" val="1624257534"/>
                  </a:ext>
                </a:extLst>
              </a:tr>
            </a:tbl>
          </a:graphicData>
        </a:graphic>
      </p:graphicFrame>
    </p:spTree>
    <p:extLst>
      <p:ext uri="{BB962C8B-B14F-4D97-AF65-F5344CB8AC3E}">
        <p14:creationId xmlns:p14="http://schemas.microsoft.com/office/powerpoint/2010/main" val="315978573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9073</TotalTime>
  <Words>809</Words>
  <Application>Microsoft Office PowerPoint</Application>
  <PresentationFormat>ワイド画面</PresentationFormat>
  <Paragraphs>111</Paragraphs>
  <Slides>8</Slides>
  <Notes>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Meiryo UI</vt:lpstr>
      <vt:lpstr>游ゴシック</vt:lpstr>
      <vt:lpstr>游ゴシック Light</vt:lpstr>
      <vt:lpstr>Arial</vt:lpstr>
      <vt:lpstr>Office テーマ</vt:lpstr>
      <vt:lpstr>ID設計について考える</vt:lpstr>
      <vt:lpstr>IDとはなにか</vt:lpstr>
      <vt:lpstr>ID設計のポイント (1/2)</vt:lpstr>
      <vt:lpstr>ID設計のポイント (2/2)</vt:lpstr>
      <vt:lpstr>ユーザとして意識するID</vt:lpstr>
      <vt:lpstr>実際に機能しているであろうID</vt:lpstr>
      <vt:lpstr>実際に機能しているであろうID</vt:lpstr>
      <vt:lpstr>登場するIDの「目的」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弘樹 中村</dc:creator>
  <cp:lastModifiedBy>弘樹 中村</cp:lastModifiedBy>
  <cp:revision>1</cp:revision>
  <dcterms:created xsi:type="dcterms:W3CDTF">2025-06-14T02:55:00Z</dcterms:created>
  <dcterms:modified xsi:type="dcterms:W3CDTF">2025-11-06T02:28:09Z</dcterms:modified>
</cp:coreProperties>
</file>