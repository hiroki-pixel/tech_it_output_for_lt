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78" r:id="rId4"/>
    <p:sldId id="280" r:id="rId5"/>
    <p:sldId id="281" r:id="rId6"/>
    <p:sldId id="285" r:id="rId7"/>
    <p:sldId id="269" r:id="rId8"/>
    <p:sldId id="279"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 id="{A85C9006-EB47-4D1F-8FED-7D34B2F437B8}">
          <p14:sldIdLst>
            <p14:sldId id="256"/>
          </p14:sldIdLst>
        </p14:section>
        <p14:section name="目次" id="{E74342EC-93D7-4CD8-A83A-4FC3F823B5B3}">
          <p14:sldIdLst>
            <p14:sldId id="259"/>
          </p14:sldIdLst>
        </p14:section>
        <p14:section name="Vol1" id="{02958DE2-207D-4B8A-B16E-E72573B0FA74}">
          <p14:sldIdLst>
            <p14:sldId id="278"/>
          </p14:sldIdLst>
        </p14:section>
        <p14:section name="ネットワークとは？" id="{0274FCD1-D8BC-4BBD-B4D7-081CB0AFD624}">
          <p14:sldIdLst>
            <p14:sldId id="280"/>
          </p14:sldIdLst>
        </p14:section>
        <p14:section name="ネットワークの大きな分類について" id="{60229A59-F11A-4098-BEAE-3AC99B4FDEF2}">
          <p14:sldIdLst>
            <p14:sldId id="281"/>
          </p14:sldIdLst>
        </p14:section>
        <p14:section name="インターネットワーキングの概念" id="{D87BCB0D-38BD-4806-8503-CCEC0D496A1B}">
          <p14:sldIdLst>
            <p14:sldId id="285"/>
          </p14:sldIdLst>
        </p14:section>
        <p14:section name="参考文献" id="{D611D94B-2139-4D76-A844-C6C9979FB740}">
          <p14:sldIdLst>
            <p14:sldId id="269"/>
            <p14:sldId id="279"/>
          </p14:sldIdLst>
        </p14:section>
      </p14:sectionLst>
    </p:ex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9" d="100"/>
          <a:sy n="79" d="100"/>
        </p:scale>
        <p:origin x="96" y="64"/>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弘樹 中村" userId="a025bb5ecfdc7ca2" providerId="LiveId" clId="{AC29752E-9633-413F-A998-E9529B1C9327}"/>
    <pc:docChg chg="undo custSel addSld delSld modSld sldOrd modMainMaster addSection delSection modSection">
      <pc:chgData name="弘樹 中村" userId="a025bb5ecfdc7ca2" providerId="LiveId" clId="{AC29752E-9633-413F-A998-E9529B1C9327}" dt="2026-09-22T06:50:51.655" v="10977" actId="47"/>
      <pc:docMkLst>
        <pc:docMk/>
      </pc:docMkLst>
      <pc:sldChg chg="del">
        <pc:chgData name="弘樹 中村" userId="a025bb5ecfdc7ca2" providerId="LiveId" clId="{AC29752E-9633-413F-A998-E9529B1C9327}" dt="2026-09-22T06:50:25.440" v="10969" actId="18676"/>
        <pc:sldMkLst>
          <pc:docMk/>
          <pc:sldMk cId="3808109660" sldId="261"/>
        </pc:sldMkLst>
      </pc:sldChg>
      <pc:sldChg chg="del">
        <pc:chgData name="弘樹 中村" userId="a025bb5ecfdc7ca2" providerId="LiveId" clId="{AC29752E-9633-413F-A998-E9529B1C9327}" dt="2026-09-22T06:50:25.440" v="10969" actId="18676"/>
        <pc:sldMkLst>
          <pc:docMk/>
          <pc:sldMk cId="3240422563" sldId="263"/>
        </pc:sldMkLst>
      </pc:sldChg>
      <pc:sldChg chg="del">
        <pc:chgData name="弘樹 中村" userId="a025bb5ecfdc7ca2" providerId="LiveId" clId="{AC29752E-9633-413F-A998-E9529B1C9327}" dt="2026-09-22T06:50:25.440" v="10969" actId="18676"/>
        <pc:sldMkLst>
          <pc:docMk/>
          <pc:sldMk cId="832867212" sldId="264"/>
        </pc:sldMkLst>
      </pc:sldChg>
      <pc:sldChg chg="del">
        <pc:chgData name="弘樹 中村" userId="a025bb5ecfdc7ca2" providerId="LiveId" clId="{AC29752E-9633-413F-A998-E9529B1C9327}" dt="2026-09-22T06:50:49.396" v="10976" actId="47"/>
        <pc:sldMkLst>
          <pc:docMk/>
          <pc:sldMk cId="2788948832" sldId="265"/>
        </pc:sldMkLst>
      </pc:sldChg>
      <pc:sldChg chg="del">
        <pc:chgData name="弘樹 中村" userId="a025bb5ecfdc7ca2" providerId="LiveId" clId="{AC29752E-9633-413F-A998-E9529B1C9327}" dt="2026-09-22T06:50:51.655" v="10977" actId="47"/>
        <pc:sldMkLst>
          <pc:docMk/>
          <pc:sldMk cId="635912571" sldId="266"/>
        </pc:sldMkLst>
      </pc:sldChg>
      <pc:sldChg chg="del">
        <pc:chgData name="弘樹 中村" userId="a025bb5ecfdc7ca2" providerId="LiveId" clId="{AC29752E-9633-413F-A998-E9529B1C9327}" dt="2026-09-22T06:50:37.554" v="10971" actId="18676"/>
        <pc:sldMkLst>
          <pc:docMk/>
          <pc:sldMk cId="1155084605" sldId="267"/>
        </pc:sldMkLst>
      </pc:sldChg>
      <pc:sldChg chg="del">
        <pc:chgData name="弘樹 中村" userId="a025bb5ecfdc7ca2" providerId="LiveId" clId="{AC29752E-9633-413F-A998-E9529B1C9327}" dt="2026-09-22T06:50:40.770" v="10972" actId="18676"/>
        <pc:sldMkLst>
          <pc:docMk/>
          <pc:sldMk cId="2752387135" sldId="268"/>
        </pc:sldMkLst>
      </pc:sldChg>
      <pc:sldChg chg="del">
        <pc:chgData name="弘樹 中村" userId="a025bb5ecfdc7ca2" providerId="LiveId" clId="{AC29752E-9633-413F-A998-E9529B1C9327}" dt="2026-09-22T06:50:35.023" v="10970" actId="18676"/>
        <pc:sldMkLst>
          <pc:docMk/>
          <pc:sldMk cId="3714738854" sldId="270"/>
        </pc:sldMkLst>
      </pc:sldChg>
      <pc:sldChg chg="del">
        <pc:chgData name="弘樹 中村" userId="a025bb5ecfdc7ca2" providerId="LiveId" clId="{AC29752E-9633-413F-A998-E9529B1C9327}" dt="2026-09-22T06:50:40.770" v="10972" actId="18676"/>
        <pc:sldMkLst>
          <pc:docMk/>
          <pc:sldMk cId="3280532236" sldId="271"/>
        </pc:sldMkLst>
      </pc:sldChg>
      <pc:sldChg chg="del">
        <pc:chgData name="弘樹 中村" userId="a025bb5ecfdc7ca2" providerId="LiveId" clId="{AC29752E-9633-413F-A998-E9529B1C9327}" dt="2026-09-22T06:50:42.363" v="10973" actId="47"/>
        <pc:sldMkLst>
          <pc:docMk/>
          <pc:sldMk cId="533046296" sldId="272"/>
        </pc:sldMkLst>
      </pc:sldChg>
      <pc:sldChg chg="del">
        <pc:chgData name="弘樹 中村" userId="a025bb5ecfdc7ca2" providerId="LiveId" clId="{AC29752E-9633-413F-A998-E9529B1C9327}" dt="2026-09-22T06:50:25.440" v="10969" actId="18676"/>
        <pc:sldMkLst>
          <pc:docMk/>
          <pc:sldMk cId="582609331" sldId="273"/>
        </pc:sldMkLst>
      </pc:sldChg>
      <pc:sldChg chg="del">
        <pc:chgData name="弘樹 中村" userId="a025bb5ecfdc7ca2" providerId="LiveId" clId="{AC29752E-9633-413F-A998-E9529B1C9327}" dt="2026-09-22T06:50:40.770" v="10972" actId="18676"/>
        <pc:sldMkLst>
          <pc:docMk/>
          <pc:sldMk cId="3600593824" sldId="274"/>
        </pc:sldMkLst>
      </pc:sldChg>
      <pc:sldChg chg="del">
        <pc:chgData name="弘樹 中村" userId="a025bb5ecfdc7ca2" providerId="LiveId" clId="{AC29752E-9633-413F-A998-E9529B1C9327}" dt="2026-09-22T06:50:25.440" v="10969" actId="18676"/>
        <pc:sldMkLst>
          <pc:docMk/>
          <pc:sldMk cId="2755181130" sldId="275"/>
        </pc:sldMkLst>
      </pc:sldChg>
      <pc:sldChg chg="del">
        <pc:chgData name="弘樹 中村" userId="a025bb5ecfdc7ca2" providerId="LiveId" clId="{AC29752E-9633-413F-A998-E9529B1C9327}" dt="2026-09-22T06:50:35.023" v="10970" actId="18676"/>
        <pc:sldMkLst>
          <pc:docMk/>
          <pc:sldMk cId="3758113492" sldId="276"/>
        </pc:sldMkLst>
      </pc:sldChg>
      <pc:sldChg chg="add del ord">
        <pc:chgData name="弘樹 中村" userId="a025bb5ecfdc7ca2" providerId="LiveId" clId="{AC29752E-9633-413F-A998-E9529B1C9327}" dt="2026-09-22T06:50:11.132" v="10967" actId="47"/>
        <pc:sldMkLst>
          <pc:docMk/>
          <pc:sldMk cId="3118514828" sldId="277"/>
        </pc:sldMkLst>
      </pc:sldChg>
      <pc:sldChg chg="add del">
        <pc:chgData name="弘樹 中村" userId="a025bb5ecfdc7ca2" providerId="LiveId" clId="{AC29752E-9633-413F-A998-E9529B1C9327}" dt="2026-09-22T06:50:46.292" v="10975" actId="47"/>
        <pc:sldMkLst>
          <pc:docMk/>
          <pc:sldMk cId="1252140608" sldId="279"/>
        </pc:sldMkLst>
      </pc:sldChg>
      <pc:sldChg chg="del">
        <pc:chgData name="弘樹 中村" userId="a025bb5ecfdc7ca2" providerId="LiveId" clId="{AC29752E-9633-413F-A998-E9529B1C9327}" dt="2026-09-22T06:50:18.706" v="10968" actId="47"/>
        <pc:sldMkLst>
          <pc:docMk/>
          <pc:sldMk cId="1657378982" sldId="282"/>
        </pc:sldMkLst>
      </pc:sldChg>
      <pc:sldChg chg="del">
        <pc:chgData name="弘樹 中村" userId="a025bb5ecfdc7ca2" providerId="LiveId" clId="{AC29752E-9633-413F-A998-E9529B1C9327}" dt="2026-09-22T06:50:25.440" v="10969" actId="18676"/>
        <pc:sldMkLst>
          <pc:docMk/>
          <pc:sldMk cId="2446384930" sldId="283"/>
        </pc:sldMkLst>
      </pc:sldChg>
      <pc:sldChg chg="del">
        <pc:chgData name="弘樹 中村" userId="a025bb5ecfdc7ca2" providerId="LiveId" clId="{AC29752E-9633-413F-A998-E9529B1C9327}" dt="2026-09-22T06:50:25.440" v="10969" actId="18676"/>
        <pc:sldMkLst>
          <pc:docMk/>
          <pc:sldMk cId="4194565185" sldId="2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A104D8-D7B6-4CF8-BAEF-F9A79D7306F4}" type="datetimeFigureOut">
              <a:rPr kumimoji="1" lang="ja-JP" altLang="en-US" smtClean="0"/>
              <a:t>2026/9/22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B23CA4-4375-42A8-9864-139E7B63B839}" type="slidenum">
              <a:rPr kumimoji="1" lang="ja-JP" altLang="en-US" smtClean="0"/>
              <a:t>‹#›</a:t>
            </a:fld>
            <a:endParaRPr kumimoji="1" lang="ja-JP" altLang="en-US"/>
          </a:p>
        </p:txBody>
      </p:sp>
    </p:spTree>
    <p:extLst>
      <p:ext uri="{BB962C8B-B14F-4D97-AF65-F5344CB8AC3E}">
        <p14:creationId xmlns:p14="http://schemas.microsoft.com/office/powerpoint/2010/main" val="11982875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4B23CA4-4375-42A8-9864-139E7B63B839}" type="slidenum">
              <a:rPr kumimoji="1" lang="ja-JP" altLang="en-US" smtClean="0"/>
              <a:t>2</a:t>
            </a:fld>
            <a:endParaRPr kumimoji="1" lang="ja-JP" altLang="en-US"/>
          </a:p>
        </p:txBody>
      </p:sp>
    </p:spTree>
    <p:extLst>
      <p:ext uri="{BB962C8B-B14F-4D97-AF65-F5344CB8AC3E}">
        <p14:creationId xmlns:p14="http://schemas.microsoft.com/office/powerpoint/2010/main" val="3849805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C76CB974-6965-3B05-22C5-D7ABD8B670B8}"/>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B95E1E01-BBD1-8D09-DD42-3B2674861F1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481568C-6E3F-DDC4-62FD-3B38E97BC86D}"/>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
        <p:nvSpPr>
          <p:cNvPr id="19" name="タイトル プレースホルダー 1">
            <a:extLst>
              <a:ext uri="{FF2B5EF4-FFF2-40B4-BE49-F238E27FC236}">
                <a16:creationId xmlns:a16="http://schemas.microsoft.com/office/drawing/2014/main" id="{F5448BF9-421D-682B-97F0-3386334EF2B4}"/>
              </a:ext>
            </a:extLst>
          </p:cNvPr>
          <p:cNvSpPr txBox="1">
            <a:spLocks/>
          </p:cNvSpPr>
          <p:nvPr userDrawn="1"/>
        </p:nvSpPr>
        <p:spPr>
          <a:xfrm>
            <a:off x="355600" y="981078"/>
            <a:ext cx="11506200" cy="6064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endParaRPr lang="ja-JP" altLang="en-US" dirty="0"/>
          </a:p>
        </p:txBody>
      </p:sp>
    </p:spTree>
    <p:extLst>
      <p:ext uri="{BB962C8B-B14F-4D97-AF65-F5344CB8AC3E}">
        <p14:creationId xmlns:p14="http://schemas.microsoft.com/office/powerpoint/2010/main" val="15227181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EEE96987-1474-034D-4B91-DA1366DBAADC}"/>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023E1FDD-ACA4-AA64-0A41-20B5F41830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4EF6310-7943-3617-498B-10AAE18E6D94}"/>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1573038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7AD362-CCE4-0138-34C0-74808599B59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F52A03E-16D7-EB7B-A856-B6C414702E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FB607D9-BE18-1CA4-2567-38A4D665985B}"/>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12D6161D-3BA0-12A7-EDDD-84AF39D535A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109196-30B9-3BA9-7378-2B646B148D46}"/>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408524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5E107B-94EB-CA6A-9434-B517B78814C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091A68D-D644-05F1-EC2B-B435C07973F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6769D75-4D40-B663-63B0-062F751EBE5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E6C5320-846E-46F4-F02F-89FEE981C5BF}"/>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6" name="フッター プレースホルダー 5">
            <a:extLst>
              <a:ext uri="{FF2B5EF4-FFF2-40B4-BE49-F238E27FC236}">
                <a16:creationId xmlns:a16="http://schemas.microsoft.com/office/drawing/2014/main" id="{BBB90F69-439E-906B-F6F2-6A175E62A75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0D91C6E-E0CA-6F0E-E004-87E58414DFAD}"/>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66793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51B5D0-3CE0-0809-87A5-67D6A638AF1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AE82A07-D943-14BC-1DA5-7577411A46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F0DF91F-8EAE-3475-4135-E993288EE6A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246EA62-CEEC-99A6-4959-1D70A6BD2E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53D2A83-8D3E-F815-6FB1-28DB99F6E8D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5F72EAB-3580-B0A9-91CC-117290E04114}"/>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8" name="フッター プレースホルダー 7">
            <a:extLst>
              <a:ext uri="{FF2B5EF4-FFF2-40B4-BE49-F238E27FC236}">
                <a16:creationId xmlns:a16="http://schemas.microsoft.com/office/drawing/2014/main" id="{F572CF3B-0559-E47E-AFDF-D07C78B9C9A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03BBED3-5D9B-D2D0-0CB8-B479204C9207}"/>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189422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7FFFF-1F39-F244-C20B-95FFFA0D5B7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69DAD91-03CE-A711-F26A-D2035B0034DC}"/>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4" name="フッター プレースホルダー 3">
            <a:extLst>
              <a:ext uri="{FF2B5EF4-FFF2-40B4-BE49-F238E27FC236}">
                <a16:creationId xmlns:a16="http://schemas.microsoft.com/office/drawing/2014/main" id="{A0176CE3-533A-EA58-4674-9C7B7CC91DB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B837AAD-12CA-E083-138A-4A44672925CC}"/>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7033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FF35215-C192-AB02-9DBE-F70BF57433DB}"/>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3" name="フッター プレースホルダー 2">
            <a:extLst>
              <a:ext uri="{FF2B5EF4-FFF2-40B4-BE49-F238E27FC236}">
                <a16:creationId xmlns:a16="http://schemas.microsoft.com/office/drawing/2014/main" id="{C44F8E8A-76A5-72AE-9C33-55F23040A58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D228C80-18E8-EB4A-6D72-36233AE4316C}"/>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506233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64395B-9EC9-F820-B6CF-BDC7B0610C6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254441-A095-775A-11FA-4ECA6B866C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252438A-77AE-9D95-5ADE-1810E0614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6C934D5-B163-194D-5902-936123785AC2}"/>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6" name="フッター プレースホルダー 5">
            <a:extLst>
              <a:ext uri="{FF2B5EF4-FFF2-40B4-BE49-F238E27FC236}">
                <a16:creationId xmlns:a16="http://schemas.microsoft.com/office/drawing/2014/main" id="{4DEB49EA-18A0-8C85-FC81-E4742813763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BE151B-A72F-FEE7-80E0-78907CC6F9E8}"/>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644459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076550-EE61-3F6E-6846-A405F874119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1C75BD5-9055-E6D2-9EB8-9FA6CC8B91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E7205C2-0F37-154A-EF89-87DA9DD2B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220F01C-9045-C0AC-2C65-9645DD15229A}"/>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6" name="フッター プレースホルダー 5">
            <a:extLst>
              <a:ext uri="{FF2B5EF4-FFF2-40B4-BE49-F238E27FC236}">
                <a16:creationId xmlns:a16="http://schemas.microsoft.com/office/drawing/2014/main" id="{DE296708-5A4D-F288-6864-C5C6AFA999E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73568F7-0F73-AF47-9559-56364FCCA916}"/>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449097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50A875-B467-4AE7-8320-8366CE103E4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7AE5161-F73D-6300-C77B-00B9080629A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0AD1774-5BD4-022E-280B-F07918F2BB47}"/>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21FDD860-79BF-83F7-41CE-6BE0EEAE54C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D3EE30-B4B0-6F12-CBEE-7ADE4718CD43}"/>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77533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129DAA8-8FD8-C24F-2BA1-E47ADE21F87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AA1B9A7-0AB5-59E1-EEE0-A426399EA9A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46EDEC-6654-0C01-8323-D872787FC87B}"/>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6AAA2A5E-461D-D277-74B4-F7DAA98764A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3CF1EB9-728C-F7DD-4813-E76D8E66728F}"/>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169963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3C2996E-F3C1-B5E7-8B83-027DA8B966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B43E46F3-7EDF-6B23-ED04-7DBB49F401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9AA5DB-07EC-165B-50EE-33369E5761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D64261CF-F9A8-A78C-E381-D8BAF390D5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9DE0BC9-A1C9-5BBF-44A0-F664E1A5C4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31579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hyperlink" Target="https://www.amazon.co.jp/%E3%82%A4%E3%83%A9%E3%82%B9%E3%83%88%E5%9B%B3%E8%A7%A3%E5%BC%8F-%E3%81%93%E3%81%AE%E4%B8%80%E5%86%8A%E3%81%A7%E5%85%A8%E9%83%A8%E3%82%8F%E3%81%8B%E3%82%8B%E3%83%8D%E3%83%83%E3%83%88%E3%83%AF%E3%83%BC%E3%82%AF%E3%81%AE%E5%9F%BA%E6%9C%AC-%E7%AC%AC2%E7%89%88-%E7%A6%8F%E6%B0%B8-%E5%8B%87%E4%BA%8C-ebook/dp/B0BTYL1RW3/ref=sr_1_1?crid=2SV93QH5OD8Y0&amp;dib=eyJ2IjoiMSJ9.UZH0Sirgbp3M42JxsPov7v7wl1hrfRgdKF0Fj_6-NlETXQwjOxkzOn72O6j4oIB7RACRqJti_U-RuOcXfvLfkql9K1bfKjOEKSTLYUWCD9xLcmls3ulPh4IzYR4HJ9xXspZnDNmH48liwrkVIpyCCx_-eN0c2cA7WyEM9-8rlSKrpJjOsauy4LJ7wo8q_pWLgW3SsIWesMmGxqKCSGdei_E9-L2bvl3EPHKOrigKN7wGr6vyWBtSnmpaJNq10uLVcW6k-BjSQupMMzaZzv5TZz-BRRIckcgcRAiPjVHZZbQ.7GMcjhTim0fNHAz0KJLUrn6u7kC5s6FXhb6QN8eO5DY&amp;dib_tag=se&amp;keywords=%E3%82%A4%E3%83%A9%E3%82%B9%E3%83%88%E5%9B%B3%E8%A7%A3%E5%BC%8F+%E3%81%93%E3%81%AE%E4%B8%80%E5%86%8A%E3%81%A7%E5%85%A8%E9%83%A8%E3%82%8F%E3%81%8B%E3%82%8B%E3%83%8D%E3%83%83%E3%83%88%E3%83%AF%E3%83%BC%E3%82%AF%E3%81%AE%E5%9F%BA%E6%9C%AC&amp;qid=1765594514&amp;sprefix=%E3%82%A4%E3%83%A9%E3%82%B9%E3%83%88%E5%9B%B3%E8%A7%A3%E5%BC%8F%2Caps%2C188&amp;sr=8-1" TargetMode="External"/><Relationship Id="rId1" Type="http://schemas.openxmlformats.org/officeDocument/2006/relationships/slideLayout" Target="../slideLayouts/slideLayout2.xml"/><Relationship Id="rId6" Type="http://schemas.openxmlformats.org/officeDocument/2006/relationships/hyperlink" Target="https://www.amazon.co.jp/%E3%83%8D%E3%83%83%E3%83%88%E3%83%AF%E3%83%BC%E3%82%AF%E3%81%AF%E3%81%AA%E3%81%9C%E3%81%A4%E3%81%AA%E3%81%8C%E3%82%8B%E3%81%AE%E3%81%8B-%E7%AC%AC2%E7%89%88-%E7%9F%A5%E3%81%A3%E3%81%A6%E3%81%8A%E3%81%8D%E3%81%9F%E3%81%84TCP-IP%E3%80%81LAN%E3%80%81%E5%85%89%E3%83%95%E3%82%A1%E3%82%A4%E3%83%90%E3%81%AE%E5%9F%BA%E7%A4%8E%E7%9F%A5%E8%AD%98-%E6%88%B8%E6%A0%B9/dp/4822283119/ref=sr_1_1?crid=2ES99A2ZUVPNH&amp;dib=eyJ2IjoiMSJ9.ReiAwe8meSoj2qK6GviYvZuptqUGk_zlaeUIDuutaWszfBdbrgLoQ9n0QbxUTXVf7QTAfBkvyphu1bXFbsqlReMYYFLnAv3ZPlA0efCYHLtX6cVAlfGWbl2tAQCvsyXeWS7ANgQyLXX83920J_qF8nIKygE8q0UFejnvJ_-3aBJRp-iD7Gie23nMsry65MdOAhSy9ngZV0anBqhiUhkLDR3dMjAsPyX1C-a5Y0Iv4jZqfQevip4pD1WwUUIvSJioRqZPobp0oqNcSoaR88tSR8aFv8_15zr2-KZNUZosh_g.ewVLRNT31eq8M4Fh5qugjouxbz9HSzBNwxBjxfzb9LE&amp;dib_tag=se&amp;keywords=%E3%83%8D%E3%83%83%E3%83%88%E3%83%AF%E3%83%BC%E3%82%AF%E3%81%AF%E3%81%AA%E3%81%9C%E3%81%A4%E3%81%AA%E3%81%8C%E3%82%8B%E3%81%AE%E3%81%8B&amp;qid=1765594810&amp;sprefix=%E3%83%8D%E3%83%83%E3%83%88%E3%83%AF%E3%83%BC%E3%82%AF%E3%81%AF%2Caps%2C196&amp;sr=8-1" TargetMode="External"/><Relationship Id="rId5" Type="http://schemas.openxmlformats.org/officeDocument/2006/relationships/image" Target="../media/image4.png"/><Relationship Id="rId4" Type="http://schemas.openxmlformats.org/officeDocument/2006/relationships/hyperlink" Target="https://www.amazon.co.jp/%E5%9B%B3%E8%A7%A3%E5%8D%B3%E6%88%A6%E5%8A%9B-%E9%80%9A%E4%BF%A1%E6%A5%AD%E7%95%8C%E3%81%AE%E3%81%97%E3%81%8F%E3%81%BF%E3%81%A8%E3%83%93%E3%82%B8%E3%83%8D%E3%82%B9%E3%81%8C%E3%81%93%E3%82%8C1%E5%86%8A%E3%81%A7%E3%81%97%E3%81%A3%E3%81%8B%E3%82%8A%E3%82%8F%E3%81%8B%E3%82%8B%E6%95%99%E7%A7%91%E6%9B%B8-%E5%AE%9F%E7%A9%8D-%E5%AF%BF%E4%B9%9F/dp/4297126370/ref=sr_1_1?__mk_ja_JP=%E3%82%AB%E3%82%BF%E3%82%AB%E3%83%8A&amp;crid=27PR95D0O42VZ&amp;dib=eyJ2IjoiMSJ9.AnPIWXG1IdrL_euT3S6LA9rEuX07s3ttOG7QjEKlSF3h3dRLhzx7KQ44tO9hkF5bF9S_D3kMZH1ehbJLzRWK4j-kwhuHUmtngr-LVNSldQzsjElMtEmuDfF9xL1YDAqOo89fG-VAKx_Ju6KevHqLmWgNWJfSAo4K4AiS75yOhVfZqCJQuhOcZctQNUt9pC0n.8H02IF1b-2torTE1_H2XYSw8lXYtBdvR6cssOEWImTA&amp;dib_tag=se&amp;keywords=%E3%81%93%E3%82%8C%E4%B8%80%E5%86%8A+%E9%80%9A%E4%BF%A1%E6%A5%AD%E7%95%8C&amp;qid=1765594662&amp;sprefix=%E3%81%93%E3%82%8C%E4%B8%80%E5%86%8A+%E9%80%9A%E4%BF%A1%E6%A5%AD%E7%95%8C%2Caps%2C199&amp;sr=8-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DDBC31ED-067E-28C0-BF64-3410795368BC}"/>
              </a:ext>
            </a:extLst>
          </p:cNvPr>
          <p:cNvGrpSpPr/>
          <p:nvPr/>
        </p:nvGrpSpPr>
        <p:grpSpPr>
          <a:xfrm>
            <a:off x="1053170" y="1257300"/>
            <a:ext cx="7925730" cy="4296318"/>
            <a:chOff x="1103970" y="596900"/>
            <a:chExt cx="7176430" cy="4131218"/>
          </a:xfrm>
        </p:grpSpPr>
        <p:sp>
          <p:nvSpPr>
            <p:cNvPr id="5" name="正方形/長方形 4">
              <a:extLst>
                <a:ext uri="{FF2B5EF4-FFF2-40B4-BE49-F238E27FC236}">
                  <a16:creationId xmlns:a16="http://schemas.microsoft.com/office/drawing/2014/main" id="{9F2902F8-F03B-98EE-0E63-39A5D1BB8DF8}"/>
                </a:ext>
              </a:extLst>
            </p:cNvPr>
            <p:cNvSpPr/>
            <p:nvPr userDrawn="1"/>
          </p:nvSpPr>
          <p:spPr>
            <a:xfrm>
              <a:off x="1103970" y="2018371"/>
              <a:ext cx="7176430" cy="270974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kumimoji="1" lang="en-US" altLang="ja-JP" sz="2400" dirty="0">
                <a:solidFill>
                  <a:schemeClr val="tx1">
                    <a:lumMod val="75000"/>
                  </a:schemeClr>
                </a:solidFill>
              </a:endParaRPr>
            </a:p>
            <a:p>
              <a:pPr algn="l"/>
              <a:r>
                <a:rPr kumimoji="1" lang="ja-JP" altLang="en-US" sz="3600" b="1" dirty="0">
                  <a:solidFill>
                    <a:schemeClr val="tx1">
                      <a:lumMod val="75000"/>
                    </a:schemeClr>
                  </a:solidFill>
                </a:rPr>
                <a:t>ネットワーク基礎の学習</a:t>
              </a:r>
              <a:br>
                <a:rPr kumimoji="1" lang="en-US" altLang="ja-JP" sz="3600" b="1" dirty="0">
                  <a:solidFill>
                    <a:schemeClr val="tx1">
                      <a:lumMod val="75000"/>
                    </a:schemeClr>
                  </a:solidFill>
                </a:rPr>
              </a:br>
              <a:r>
                <a:rPr kumimoji="1" lang="ja-JP" altLang="en-US" sz="3600" b="1" dirty="0">
                  <a:solidFill>
                    <a:schemeClr val="tx1">
                      <a:lumMod val="75000"/>
                    </a:schemeClr>
                  </a:solidFill>
                </a:rPr>
                <a:t>～</a:t>
              </a:r>
              <a:r>
                <a:rPr kumimoji="1" lang="en-US" altLang="ja-JP" sz="3600" b="1" dirty="0">
                  <a:solidFill>
                    <a:schemeClr val="tx1">
                      <a:lumMod val="75000"/>
                    </a:schemeClr>
                  </a:solidFill>
                </a:rPr>
                <a:t>How to connect Internet ?</a:t>
              </a:r>
              <a:r>
                <a:rPr kumimoji="1" lang="ja-JP" altLang="en-US" sz="3600" b="1" dirty="0">
                  <a:solidFill>
                    <a:schemeClr val="tx1">
                      <a:lumMod val="75000"/>
                    </a:schemeClr>
                  </a:solidFill>
                </a:rPr>
                <a:t>～</a:t>
              </a:r>
              <a:endParaRPr kumimoji="1" lang="en-US" altLang="ja-JP" sz="3600" b="1" dirty="0">
                <a:solidFill>
                  <a:schemeClr val="tx1">
                    <a:lumMod val="75000"/>
                  </a:schemeClr>
                </a:solidFill>
              </a:endParaRPr>
            </a:p>
            <a:p>
              <a:pPr algn="l"/>
              <a:r>
                <a:rPr lang="ja-JP" altLang="en-US" sz="2400" dirty="0">
                  <a:solidFill>
                    <a:schemeClr val="tx1">
                      <a:lumMod val="75000"/>
                    </a:schemeClr>
                  </a:solidFill>
                </a:rPr>
                <a:t>中村弘樹</a:t>
              </a:r>
              <a:endParaRPr lang="en-US" altLang="ja-JP" sz="2400" dirty="0">
                <a:solidFill>
                  <a:schemeClr val="tx1">
                    <a:lumMod val="75000"/>
                  </a:schemeClr>
                </a:solidFill>
              </a:endParaRPr>
            </a:p>
            <a:p>
              <a:pPr algn="l"/>
              <a:r>
                <a:rPr kumimoji="1" lang="en-US" altLang="ja-JP" sz="2400" b="0" dirty="0">
                  <a:solidFill>
                    <a:schemeClr val="tx1">
                      <a:lumMod val="75000"/>
                    </a:schemeClr>
                  </a:solidFill>
                </a:rPr>
                <a:t>2025</a:t>
              </a:r>
              <a:r>
                <a:rPr kumimoji="1" lang="ja-JP" altLang="en-US" sz="2400" b="0" dirty="0">
                  <a:solidFill>
                    <a:schemeClr val="tx1">
                      <a:lumMod val="75000"/>
                    </a:schemeClr>
                  </a:solidFill>
                </a:rPr>
                <a:t>年</a:t>
              </a:r>
              <a:r>
                <a:rPr kumimoji="1" lang="en-US" altLang="ja-JP" sz="2400" b="0" dirty="0">
                  <a:solidFill>
                    <a:schemeClr val="tx1">
                      <a:lumMod val="75000"/>
                    </a:schemeClr>
                  </a:solidFill>
                </a:rPr>
                <a:t>12</a:t>
              </a:r>
              <a:r>
                <a:rPr kumimoji="1" lang="ja-JP" altLang="en-US" sz="2400" b="0" dirty="0">
                  <a:solidFill>
                    <a:schemeClr val="tx1">
                      <a:lumMod val="75000"/>
                    </a:schemeClr>
                  </a:solidFill>
                </a:rPr>
                <a:t>月</a:t>
              </a:r>
              <a:r>
                <a:rPr kumimoji="1" lang="en-US" altLang="ja-JP" sz="2400" b="0" dirty="0">
                  <a:solidFill>
                    <a:schemeClr val="tx1">
                      <a:lumMod val="75000"/>
                    </a:schemeClr>
                  </a:solidFill>
                </a:rPr>
                <a:t>13</a:t>
              </a:r>
              <a:r>
                <a:rPr kumimoji="1" lang="ja-JP" altLang="en-US" sz="2400" b="0" dirty="0">
                  <a:solidFill>
                    <a:schemeClr val="tx1">
                      <a:lumMod val="75000"/>
                    </a:schemeClr>
                  </a:solidFill>
                </a:rPr>
                <a:t>日</a:t>
              </a:r>
            </a:p>
          </p:txBody>
        </p:sp>
        <p:sp>
          <p:nvSpPr>
            <p:cNvPr id="6" name="二等辺三角形 5">
              <a:extLst>
                <a:ext uri="{FF2B5EF4-FFF2-40B4-BE49-F238E27FC236}">
                  <a16:creationId xmlns:a16="http://schemas.microsoft.com/office/drawing/2014/main" id="{40983595-4389-6DBC-4C66-952AD4CFA6D5}"/>
                </a:ext>
              </a:extLst>
            </p:cNvPr>
            <p:cNvSpPr/>
            <p:nvPr userDrawn="1"/>
          </p:nvSpPr>
          <p:spPr>
            <a:xfrm>
              <a:off x="1104899" y="596900"/>
              <a:ext cx="7175483" cy="1422400"/>
            </a:xfrm>
            <a:prstGeom prst="triangle">
              <a:avLst>
                <a:gd name="adj" fmla="val 100000"/>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p>
          </p:txBody>
        </p:sp>
      </p:grpSp>
    </p:spTree>
    <p:extLst>
      <p:ext uri="{BB962C8B-B14F-4D97-AF65-F5344CB8AC3E}">
        <p14:creationId xmlns:p14="http://schemas.microsoft.com/office/powerpoint/2010/main" val="1592062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3A6939-426B-4FB5-1811-E120EE5ED799}"/>
              </a:ext>
            </a:extLst>
          </p:cNvPr>
          <p:cNvSpPr>
            <a:spLocks noGrp="1"/>
          </p:cNvSpPr>
          <p:nvPr>
            <p:ph type="title" idx="4294967295"/>
          </p:nvPr>
        </p:nvSpPr>
        <p:spPr>
          <a:xfrm>
            <a:off x="336389" y="522414"/>
            <a:ext cx="11517355" cy="600075"/>
          </a:xfrm>
        </p:spPr>
        <p:txBody>
          <a:bodyPr anchor="t" anchorCtr="0">
            <a:normAutofit/>
          </a:bodyPr>
          <a:lstStyle/>
          <a:p>
            <a:r>
              <a:rPr kumimoji="1" lang="en-US" altLang="ja-JP" sz="3600" dirty="0"/>
              <a:t>Vol1</a:t>
            </a:r>
            <a:r>
              <a:rPr kumimoji="1" lang="ja-JP" altLang="en-US" sz="3600" dirty="0"/>
              <a:t>目次</a:t>
            </a:r>
          </a:p>
        </p:txBody>
      </p:sp>
      <p:graphicFrame>
        <p:nvGraphicFramePr>
          <p:cNvPr id="3" name="表 2">
            <a:extLst>
              <a:ext uri="{FF2B5EF4-FFF2-40B4-BE49-F238E27FC236}">
                <a16:creationId xmlns:a16="http://schemas.microsoft.com/office/drawing/2014/main" id="{AD0D4A61-9C4A-4BF6-85EA-EC962F3F3BFC}"/>
              </a:ext>
            </a:extLst>
          </p:cNvPr>
          <p:cNvGraphicFramePr>
            <a:graphicFrameLocks noGrp="1"/>
          </p:cNvGraphicFramePr>
          <p:nvPr>
            <p:extLst>
              <p:ext uri="{D42A27DB-BD31-4B8C-83A1-F6EECF244321}">
                <p14:modId xmlns:p14="http://schemas.microsoft.com/office/powerpoint/2010/main" val="3441539840"/>
              </p:ext>
            </p:extLst>
          </p:nvPr>
        </p:nvGraphicFramePr>
        <p:xfrm>
          <a:off x="323687" y="1276608"/>
          <a:ext cx="11530057" cy="5037956"/>
        </p:xfrm>
        <a:graphic>
          <a:graphicData uri="http://schemas.openxmlformats.org/drawingml/2006/table">
            <a:tbl>
              <a:tblPr firstRow="1" bandRow="1">
                <a:tableStyleId>{F5AB1C69-6EDB-4FF4-983F-18BD219EF322}</a:tableStyleId>
              </a:tblPr>
              <a:tblGrid>
                <a:gridCol w="743113">
                  <a:extLst>
                    <a:ext uri="{9D8B030D-6E8A-4147-A177-3AD203B41FA5}">
                      <a16:colId xmlns:a16="http://schemas.microsoft.com/office/drawing/2014/main" val="851819213"/>
                    </a:ext>
                  </a:extLst>
                </a:gridCol>
                <a:gridCol w="2726888">
                  <a:extLst>
                    <a:ext uri="{9D8B030D-6E8A-4147-A177-3AD203B41FA5}">
                      <a16:colId xmlns:a16="http://schemas.microsoft.com/office/drawing/2014/main" val="618744104"/>
                    </a:ext>
                  </a:extLst>
                </a:gridCol>
                <a:gridCol w="5177542">
                  <a:extLst>
                    <a:ext uri="{9D8B030D-6E8A-4147-A177-3AD203B41FA5}">
                      <a16:colId xmlns:a16="http://schemas.microsoft.com/office/drawing/2014/main" val="952234859"/>
                    </a:ext>
                  </a:extLst>
                </a:gridCol>
                <a:gridCol w="2882514">
                  <a:extLst>
                    <a:ext uri="{9D8B030D-6E8A-4147-A177-3AD203B41FA5}">
                      <a16:colId xmlns:a16="http://schemas.microsoft.com/office/drawing/2014/main" val="2162630281"/>
                    </a:ext>
                  </a:extLst>
                </a:gridCol>
              </a:tblGrid>
              <a:tr h="507298">
                <a:tc>
                  <a:txBody>
                    <a:bodyPr/>
                    <a:lstStyle/>
                    <a:p>
                      <a:r>
                        <a:rPr kumimoji="1" lang="ja-JP" altLang="en-US" dirty="0"/>
                        <a:t>項番</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タイトル</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概要</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備考</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507298">
                <a:tc>
                  <a:txBody>
                    <a:bodyPr/>
                    <a:lstStyle/>
                    <a:p>
                      <a:r>
                        <a:rPr kumimoji="1" lang="en-US" altLang="ja-JP" dirty="0"/>
                        <a:t>1</a:t>
                      </a:r>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背景・目的</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学習の背景と本スライドの目的</a:t>
                      </a:r>
                      <a:endParaRPr kumimoji="1" lang="en-US" altLang="ja-JP"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507298">
                <a:tc>
                  <a:txBody>
                    <a:bodyPr/>
                    <a:lstStyle/>
                    <a:p>
                      <a:r>
                        <a:rPr kumimoji="1" lang="en-US" altLang="ja-JP" dirty="0"/>
                        <a:t>2</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ネットワークとは？</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「ネットワーク」という言葉が示す概念についての説明</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507298">
                <a:tc>
                  <a:txBody>
                    <a:bodyPr/>
                    <a:lstStyle/>
                    <a:p>
                      <a:r>
                        <a:rPr kumimoji="1" lang="en-US" altLang="ja-JP" dirty="0"/>
                        <a:t>3</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ネットワークの大きな分類について</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ネットワークの大きな</a:t>
                      </a:r>
                      <a:r>
                        <a:rPr kumimoji="1" lang="en-US" altLang="ja-JP" dirty="0"/>
                        <a:t>2</a:t>
                      </a:r>
                      <a:r>
                        <a:rPr kumimoji="1" lang="ja-JP" altLang="en-US" dirty="0"/>
                        <a:t>分類である「</a:t>
                      </a:r>
                      <a:r>
                        <a:rPr kumimoji="1" lang="en-US" altLang="ja-JP" dirty="0"/>
                        <a:t>LAN</a:t>
                      </a:r>
                      <a:r>
                        <a:rPr kumimoji="1" lang="ja-JP" altLang="en-US" dirty="0"/>
                        <a:t>」と「</a:t>
                      </a:r>
                      <a:r>
                        <a:rPr kumimoji="1" lang="en-US" altLang="ja-JP" dirty="0"/>
                        <a:t>WAN</a:t>
                      </a:r>
                      <a:r>
                        <a:rPr kumimoji="1" lang="ja-JP" altLang="en-US" dirty="0"/>
                        <a:t>」についての説明</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507298">
                <a:tc>
                  <a:txBody>
                    <a:bodyPr/>
                    <a:lstStyle/>
                    <a:p>
                      <a:r>
                        <a:rPr kumimoji="1" lang="en-US" altLang="ja-JP" dirty="0"/>
                        <a:t>4</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インターネットワーキングの</a:t>
                      </a:r>
                      <a:endParaRPr kumimoji="1" lang="en-US" altLang="ja-JP" dirty="0"/>
                    </a:p>
                    <a:p>
                      <a:r>
                        <a:rPr kumimoji="1" lang="ja-JP" altLang="en-US" dirty="0"/>
                        <a:t>概念</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「インターネット、インターネットワーキング」という言葉が示す概念についての説明</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r h="507298">
                <a:tc>
                  <a:txBody>
                    <a:bodyPr/>
                    <a:lstStyle/>
                    <a:p>
                      <a:r>
                        <a:rPr kumimoji="1" lang="en-US" altLang="ja-JP" dirty="0"/>
                        <a:t>5</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インターネット接続を構成</a:t>
                      </a:r>
                      <a:endParaRPr kumimoji="1" lang="en-US" altLang="ja-JP" dirty="0"/>
                    </a:p>
                    <a:p>
                      <a:r>
                        <a:rPr kumimoji="1" lang="ja-JP" altLang="en-US" dirty="0"/>
                        <a:t>する要素</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l"/>
                      <a:r>
                        <a:rPr kumimoji="1" lang="ja-JP" altLang="en-US" dirty="0"/>
                        <a:t>インターネット接続を可能にするための要素の概要についての説明</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2554559"/>
                  </a:ext>
                </a:extLst>
              </a:tr>
              <a:tr h="507298">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参考文献</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dirty="0"/>
                        <a:t>-</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dirty="0"/>
                        <a:t>-</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26560638"/>
                  </a:ext>
                </a:extLst>
              </a:tr>
            </a:tbl>
          </a:graphicData>
        </a:graphic>
      </p:graphicFrame>
    </p:spTree>
    <p:extLst>
      <p:ext uri="{BB962C8B-B14F-4D97-AF65-F5344CB8AC3E}">
        <p14:creationId xmlns:p14="http://schemas.microsoft.com/office/powerpoint/2010/main" val="2332080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93988-87D5-CEFB-9239-246A231BFE1E}"/>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3CB4A2F3-7D92-4623-36CE-EFF6F1B23C54}"/>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B76A2FE2-6E7C-D1BC-C133-55B1EC664C54}"/>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本スライドは、普段あまり意識することなく当たり前に使えているインターネット接続がどのように実現している</a:t>
            </a:r>
            <a:r>
              <a:rPr lang="ja-JP" altLang="en-US" sz="2800"/>
              <a:t>かを概要レベル</a:t>
            </a:r>
            <a:r>
              <a:rPr lang="ja-JP" altLang="en-US" sz="2800" dirty="0"/>
              <a:t>で理解することを目的とする</a:t>
            </a:r>
            <a:endParaRPr lang="en-US" altLang="ja-JP" sz="2800" dirty="0"/>
          </a:p>
        </p:txBody>
      </p:sp>
      <p:sp>
        <p:nvSpPr>
          <p:cNvPr id="4" name="タイトル プレースホルダー 1">
            <a:extLst>
              <a:ext uri="{FF2B5EF4-FFF2-40B4-BE49-F238E27FC236}">
                <a16:creationId xmlns:a16="http://schemas.microsoft.com/office/drawing/2014/main" id="{728186FC-E2B5-2EC0-4069-82182A42AF02}"/>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背景・目的</a:t>
            </a:r>
            <a:endParaRPr lang="en-US" altLang="ja-JP" dirty="0"/>
          </a:p>
        </p:txBody>
      </p:sp>
      <p:sp>
        <p:nvSpPr>
          <p:cNvPr id="8" name="二等辺三角形 7">
            <a:extLst>
              <a:ext uri="{FF2B5EF4-FFF2-40B4-BE49-F238E27FC236}">
                <a16:creationId xmlns:a16="http://schemas.microsoft.com/office/drawing/2014/main" id="{05D5C248-0025-2DE6-7628-5D1353E740E2}"/>
              </a:ext>
            </a:extLst>
          </p:cNvPr>
          <p:cNvSpPr/>
          <p:nvPr/>
        </p:nvSpPr>
        <p:spPr>
          <a:xfrm rot="5400000">
            <a:off x="4329359" y="4369736"/>
            <a:ext cx="3601016" cy="585679"/>
          </a:xfrm>
          <a:prstGeom prst="triangle">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63DF742B-65D1-E084-92DE-E2F69F395891}"/>
              </a:ext>
            </a:extLst>
          </p:cNvPr>
          <p:cNvSpPr/>
          <p:nvPr/>
        </p:nvSpPr>
        <p:spPr>
          <a:xfrm>
            <a:off x="336024" y="2876616"/>
            <a:ext cx="5015186" cy="3586466"/>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kumimoji="1" lang="ja-JP" altLang="en-US" dirty="0">
                <a:solidFill>
                  <a:schemeClr val="tx1">
                    <a:lumMod val="75000"/>
                  </a:schemeClr>
                </a:solidFill>
              </a:rPr>
              <a:t>日常生活ではあまり意識することはないが、情報通信を扱う企業で働くうえで知っておきたいネットワークの基礎を学習したい</a:t>
            </a:r>
            <a:endParaRPr kumimoji="1" lang="en-US" altLang="ja-JP" dirty="0">
              <a:solidFill>
                <a:schemeClr val="tx1">
                  <a:lumMod val="75000"/>
                </a:schemeClr>
              </a:solidFill>
            </a:endParaRPr>
          </a:p>
          <a:p>
            <a:pPr marL="285750" indent="-285750">
              <a:buFont typeface="Wingdings" panose="05000000000000000000" pitchFamily="2" charset="2"/>
              <a:buChar char="l"/>
            </a:pPr>
            <a:r>
              <a:rPr lang="ja-JP" altLang="en-US" dirty="0">
                <a:solidFill>
                  <a:schemeClr val="tx1">
                    <a:lumMod val="75000"/>
                  </a:schemeClr>
                </a:solidFill>
              </a:rPr>
              <a:t>しかし、目に見えないことについての学習で自分にとっては理解し辛い内容も多くあったので、アウトプットを通してよりかみ砕いて理解を深めたい</a:t>
            </a:r>
            <a:endParaRPr lang="en-US" altLang="ja-JP" dirty="0">
              <a:solidFill>
                <a:schemeClr val="tx1">
                  <a:lumMod val="75000"/>
                </a:schemeClr>
              </a:solidFill>
            </a:endParaRPr>
          </a:p>
          <a:p>
            <a:pPr marL="285750" indent="-285750">
              <a:buFont typeface="Wingdings" panose="05000000000000000000" pitchFamily="2" charset="2"/>
              <a:buChar char="l"/>
            </a:pPr>
            <a:r>
              <a:rPr kumimoji="1" lang="ja-JP" altLang="en-US" dirty="0">
                <a:solidFill>
                  <a:schemeClr val="tx1">
                    <a:lumMod val="75000"/>
                  </a:schemeClr>
                </a:solidFill>
              </a:rPr>
              <a:t>お客様の事業内容そのものでもあるため、自分の業務が結局どのように事業に貢献するのかを知りたい</a:t>
            </a:r>
          </a:p>
        </p:txBody>
      </p:sp>
      <p:sp>
        <p:nvSpPr>
          <p:cNvPr id="10" name="正方形/長方形 9">
            <a:extLst>
              <a:ext uri="{FF2B5EF4-FFF2-40B4-BE49-F238E27FC236}">
                <a16:creationId xmlns:a16="http://schemas.microsoft.com/office/drawing/2014/main" id="{6BFED2E7-7A84-EDFA-A70C-D79DABEB3EF4}"/>
              </a:ext>
            </a:extLst>
          </p:cNvPr>
          <p:cNvSpPr/>
          <p:nvPr/>
        </p:nvSpPr>
        <p:spPr>
          <a:xfrm>
            <a:off x="6821214" y="2876616"/>
            <a:ext cx="5015186" cy="3586466"/>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lang="ja-JP" altLang="en-US" dirty="0">
                <a:solidFill>
                  <a:schemeClr val="tx1">
                    <a:lumMod val="75000"/>
                  </a:schemeClr>
                </a:solidFill>
              </a:rPr>
              <a:t>ネットワーク基礎を学習する際のとっかかりとして、概要レベルの理解を身に着けることができている状態になる</a:t>
            </a:r>
            <a:endParaRPr lang="en-US" altLang="ja-JP" dirty="0">
              <a:solidFill>
                <a:schemeClr val="tx1">
                  <a:lumMod val="75000"/>
                </a:schemeClr>
              </a:solidFill>
            </a:endParaRPr>
          </a:p>
          <a:p>
            <a:pPr marL="285750" indent="-285750">
              <a:buFont typeface="Wingdings" panose="05000000000000000000" pitchFamily="2" charset="2"/>
              <a:buChar char="l"/>
            </a:pPr>
            <a:r>
              <a:rPr lang="ja-JP" altLang="en-US" dirty="0">
                <a:solidFill>
                  <a:schemeClr val="tx1">
                    <a:lumMod val="75000"/>
                  </a:schemeClr>
                </a:solidFill>
              </a:rPr>
              <a:t>目に見えないネットワークの世界をビジュアル化を通して理解する</a:t>
            </a:r>
            <a:endParaRPr lang="en-US" altLang="ja-JP" dirty="0">
              <a:solidFill>
                <a:schemeClr val="tx1">
                  <a:lumMod val="75000"/>
                </a:schemeClr>
              </a:solidFill>
            </a:endParaRPr>
          </a:p>
          <a:p>
            <a:pPr marL="285750" indent="-285750">
              <a:buFont typeface="Wingdings" panose="05000000000000000000" pitchFamily="2" charset="2"/>
              <a:buChar char="l"/>
            </a:pPr>
            <a:r>
              <a:rPr lang="ja-JP" altLang="en-US" dirty="0">
                <a:solidFill>
                  <a:schemeClr val="tx1">
                    <a:lumMod val="75000"/>
                  </a:schemeClr>
                </a:solidFill>
              </a:rPr>
              <a:t>お客様の事業を理解して、自分の貢献範囲をざっくりと知る</a:t>
            </a:r>
            <a:endParaRPr lang="en-US" altLang="ja-JP" dirty="0">
              <a:solidFill>
                <a:schemeClr val="tx1">
                  <a:lumMod val="75000"/>
                </a:schemeClr>
              </a:solidFill>
            </a:endParaRPr>
          </a:p>
          <a:p>
            <a:endParaRPr lang="en-US" altLang="ja-JP" dirty="0">
              <a:solidFill>
                <a:schemeClr val="tx1">
                  <a:lumMod val="75000"/>
                </a:schemeClr>
              </a:solidFill>
            </a:endParaRPr>
          </a:p>
        </p:txBody>
      </p:sp>
      <p:sp>
        <p:nvSpPr>
          <p:cNvPr id="6" name="正方形/長方形 5">
            <a:extLst>
              <a:ext uri="{FF2B5EF4-FFF2-40B4-BE49-F238E27FC236}">
                <a16:creationId xmlns:a16="http://schemas.microsoft.com/office/drawing/2014/main" id="{1994B34D-A386-584B-6DC4-86CD35595704}"/>
              </a:ext>
            </a:extLst>
          </p:cNvPr>
          <p:cNvSpPr/>
          <p:nvPr/>
        </p:nvSpPr>
        <p:spPr>
          <a:xfrm>
            <a:off x="355600" y="2322788"/>
            <a:ext cx="5015186" cy="53927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本スライドの背景</a:t>
            </a:r>
            <a:endParaRPr lang="ja-JP" altLang="en-US" dirty="0">
              <a:solidFill>
                <a:schemeClr val="tx1">
                  <a:lumMod val="75000"/>
                </a:schemeClr>
              </a:solidFill>
            </a:endParaRPr>
          </a:p>
        </p:txBody>
      </p:sp>
      <p:sp>
        <p:nvSpPr>
          <p:cNvPr id="7" name="正方形/長方形 6">
            <a:extLst>
              <a:ext uri="{FF2B5EF4-FFF2-40B4-BE49-F238E27FC236}">
                <a16:creationId xmlns:a16="http://schemas.microsoft.com/office/drawing/2014/main" id="{278901F3-AC3C-3F8A-25BD-A9A34032B2EB}"/>
              </a:ext>
            </a:extLst>
          </p:cNvPr>
          <p:cNvSpPr/>
          <p:nvPr/>
        </p:nvSpPr>
        <p:spPr>
          <a:xfrm>
            <a:off x="6821214" y="2322788"/>
            <a:ext cx="5015186" cy="53927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本スライドの目的</a:t>
            </a:r>
            <a:endParaRPr kumimoji="1" lang="ja-JP" altLang="en-US" dirty="0"/>
          </a:p>
        </p:txBody>
      </p:sp>
    </p:spTree>
    <p:extLst>
      <p:ext uri="{BB962C8B-B14F-4D97-AF65-F5344CB8AC3E}">
        <p14:creationId xmlns:p14="http://schemas.microsoft.com/office/powerpoint/2010/main" val="556606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BDE4E-7C43-017C-278E-74E4E21B623B}"/>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94A7D6E-F39D-7DDB-976D-79DDB6D214CA}"/>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5C0DFD9F-22F0-2AEF-778E-199C411EC607}"/>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コンピュータ（計算機）同士の「通信機能」を作り出しているのがネットワーク</a:t>
            </a:r>
            <a:endParaRPr lang="en-US" altLang="ja-JP" sz="2800" dirty="0"/>
          </a:p>
        </p:txBody>
      </p:sp>
      <p:sp>
        <p:nvSpPr>
          <p:cNvPr id="4" name="タイトル プレースホルダー 1">
            <a:extLst>
              <a:ext uri="{FF2B5EF4-FFF2-40B4-BE49-F238E27FC236}">
                <a16:creationId xmlns:a16="http://schemas.microsoft.com/office/drawing/2014/main" id="{8BA5FB51-60A0-27C7-8090-2FE04D18CCDD}"/>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ネットワークとは？</a:t>
            </a:r>
            <a:endParaRPr lang="en-US" altLang="ja-JP" dirty="0"/>
          </a:p>
        </p:txBody>
      </p:sp>
      <p:sp>
        <p:nvSpPr>
          <p:cNvPr id="5" name="タイトル プレースホルダー 1">
            <a:extLst>
              <a:ext uri="{FF2B5EF4-FFF2-40B4-BE49-F238E27FC236}">
                <a16:creationId xmlns:a16="http://schemas.microsoft.com/office/drawing/2014/main" id="{1ACE2DEA-9B49-FF0A-9A5B-3FCBB4DF5908}"/>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もともとコンピュータは「計算をするための機械」だった</a:t>
            </a:r>
            <a:endParaRPr lang="en-US" altLang="ja-JP" sz="1800" dirty="0"/>
          </a:p>
          <a:p>
            <a:pPr marL="285750" indent="-285750">
              <a:buFont typeface="Arial" panose="020B0604020202020204" pitchFamily="34" charset="0"/>
              <a:buChar char="•"/>
            </a:pPr>
            <a:r>
              <a:rPr lang="ja-JP" altLang="en-US" sz="1800" dirty="0"/>
              <a:t>今日、我々が接しているコンピューター機器であるパソコン、スマートフォンなどを見てみるとどうか</a:t>
            </a:r>
            <a:endParaRPr lang="en-US" altLang="ja-JP" sz="1800" dirty="0"/>
          </a:p>
          <a:p>
            <a:pPr marL="285750" indent="-285750">
              <a:buFont typeface="Arial" panose="020B0604020202020204" pitchFamily="34" charset="0"/>
              <a:buChar char="•"/>
            </a:pPr>
            <a:r>
              <a:rPr lang="ja-JP" altLang="en-US" sz="1800" dirty="0"/>
              <a:t>メールを送ったり読んだり、情報を検索したり、ゲームをしたり・・・</a:t>
            </a:r>
            <a:br>
              <a:rPr lang="en-US" altLang="ja-JP" sz="1800" dirty="0"/>
            </a:br>
            <a:r>
              <a:rPr lang="ja-JP" altLang="en-US" sz="1800" dirty="0"/>
              <a:t>もはや単なる計算とは言えない様々な用途に使用されていることがわかる</a:t>
            </a:r>
            <a:endParaRPr lang="en-US" altLang="ja-JP" sz="1800" dirty="0"/>
          </a:p>
          <a:p>
            <a:pPr marL="285750" indent="-285750">
              <a:buFont typeface="Arial" panose="020B0604020202020204" pitchFamily="34" charset="0"/>
              <a:buChar char="•"/>
            </a:pPr>
            <a:r>
              <a:rPr lang="ja-JP" altLang="en-US" sz="1800" dirty="0"/>
              <a:t>上記の体験の中で共通しているのは、コンピュータ機器がそれ単独で動作しているのではなく、その作業の多くで</a:t>
            </a:r>
            <a:br>
              <a:rPr lang="en-US" altLang="ja-JP" sz="1800" dirty="0"/>
            </a:br>
            <a:r>
              <a:rPr lang="ja-JP" altLang="en-US" sz="1800" dirty="0"/>
              <a:t>「通信機能が欠かせない」ようになっていること</a:t>
            </a:r>
            <a:endParaRPr lang="en-US" altLang="ja-JP" sz="1800" dirty="0"/>
          </a:p>
          <a:p>
            <a:pPr marL="285750" indent="-285750">
              <a:buFont typeface="Arial" panose="020B0604020202020204" pitchFamily="34" charset="0"/>
              <a:buChar char="•"/>
            </a:pPr>
            <a:r>
              <a:rPr lang="ja-JP" altLang="en-US" sz="1800" b="1" dirty="0"/>
              <a:t>この「通信機能」を作り出しているのが、本稿で扱う「ネットワーク」</a:t>
            </a:r>
            <a:endParaRPr lang="en-US" altLang="ja-JP" sz="1800" b="1"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pic>
        <p:nvPicPr>
          <p:cNvPr id="1026" name="Picture 2" descr="サーバのイラスト（1台）">
            <a:extLst>
              <a:ext uri="{FF2B5EF4-FFF2-40B4-BE49-F238E27FC236}">
                <a16:creationId xmlns:a16="http://schemas.microsoft.com/office/drawing/2014/main" id="{5BADB573-F46A-1F17-75A4-194F1D4C60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895" y="4146271"/>
            <a:ext cx="1714500" cy="1714500"/>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2983B52E-606B-A33F-A768-AFCD92E301DB}"/>
              </a:ext>
            </a:extLst>
          </p:cNvPr>
          <p:cNvSpPr txBox="1"/>
          <p:nvPr/>
        </p:nvSpPr>
        <p:spPr>
          <a:xfrm>
            <a:off x="1447553" y="6029286"/>
            <a:ext cx="3107184" cy="646331"/>
          </a:xfrm>
          <a:prstGeom prst="rect">
            <a:avLst/>
          </a:prstGeom>
          <a:noFill/>
        </p:spPr>
        <p:txBody>
          <a:bodyPr wrap="square" rtlCol="0">
            <a:spAutoFit/>
          </a:bodyPr>
          <a:lstStyle/>
          <a:p>
            <a:pPr algn="ctr"/>
            <a:r>
              <a:rPr kumimoji="1" lang="ja-JP" altLang="en-US" dirty="0"/>
              <a:t>コンピュータに関する技術</a:t>
            </a:r>
            <a:endParaRPr kumimoji="1" lang="en-US" altLang="ja-JP" dirty="0"/>
          </a:p>
          <a:p>
            <a:pPr algn="ctr"/>
            <a:r>
              <a:rPr kumimoji="1" lang="ja-JP" altLang="en-US" dirty="0"/>
              <a:t>＝</a:t>
            </a:r>
            <a:r>
              <a:rPr kumimoji="1" lang="en-US" altLang="ja-JP" dirty="0"/>
              <a:t>IT</a:t>
            </a:r>
            <a:endParaRPr kumimoji="1" lang="ja-JP" altLang="en-US" dirty="0"/>
          </a:p>
        </p:txBody>
      </p:sp>
      <p:pic>
        <p:nvPicPr>
          <p:cNvPr id="1028" name="Picture 4" descr="P2Pネットワークのイラスト">
            <a:extLst>
              <a:ext uri="{FF2B5EF4-FFF2-40B4-BE49-F238E27FC236}">
                <a16:creationId xmlns:a16="http://schemas.microsoft.com/office/drawing/2014/main" id="{40A73146-30A7-89AA-577C-0476B0C8AC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3607" y="4146271"/>
            <a:ext cx="1714500" cy="1714500"/>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959F90D3-4C1A-4C80-B621-0460FCBDCA33}"/>
              </a:ext>
            </a:extLst>
          </p:cNvPr>
          <p:cNvSpPr txBox="1"/>
          <p:nvPr/>
        </p:nvSpPr>
        <p:spPr>
          <a:xfrm>
            <a:off x="7306322" y="6029286"/>
            <a:ext cx="3438125" cy="646331"/>
          </a:xfrm>
          <a:prstGeom prst="rect">
            <a:avLst/>
          </a:prstGeom>
          <a:noFill/>
        </p:spPr>
        <p:txBody>
          <a:bodyPr wrap="square" rtlCol="0">
            <a:spAutoFit/>
          </a:bodyPr>
          <a:lstStyle/>
          <a:p>
            <a:pPr algn="ctr"/>
            <a:r>
              <a:rPr kumimoji="1" lang="ja-JP" altLang="en-US" dirty="0"/>
              <a:t>コンピュータと通信がコラボした技術＝</a:t>
            </a:r>
            <a:r>
              <a:rPr kumimoji="1" lang="en-US" altLang="ja-JP" dirty="0"/>
              <a:t>ICT</a:t>
            </a:r>
            <a:endParaRPr kumimoji="1" lang="ja-JP" altLang="en-US" dirty="0"/>
          </a:p>
        </p:txBody>
      </p:sp>
    </p:spTree>
    <p:extLst>
      <p:ext uri="{BB962C8B-B14F-4D97-AF65-F5344CB8AC3E}">
        <p14:creationId xmlns:p14="http://schemas.microsoft.com/office/powerpoint/2010/main" val="1290909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20DD3-548D-84AB-943D-9BAEDB08C1D5}"/>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4C5A022-B1E3-F7C2-60AF-FE21A3E96255}"/>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D1B1227C-68C3-963A-956D-C7800D5B6364}"/>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2800" dirty="0"/>
              <a:t>NW</a:t>
            </a:r>
            <a:r>
              <a:rPr lang="ja-JP" altLang="en-US" sz="2800" dirty="0"/>
              <a:t>の大きな分類を表す言葉に拠点内の</a:t>
            </a:r>
            <a:r>
              <a:rPr lang="en-US" altLang="ja-JP" sz="2800" dirty="0"/>
              <a:t>NW</a:t>
            </a:r>
            <a:r>
              <a:rPr lang="ja-JP" altLang="en-US" sz="2800" dirty="0"/>
              <a:t>を指す</a:t>
            </a:r>
            <a:r>
              <a:rPr lang="en-US" altLang="ja-JP" sz="2800" dirty="0"/>
              <a:t>LAN</a:t>
            </a:r>
            <a:r>
              <a:rPr lang="ja-JP" altLang="en-US" sz="2800" dirty="0"/>
              <a:t>と</a:t>
            </a:r>
            <a:endParaRPr lang="en-US" altLang="ja-JP" sz="2800" dirty="0"/>
          </a:p>
          <a:p>
            <a:r>
              <a:rPr lang="ja-JP" altLang="en-US" sz="2800" dirty="0"/>
              <a:t>拠点と拠点を結ぶ</a:t>
            </a:r>
            <a:r>
              <a:rPr lang="en-US" altLang="ja-JP" sz="2800" dirty="0"/>
              <a:t>NW</a:t>
            </a:r>
            <a:r>
              <a:rPr lang="ja-JP" altLang="en-US" sz="2800" dirty="0"/>
              <a:t>を指す</a:t>
            </a:r>
            <a:r>
              <a:rPr lang="en-US" altLang="ja-JP" sz="2800" dirty="0"/>
              <a:t>WAN</a:t>
            </a:r>
            <a:r>
              <a:rPr lang="ja-JP" altLang="en-US" sz="2800" dirty="0"/>
              <a:t>がある</a:t>
            </a:r>
            <a:endParaRPr lang="en-US" altLang="ja-JP" sz="2800" dirty="0"/>
          </a:p>
        </p:txBody>
      </p:sp>
      <p:sp>
        <p:nvSpPr>
          <p:cNvPr id="4" name="タイトル プレースホルダー 1">
            <a:extLst>
              <a:ext uri="{FF2B5EF4-FFF2-40B4-BE49-F238E27FC236}">
                <a16:creationId xmlns:a16="http://schemas.microsoft.com/office/drawing/2014/main" id="{A88F0EAC-E16B-63CF-5375-B36249C88A0A}"/>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ネットワークの大きな分類について</a:t>
            </a:r>
            <a:endParaRPr lang="en-US" altLang="ja-JP" dirty="0"/>
          </a:p>
        </p:txBody>
      </p:sp>
      <p:sp>
        <p:nvSpPr>
          <p:cNvPr id="6" name="タイトル プレースホルダー 1">
            <a:extLst>
              <a:ext uri="{FF2B5EF4-FFF2-40B4-BE49-F238E27FC236}">
                <a16:creationId xmlns:a16="http://schemas.microsoft.com/office/drawing/2014/main" id="{C5EB3854-A1A5-8F4D-F0E5-09C478761D02}"/>
              </a:ext>
            </a:extLst>
          </p:cNvPr>
          <p:cNvSpPr txBox="1">
            <a:spLocks/>
          </p:cNvSpPr>
          <p:nvPr/>
        </p:nvSpPr>
        <p:spPr>
          <a:xfrm>
            <a:off x="355600" y="2730500"/>
            <a:ext cx="5448300" cy="358138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オフィスや家庭といった</a:t>
            </a:r>
            <a:r>
              <a:rPr lang="en-US" altLang="ja-JP" sz="1800" dirty="0"/>
              <a:t>1</a:t>
            </a:r>
            <a:r>
              <a:rPr lang="ja-JP" altLang="en-US" sz="1800" dirty="0"/>
              <a:t>つの拠点内のネットワークを</a:t>
            </a:r>
            <a:r>
              <a:rPr lang="en-US" altLang="ja-JP" sz="1800" dirty="0"/>
              <a:t>LAN</a:t>
            </a:r>
            <a:r>
              <a:rPr lang="ja-JP" altLang="en-US" sz="1800" dirty="0"/>
              <a:t>という</a:t>
            </a:r>
            <a:endParaRPr lang="en-US" altLang="ja-JP" sz="1800" dirty="0"/>
          </a:p>
          <a:p>
            <a:pPr marL="285750" indent="-285750">
              <a:buFont typeface="Arial" panose="020B0604020202020204" pitchFamily="34" charset="0"/>
              <a:buChar char="•"/>
            </a:pPr>
            <a:r>
              <a:rPr lang="en-US" altLang="ja-JP" sz="1800" dirty="0"/>
              <a:t>LAN</a:t>
            </a:r>
            <a:r>
              <a:rPr lang="ja-JP" altLang="en-US" sz="1800" dirty="0"/>
              <a:t>は自前で敷設することが多い</a:t>
            </a:r>
            <a:endParaRPr lang="en-US" altLang="ja-JP" sz="1800" dirty="0"/>
          </a:p>
        </p:txBody>
      </p:sp>
      <p:sp>
        <p:nvSpPr>
          <p:cNvPr id="7" name="タイトル プレースホルダー 1">
            <a:extLst>
              <a:ext uri="{FF2B5EF4-FFF2-40B4-BE49-F238E27FC236}">
                <a16:creationId xmlns:a16="http://schemas.microsoft.com/office/drawing/2014/main" id="{3B8FDD4C-2B14-C783-7FFB-7CAA0C987051}"/>
              </a:ext>
            </a:extLst>
          </p:cNvPr>
          <p:cNvSpPr txBox="1">
            <a:spLocks/>
          </p:cNvSpPr>
          <p:nvPr/>
        </p:nvSpPr>
        <p:spPr>
          <a:xfrm>
            <a:off x="6413500" y="2730500"/>
            <a:ext cx="5448300" cy="358138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拠点と拠点を結ぶためのネットワークを</a:t>
            </a:r>
            <a:r>
              <a:rPr lang="en-US" altLang="ja-JP" sz="1800" dirty="0"/>
              <a:t>WAN</a:t>
            </a:r>
            <a:r>
              <a:rPr lang="ja-JP" altLang="en-US" sz="1800" dirty="0"/>
              <a:t>という</a:t>
            </a:r>
            <a:endParaRPr lang="en-US" altLang="ja-JP" sz="1800" dirty="0"/>
          </a:p>
          <a:p>
            <a:pPr marL="285750" indent="-285750">
              <a:buFont typeface="Arial" panose="020B0604020202020204" pitchFamily="34" charset="0"/>
              <a:buChar char="•"/>
            </a:pPr>
            <a:r>
              <a:rPr lang="ja-JP" altLang="en-US" sz="1800" dirty="0"/>
              <a:t>この回線は通信事業者が所有しているため、通信事業者から回線を借りて使うことが多い。</a:t>
            </a:r>
            <a:endParaRPr lang="en-US" altLang="ja-JP" sz="1800" dirty="0"/>
          </a:p>
          <a:p>
            <a:pPr marL="285750" indent="-285750">
              <a:buFont typeface="Arial" panose="020B0604020202020204" pitchFamily="34" charset="0"/>
              <a:buChar char="•"/>
            </a:pPr>
            <a:r>
              <a:rPr lang="ja-JP" altLang="en-US" sz="1800" dirty="0"/>
              <a:t>インターネットは拠点同士を繋ぐ</a:t>
            </a:r>
            <a:r>
              <a:rPr lang="en-US" altLang="ja-JP" sz="1800" dirty="0"/>
              <a:t>WAN</a:t>
            </a:r>
            <a:r>
              <a:rPr lang="ja-JP" altLang="en-US" sz="1800" dirty="0"/>
              <a:t>によって実現している</a:t>
            </a:r>
            <a:endParaRPr lang="en-US" altLang="ja-JP" sz="1800" dirty="0"/>
          </a:p>
        </p:txBody>
      </p:sp>
      <p:sp>
        <p:nvSpPr>
          <p:cNvPr id="8" name="正方形/長方形 7">
            <a:extLst>
              <a:ext uri="{FF2B5EF4-FFF2-40B4-BE49-F238E27FC236}">
                <a16:creationId xmlns:a16="http://schemas.microsoft.com/office/drawing/2014/main" id="{CCD2A304-45B5-B3C9-1A27-1FC0B3781F3D}"/>
              </a:ext>
            </a:extLst>
          </p:cNvPr>
          <p:cNvSpPr/>
          <p:nvPr/>
        </p:nvSpPr>
        <p:spPr>
          <a:xfrm>
            <a:off x="3429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bg1"/>
                </a:solidFill>
              </a:rPr>
              <a:t>LAN</a:t>
            </a:r>
            <a:endParaRPr kumimoji="1" lang="ja-JP" altLang="en-US" sz="2400" b="1" dirty="0">
              <a:solidFill>
                <a:schemeClr val="bg1"/>
              </a:solidFill>
            </a:endParaRPr>
          </a:p>
        </p:txBody>
      </p:sp>
      <p:sp>
        <p:nvSpPr>
          <p:cNvPr id="9" name="正方形/長方形 8">
            <a:extLst>
              <a:ext uri="{FF2B5EF4-FFF2-40B4-BE49-F238E27FC236}">
                <a16:creationId xmlns:a16="http://schemas.microsoft.com/office/drawing/2014/main" id="{EB5BBC63-644F-6931-39A0-73358A416187}"/>
              </a:ext>
            </a:extLst>
          </p:cNvPr>
          <p:cNvSpPr/>
          <p:nvPr/>
        </p:nvSpPr>
        <p:spPr>
          <a:xfrm>
            <a:off x="64135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bg1"/>
                </a:solidFill>
              </a:rPr>
              <a:t>WAN</a:t>
            </a:r>
            <a:endParaRPr kumimoji="1" lang="ja-JP" altLang="en-US" sz="2400" b="1" dirty="0">
              <a:solidFill>
                <a:schemeClr val="bg1"/>
              </a:solidFill>
            </a:endParaRPr>
          </a:p>
        </p:txBody>
      </p:sp>
      <p:pic>
        <p:nvPicPr>
          <p:cNvPr id="11" name="Picture 4" descr="P2Pネットワークのイラスト">
            <a:extLst>
              <a:ext uri="{FF2B5EF4-FFF2-40B4-BE49-F238E27FC236}">
                <a16:creationId xmlns:a16="http://schemas.microsoft.com/office/drawing/2014/main" id="{6F61733C-D2CE-5AB2-0B20-985AFFC1E0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4147700"/>
            <a:ext cx="1714500" cy="1714500"/>
          </a:xfrm>
          <a:prstGeom prst="rect">
            <a:avLst/>
          </a:prstGeom>
          <a:noFill/>
          <a:extLst>
            <a:ext uri="{909E8E84-426E-40DD-AFC4-6F175D3DCCD1}">
              <a14:hiddenFill xmlns:a14="http://schemas.microsoft.com/office/drawing/2010/main">
                <a:solidFill>
                  <a:srgbClr val="FFFFFF"/>
                </a:solidFill>
              </a14:hiddenFill>
            </a:ext>
          </a:extLst>
        </p:spPr>
      </p:pic>
      <p:sp>
        <p:nvSpPr>
          <p:cNvPr id="13" name="吹き出し: 折線 12">
            <a:extLst>
              <a:ext uri="{FF2B5EF4-FFF2-40B4-BE49-F238E27FC236}">
                <a16:creationId xmlns:a16="http://schemas.microsoft.com/office/drawing/2014/main" id="{2C873311-3A67-9D2A-96DC-E67194603D8B}"/>
              </a:ext>
            </a:extLst>
          </p:cNvPr>
          <p:cNvSpPr/>
          <p:nvPr/>
        </p:nvSpPr>
        <p:spPr>
          <a:xfrm>
            <a:off x="3060700" y="3974655"/>
            <a:ext cx="2659117" cy="1093076"/>
          </a:xfrm>
          <a:prstGeom prst="borderCallout2">
            <a:avLst>
              <a:gd name="adj1" fmla="val 18750"/>
              <a:gd name="adj2" fmla="val -8333"/>
              <a:gd name="adj3" fmla="val 19605"/>
              <a:gd name="adj4" fmla="val -31594"/>
              <a:gd name="adj5" fmla="val 68334"/>
              <a:gd name="adj6" fmla="val -51713"/>
            </a:avLst>
          </a:prstGeom>
          <a:solidFill>
            <a:schemeClr val="accent1">
              <a:lumMod val="20000"/>
              <a:lumOff val="80000"/>
            </a:schemeClr>
          </a:soli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tx1">
                    <a:lumMod val="75000"/>
                  </a:schemeClr>
                </a:solidFill>
              </a:rPr>
              <a:t>1</a:t>
            </a:r>
            <a:r>
              <a:rPr kumimoji="1" lang="ja-JP" altLang="en-US" dirty="0">
                <a:solidFill>
                  <a:schemeClr val="tx1">
                    <a:lumMod val="75000"/>
                  </a:schemeClr>
                </a:solidFill>
              </a:rPr>
              <a:t>つの拠点内を</a:t>
            </a:r>
            <a:r>
              <a:rPr kumimoji="1" lang="en-US" altLang="ja-JP" dirty="0">
                <a:solidFill>
                  <a:schemeClr val="tx1">
                    <a:lumMod val="75000"/>
                  </a:schemeClr>
                </a:solidFill>
              </a:rPr>
              <a:t>LAN</a:t>
            </a:r>
            <a:r>
              <a:rPr kumimoji="1" lang="ja-JP" altLang="en-US" dirty="0">
                <a:solidFill>
                  <a:schemeClr val="tx1">
                    <a:lumMod val="75000"/>
                  </a:schemeClr>
                </a:solidFill>
              </a:rPr>
              <a:t>（</a:t>
            </a:r>
            <a:r>
              <a:rPr kumimoji="1" lang="en-US" altLang="ja-JP" dirty="0">
                <a:solidFill>
                  <a:schemeClr val="tx1">
                    <a:lumMod val="75000"/>
                  </a:schemeClr>
                </a:solidFill>
              </a:rPr>
              <a:t>Local Area Network</a:t>
            </a:r>
            <a:r>
              <a:rPr kumimoji="1" lang="ja-JP" altLang="en-US" dirty="0">
                <a:solidFill>
                  <a:schemeClr val="tx1">
                    <a:lumMod val="75000"/>
                  </a:schemeClr>
                </a:solidFill>
              </a:rPr>
              <a:t>）でつなぐ</a:t>
            </a:r>
          </a:p>
        </p:txBody>
      </p:sp>
      <p:pic>
        <p:nvPicPr>
          <p:cNvPr id="14" name="Picture 4" descr="P2Pネットワークのイラスト">
            <a:extLst>
              <a:ext uri="{FF2B5EF4-FFF2-40B4-BE49-F238E27FC236}">
                <a16:creationId xmlns:a16="http://schemas.microsoft.com/office/drawing/2014/main" id="{25791B87-F4C3-5DBE-0306-900ACE7635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3500" y="4147700"/>
            <a:ext cx="17145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P2Pネットワークのイラスト">
            <a:extLst>
              <a:ext uri="{FF2B5EF4-FFF2-40B4-BE49-F238E27FC236}">
                <a16:creationId xmlns:a16="http://schemas.microsoft.com/office/drawing/2014/main" id="{918F8874-8A61-4961-28EB-A50D011607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7973" y="4147700"/>
            <a:ext cx="1714500" cy="1714500"/>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直線コネクタ 16">
            <a:extLst>
              <a:ext uri="{FF2B5EF4-FFF2-40B4-BE49-F238E27FC236}">
                <a16:creationId xmlns:a16="http://schemas.microsoft.com/office/drawing/2014/main" id="{900FD167-AC65-88A7-05D1-B29C5585E523}"/>
              </a:ext>
            </a:extLst>
          </p:cNvPr>
          <p:cNvCxnSpPr>
            <a:cxnSpLocks/>
          </p:cNvCxnSpPr>
          <p:nvPr/>
        </p:nvCxnSpPr>
        <p:spPr>
          <a:xfrm>
            <a:off x="8128000" y="4826272"/>
            <a:ext cx="1859973"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吹き出し: 折線 17">
            <a:extLst>
              <a:ext uri="{FF2B5EF4-FFF2-40B4-BE49-F238E27FC236}">
                <a16:creationId xmlns:a16="http://schemas.microsoft.com/office/drawing/2014/main" id="{7D8A45EE-696F-620E-B09B-D39F16E9FEF5}"/>
              </a:ext>
            </a:extLst>
          </p:cNvPr>
          <p:cNvSpPr/>
          <p:nvPr/>
        </p:nvSpPr>
        <p:spPr>
          <a:xfrm>
            <a:off x="7728428" y="5540506"/>
            <a:ext cx="2659117" cy="1093076"/>
          </a:xfrm>
          <a:prstGeom prst="borderCallout2">
            <a:avLst>
              <a:gd name="adj1" fmla="val -4327"/>
              <a:gd name="adj2" fmla="val 16964"/>
              <a:gd name="adj3" fmla="val -49625"/>
              <a:gd name="adj4" fmla="val 18999"/>
              <a:gd name="adj5" fmla="val -59551"/>
              <a:gd name="adj6" fmla="val 46706"/>
            </a:avLst>
          </a:prstGeom>
          <a:solidFill>
            <a:schemeClr val="accent1">
              <a:lumMod val="20000"/>
              <a:lumOff val="80000"/>
            </a:schemeClr>
          </a:soli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ja-JP" dirty="0">
                <a:solidFill>
                  <a:schemeClr val="tx1">
                    <a:lumMod val="75000"/>
                  </a:schemeClr>
                </a:solidFill>
              </a:rPr>
              <a:t>LAN</a:t>
            </a:r>
            <a:r>
              <a:rPr lang="ja-JP" altLang="en-US" dirty="0">
                <a:solidFill>
                  <a:schemeClr val="tx1">
                    <a:lumMod val="75000"/>
                  </a:schemeClr>
                </a:solidFill>
              </a:rPr>
              <a:t>同士をつないで</a:t>
            </a:r>
            <a:br>
              <a:rPr lang="en-US" altLang="ja-JP" dirty="0">
                <a:solidFill>
                  <a:schemeClr val="tx1">
                    <a:lumMod val="75000"/>
                  </a:schemeClr>
                </a:solidFill>
              </a:rPr>
            </a:br>
            <a:r>
              <a:rPr lang="ja-JP" altLang="en-US" dirty="0">
                <a:solidFill>
                  <a:schemeClr val="tx1">
                    <a:lumMod val="75000"/>
                  </a:schemeClr>
                </a:solidFill>
              </a:rPr>
              <a:t>大規模通信を実現するのが</a:t>
            </a:r>
            <a:r>
              <a:rPr lang="en-US" altLang="ja-JP" dirty="0">
                <a:solidFill>
                  <a:schemeClr val="tx1">
                    <a:lumMod val="75000"/>
                  </a:schemeClr>
                </a:solidFill>
              </a:rPr>
              <a:t>WAN</a:t>
            </a:r>
            <a:endParaRPr lang="ja-JP" altLang="en-US" dirty="0">
              <a:solidFill>
                <a:schemeClr val="tx1">
                  <a:lumMod val="75000"/>
                </a:schemeClr>
              </a:solidFill>
            </a:endParaRPr>
          </a:p>
        </p:txBody>
      </p:sp>
    </p:spTree>
    <p:extLst>
      <p:ext uri="{BB962C8B-B14F-4D97-AF65-F5344CB8AC3E}">
        <p14:creationId xmlns:p14="http://schemas.microsoft.com/office/powerpoint/2010/main" val="2500640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43A2A-9BC3-AB32-112F-420D3DAB5FDF}"/>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7DD5CAD2-21AC-376E-8748-B11548480267}"/>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0D0219AF-1EA1-7FAE-8052-5CDA031B2427}"/>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ネットワーク同士を接続しあうことを「インターネットワーキング」という</a:t>
            </a:r>
            <a:endParaRPr lang="en-US" altLang="ja-JP" sz="2800" dirty="0"/>
          </a:p>
        </p:txBody>
      </p:sp>
      <p:sp>
        <p:nvSpPr>
          <p:cNvPr id="4" name="タイトル プレースホルダー 1">
            <a:extLst>
              <a:ext uri="{FF2B5EF4-FFF2-40B4-BE49-F238E27FC236}">
                <a16:creationId xmlns:a16="http://schemas.microsoft.com/office/drawing/2014/main" id="{685E0F47-63C7-5EC5-7155-B57B91D83846}"/>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インターネットワーキングの概念</a:t>
            </a:r>
            <a:endParaRPr lang="en-US" altLang="ja-JP" dirty="0"/>
          </a:p>
        </p:txBody>
      </p:sp>
      <p:sp>
        <p:nvSpPr>
          <p:cNvPr id="6" name="正方形/長方形 5">
            <a:extLst>
              <a:ext uri="{FF2B5EF4-FFF2-40B4-BE49-F238E27FC236}">
                <a16:creationId xmlns:a16="http://schemas.microsoft.com/office/drawing/2014/main" id="{92F4BDC3-87A2-AA6D-9C7B-3C37A9924F4D}"/>
              </a:ext>
            </a:extLst>
          </p:cNvPr>
          <p:cNvSpPr/>
          <p:nvPr/>
        </p:nvSpPr>
        <p:spPr>
          <a:xfrm>
            <a:off x="342900" y="2184400"/>
            <a:ext cx="3589908"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rPr>
              <a:t>特徴</a:t>
            </a:r>
          </a:p>
        </p:txBody>
      </p:sp>
      <p:sp>
        <p:nvSpPr>
          <p:cNvPr id="7" name="正方形/長方形 6">
            <a:extLst>
              <a:ext uri="{FF2B5EF4-FFF2-40B4-BE49-F238E27FC236}">
                <a16:creationId xmlns:a16="http://schemas.microsoft.com/office/drawing/2014/main" id="{8C74F5EB-A42E-9AA0-FC57-26579DCBA1F6}"/>
              </a:ext>
            </a:extLst>
          </p:cNvPr>
          <p:cNvSpPr/>
          <p:nvPr/>
        </p:nvSpPr>
        <p:spPr>
          <a:xfrm>
            <a:off x="4212086" y="2184400"/>
            <a:ext cx="3589908"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rPr>
              <a:t>必要なもの</a:t>
            </a:r>
          </a:p>
        </p:txBody>
      </p:sp>
      <p:sp>
        <p:nvSpPr>
          <p:cNvPr id="8" name="正方形/長方形 7">
            <a:extLst>
              <a:ext uri="{FF2B5EF4-FFF2-40B4-BE49-F238E27FC236}">
                <a16:creationId xmlns:a16="http://schemas.microsoft.com/office/drawing/2014/main" id="{0EA57DA4-DAE3-825E-A42F-8857C3E70117}"/>
              </a:ext>
            </a:extLst>
          </p:cNvPr>
          <p:cNvSpPr/>
          <p:nvPr/>
        </p:nvSpPr>
        <p:spPr>
          <a:xfrm>
            <a:off x="8081272" y="2184400"/>
            <a:ext cx="3589908"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rPr>
              <a:t>表現について</a:t>
            </a:r>
          </a:p>
        </p:txBody>
      </p:sp>
      <p:cxnSp>
        <p:nvCxnSpPr>
          <p:cNvPr id="10" name="直線コネクタ 9">
            <a:extLst>
              <a:ext uri="{FF2B5EF4-FFF2-40B4-BE49-F238E27FC236}">
                <a16:creationId xmlns:a16="http://schemas.microsoft.com/office/drawing/2014/main" id="{C433E20D-732C-F3DB-8512-8918BE70CB4A}"/>
              </a:ext>
            </a:extLst>
          </p:cNvPr>
          <p:cNvCxnSpPr/>
          <p:nvPr/>
        </p:nvCxnSpPr>
        <p:spPr>
          <a:xfrm>
            <a:off x="4057095" y="2184400"/>
            <a:ext cx="0" cy="4527118"/>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F274F742-3386-EC67-48C1-F280AE3FAAF0}"/>
              </a:ext>
            </a:extLst>
          </p:cNvPr>
          <p:cNvCxnSpPr/>
          <p:nvPr/>
        </p:nvCxnSpPr>
        <p:spPr>
          <a:xfrm>
            <a:off x="7936637" y="2184400"/>
            <a:ext cx="0" cy="4527118"/>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5" name="タイトル プレースホルダー 1">
            <a:extLst>
              <a:ext uri="{FF2B5EF4-FFF2-40B4-BE49-F238E27FC236}">
                <a16:creationId xmlns:a16="http://schemas.microsoft.com/office/drawing/2014/main" id="{40BB941B-DF66-533A-1CD6-8814B7F1EDB5}"/>
              </a:ext>
            </a:extLst>
          </p:cNvPr>
          <p:cNvSpPr txBox="1">
            <a:spLocks/>
          </p:cNvSpPr>
          <p:nvPr/>
        </p:nvSpPr>
        <p:spPr>
          <a:xfrm>
            <a:off x="342898" y="2730500"/>
            <a:ext cx="3589907" cy="358138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インターネットワーキングでは、単一の巨大なネットワークを作らない</a:t>
            </a:r>
            <a:endParaRPr lang="en-US" altLang="ja-JP" sz="1800" dirty="0"/>
          </a:p>
          <a:p>
            <a:pPr marL="285750" indent="-285750">
              <a:buFont typeface="Arial" panose="020B0604020202020204" pitchFamily="34" charset="0"/>
              <a:buChar char="•"/>
            </a:pPr>
            <a:r>
              <a:rPr lang="ja-JP" altLang="en-US" sz="1800" dirty="0"/>
              <a:t>複数を集合させて大きな接続関係を作る</a:t>
            </a:r>
            <a:endParaRPr lang="en-US" altLang="ja-JP" sz="1800" dirty="0"/>
          </a:p>
          <a:p>
            <a:pPr marL="742950" lvl="1" indent="-285750">
              <a:buFont typeface="Arial" panose="020B0604020202020204" pitchFamily="34" charset="0"/>
              <a:buChar char="•"/>
            </a:pPr>
            <a:r>
              <a:rPr lang="ja-JP" altLang="en-US" sz="1600" dirty="0"/>
              <a:t>不要な通信をネットワーク全体に拡散しない</a:t>
            </a:r>
            <a:endParaRPr lang="en-US" altLang="ja-JP" sz="1600" dirty="0"/>
          </a:p>
          <a:p>
            <a:pPr marL="742950" lvl="1" indent="-285750">
              <a:buFont typeface="Arial" panose="020B0604020202020204" pitchFamily="34" charset="0"/>
              <a:buChar char="•"/>
            </a:pPr>
            <a:r>
              <a:rPr lang="ja-JP" altLang="en-US" sz="1600" dirty="0"/>
              <a:t>故障の範囲を限られた範囲に留められる</a:t>
            </a:r>
            <a:endParaRPr lang="en-US" altLang="ja-JP" sz="1600" dirty="0"/>
          </a:p>
          <a:p>
            <a:pPr marL="742950" lvl="1" indent="-285750">
              <a:buFont typeface="Arial" panose="020B0604020202020204" pitchFamily="34" charset="0"/>
              <a:buChar char="•"/>
            </a:pPr>
            <a:r>
              <a:rPr lang="ja-JP" altLang="en-US" sz="1600" dirty="0"/>
              <a:t>各</a:t>
            </a:r>
            <a:r>
              <a:rPr lang="en-US" altLang="ja-JP" sz="1600" dirty="0"/>
              <a:t>NW</a:t>
            </a:r>
            <a:r>
              <a:rPr lang="ja-JP" altLang="en-US" sz="1600" dirty="0"/>
              <a:t>でそれぞれ独自の方針をとることができる</a:t>
            </a:r>
            <a:endParaRPr lang="en-US" altLang="ja-JP" sz="1600" dirty="0"/>
          </a:p>
          <a:p>
            <a:pPr marL="285750" indent="-285750">
              <a:buFont typeface="Arial" panose="020B0604020202020204" pitchFamily="34" charset="0"/>
              <a:buChar char="•"/>
            </a:pPr>
            <a:endParaRPr lang="en-US" altLang="ja-JP" sz="1800" dirty="0"/>
          </a:p>
        </p:txBody>
      </p:sp>
      <p:sp>
        <p:nvSpPr>
          <p:cNvPr id="9" name="タイトル プレースホルダー 1">
            <a:extLst>
              <a:ext uri="{FF2B5EF4-FFF2-40B4-BE49-F238E27FC236}">
                <a16:creationId xmlns:a16="http://schemas.microsoft.com/office/drawing/2014/main" id="{E4E70563-1286-6DF5-F8EA-300F612BBFE9}"/>
              </a:ext>
            </a:extLst>
          </p:cNvPr>
          <p:cNvSpPr txBox="1">
            <a:spLocks/>
          </p:cNvSpPr>
          <p:nvPr/>
        </p:nvSpPr>
        <p:spPr>
          <a:xfrm>
            <a:off x="4212087" y="2730500"/>
            <a:ext cx="3589907" cy="358138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通信手順の取り決め＝通信プロトコルが必要</a:t>
            </a:r>
            <a:endParaRPr lang="en-US" altLang="ja-JP" sz="1800" dirty="0"/>
          </a:p>
          <a:p>
            <a:pPr marL="285750" indent="-285750">
              <a:buFont typeface="Arial" panose="020B0604020202020204" pitchFamily="34" charset="0"/>
              <a:buChar char="•"/>
            </a:pPr>
            <a:r>
              <a:rPr lang="ja-JP" altLang="en-US" sz="1800" dirty="0"/>
              <a:t>現在最も一般的な通信プロトコルは</a:t>
            </a:r>
            <a:r>
              <a:rPr lang="en-US" altLang="ja-JP" sz="1800" dirty="0"/>
              <a:t>IP</a:t>
            </a:r>
            <a:r>
              <a:rPr lang="ja-JP" altLang="en-US" sz="1800" dirty="0"/>
              <a:t>（</a:t>
            </a:r>
            <a:r>
              <a:rPr lang="en-US" altLang="ja-JP" sz="1800" dirty="0"/>
              <a:t>Internet Protocol</a:t>
            </a:r>
            <a:r>
              <a:rPr lang="ja-JP" altLang="en-US" sz="1800" dirty="0"/>
              <a:t>）</a:t>
            </a:r>
            <a:endParaRPr lang="en-US" altLang="ja-JP" sz="1800" dirty="0"/>
          </a:p>
          <a:p>
            <a:pPr marL="742950" lvl="1" indent="-285750">
              <a:buFont typeface="Arial" panose="020B0604020202020204" pitchFamily="34" charset="0"/>
              <a:buChar char="•"/>
            </a:pPr>
            <a:r>
              <a:rPr lang="ja-JP" altLang="en-US" sz="1600" dirty="0"/>
              <a:t>それぞれの</a:t>
            </a:r>
            <a:r>
              <a:rPr lang="en-US" altLang="ja-JP" sz="1600" dirty="0"/>
              <a:t>NW</a:t>
            </a:r>
            <a:r>
              <a:rPr lang="ja-JP" altLang="en-US" sz="1600" dirty="0"/>
              <a:t>が別々のアドレス（</a:t>
            </a:r>
            <a:r>
              <a:rPr lang="en-US" altLang="ja-JP" sz="1600" dirty="0"/>
              <a:t>NW</a:t>
            </a:r>
            <a:r>
              <a:rPr lang="ja-JP" altLang="en-US" sz="1600" dirty="0"/>
              <a:t>を識別する番号）を持ち、それを手掛かりにルーティング機能によって、相手の</a:t>
            </a:r>
            <a:r>
              <a:rPr lang="en-US" altLang="ja-JP" sz="1600" dirty="0"/>
              <a:t>NW</a:t>
            </a:r>
            <a:r>
              <a:rPr lang="ja-JP" altLang="en-US" sz="1600" dirty="0"/>
              <a:t>まで情報を届ける</a:t>
            </a:r>
            <a:endParaRPr lang="en-US" altLang="ja-JP" sz="1600" dirty="0"/>
          </a:p>
          <a:p>
            <a:pPr marL="742950" lvl="1" indent="-285750">
              <a:buFont typeface="Arial" panose="020B0604020202020204" pitchFamily="34" charset="0"/>
              <a:buChar char="•"/>
            </a:pPr>
            <a:r>
              <a:rPr lang="en-US" altLang="ja-JP" sz="1600" dirty="0"/>
              <a:t>NW</a:t>
            </a:r>
            <a:r>
              <a:rPr lang="ja-JP" altLang="en-US" sz="1600" dirty="0"/>
              <a:t>に接続する個々のコンピュータには、</a:t>
            </a:r>
            <a:r>
              <a:rPr lang="en-US" altLang="ja-JP" sz="1600" dirty="0"/>
              <a:t>IP</a:t>
            </a:r>
            <a:r>
              <a:rPr lang="ja-JP" altLang="en-US" sz="1600" dirty="0"/>
              <a:t>アドレスと呼ばれる固有な識別情報が割り振られる</a:t>
            </a:r>
            <a:endParaRPr lang="en-US" altLang="ja-JP" sz="1600" dirty="0"/>
          </a:p>
          <a:p>
            <a:pPr marL="285750" indent="-285750">
              <a:buFont typeface="Arial" panose="020B0604020202020204" pitchFamily="34" charset="0"/>
              <a:buChar char="•"/>
            </a:pPr>
            <a:endParaRPr lang="en-US" altLang="ja-JP" sz="1800" dirty="0"/>
          </a:p>
        </p:txBody>
      </p:sp>
      <p:sp>
        <p:nvSpPr>
          <p:cNvPr id="12" name="タイトル プレースホルダー 1">
            <a:extLst>
              <a:ext uri="{FF2B5EF4-FFF2-40B4-BE49-F238E27FC236}">
                <a16:creationId xmlns:a16="http://schemas.microsoft.com/office/drawing/2014/main" id="{542E1621-F8FB-D11A-7B2A-08767220A6FC}"/>
              </a:ext>
            </a:extLst>
          </p:cNvPr>
          <p:cNvSpPr txBox="1">
            <a:spLocks/>
          </p:cNvSpPr>
          <p:nvPr/>
        </p:nvSpPr>
        <p:spPr>
          <a:xfrm>
            <a:off x="8081272" y="2730500"/>
            <a:ext cx="3589907" cy="358138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インターネットワーキングにより構成するネットワークを指す一般名詞の「インターネット」と、普段メールや</a:t>
            </a:r>
            <a:r>
              <a:rPr lang="en-US" altLang="ja-JP" sz="1800" dirty="0"/>
              <a:t>Web</a:t>
            </a:r>
            <a:r>
              <a:rPr lang="ja-JP" altLang="en-US" sz="1800" dirty="0"/>
              <a:t>閲覧で利用する固有名詞の「インターネット」があり、紛らわしい</a:t>
            </a:r>
            <a:endParaRPr lang="en-US" altLang="ja-JP" sz="1800" dirty="0"/>
          </a:p>
          <a:p>
            <a:pPr marL="285750" indent="-285750">
              <a:buFont typeface="Arial" panose="020B0604020202020204" pitchFamily="34" charset="0"/>
              <a:buChar char="•"/>
            </a:pPr>
            <a:r>
              <a:rPr lang="ja-JP" altLang="en-US" sz="1800" dirty="0"/>
              <a:t>前者を「</a:t>
            </a:r>
            <a:r>
              <a:rPr lang="en-US" altLang="ja-JP" sz="1800" dirty="0"/>
              <a:t>an Internet</a:t>
            </a:r>
            <a:r>
              <a:rPr lang="ja-JP" altLang="en-US" sz="1800" dirty="0"/>
              <a:t>」</a:t>
            </a:r>
            <a:endParaRPr lang="en-US" altLang="ja-JP" sz="1800" dirty="0"/>
          </a:p>
          <a:p>
            <a:pPr marL="285750" indent="-285750">
              <a:buFont typeface="Arial" panose="020B0604020202020204" pitchFamily="34" charset="0"/>
              <a:buChar char="•"/>
            </a:pPr>
            <a:r>
              <a:rPr lang="ja-JP" altLang="en-US" sz="1800" dirty="0"/>
              <a:t>後者を「</a:t>
            </a:r>
            <a:r>
              <a:rPr lang="en-US" altLang="ja-JP" sz="1800" dirty="0"/>
              <a:t>the Internet</a:t>
            </a:r>
            <a:r>
              <a:rPr lang="ja-JP" altLang="en-US" sz="1800" dirty="0"/>
              <a:t>」と英語では書き分けている</a:t>
            </a:r>
            <a:endParaRPr lang="en-US" altLang="ja-JP" sz="1800" dirty="0"/>
          </a:p>
        </p:txBody>
      </p:sp>
    </p:spTree>
    <p:extLst>
      <p:ext uri="{BB962C8B-B14F-4D97-AF65-F5344CB8AC3E}">
        <p14:creationId xmlns:p14="http://schemas.microsoft.com/office/powerpoint/2010/main" val="1763612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5A7E9-4920-8842-B617-91CF7D8153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22CEBB-BB4E-2706-E846-5F2EF1226059}"/>
              </a:ext>
            </a:extLst>
          </p:cNvPr>
          <p:cNvSpPr>
            <a:spLocks noGrp="1"/>
          </p:cNvSpPr>
          <p:nvPr>
            <p:ph type="title" idx="4294967295"/>
          </p:nvPr>
        </p:nvSpPr>
        <p:spPr>
          <a:xfrm>
            <a:off x="336389" y="3128963"/>
            <a:ext cx="11517355" cy="600075"/>
          </a:xfrm>
        </p:spPr>
        <p:txBody>
          <a:bodyPr anchor="t" anchorCtr="0">
            <a:noAutofit/>
          </a:bodyPr>
          <a:lstStyle/>
          <a:p>
            <a:r>
              <a:rPr kumimoji="1" lang="ja-JP" altLang="en-US" sz="6000" b="1" dirty="0">
                <a:solidFill>
                  <a:schemeClr val="bg1">
                    <a:lumMod val="65000"/>
                  </a:schemeClr>
                </a:solidFill>
              </a:rPr>
              <a:t>参考文献</a:t>
            </a:r>
          </a:p>
        </p:txBody>
      </p:sp>
    </p:spTree>
    <p:extLst>
      <p:ext uri="{BB962C8B-B14F-4D97-AF65-F5344CB8AC3E}">
        <p14:creationId xmlns:p14="http://schemas.microsoft.com/office/powerpoint/2010/main" val="2781909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33A1A-ADC0-CE5A-7775-83A11A2E659B}"/>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04E118CC-5441-0D5C-87CA-58BCCA094F9F}"/>
              </a:ext>
            </a:extLst>
          </p:cNvPr>
          <p:cNvCxnSpPr>
            <a:cxnSpLocks/>
          </p:cNvCxnSpPr>
          <p:nvPr/>
        </p:nvCxnSpPr>
        <p:spPr>
          <a:xfrm>
            <a:off x="0" y="1257051"/>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4" name="タイトル プレースホルダー 1">
            <a:extLst>
              <a:ext uri="{FF2B5EF4-FFF2-40B4-BE49-F238E27FC236}">
                <a16:creationId xmlns:a16="http://schemas.microsoft.com/office/drawing/2014/main" id="{F06DEC3A-13C2-DA15-7A7D-19A774C0CBEA}"/>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参考文献</a:t>
            </a:r>
            <a:endParaRPr lang="en-US" altLang="ja-JP" dirty="0"/>
          </a:p>
        </p:txBody>
      </p:sp>
      <p:sp>
        <p:nvSpPr>
          <p:cNvPr id="5" name="タイトル プレースホルダー 1">
            <a:extLst>
              <a:ext uri="{FF2B5EF4-FFF2-40B4-BE49-F238E27FC236}">
                <a16:creationId xmlns:a16="http://schemas.microsoft.com/office/drawing/2014/main" id="{3C457F5D-B3D5-B4D5-ECD8-CF3191193446}"/>
              </a:ext>
            </a:extLst>
          </p:cNvPr>
          <p:cNvSpPr txBox="1">
            <a:spLocks/>
          </p:cNvSpPr>
          <p:nvPr/>
        </p:nvSpPr>
        <p:spPr>
          <a:xfrm>
            <a:off x="355600" y="5459770"/>
            <a:ext cx="3053425" cy="85211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イラスト図解式 この一冊で全部わかるネットワークの基本 第</a:t>
            </a:r>
            <a:r>
              <a:rPr lang="en-US" altLang="ja-JP" dirty="0"/>
              <a:t>2</a:t>
            </a:r>
            <a:r>
              <a:rPr lang="ja-JP" altLang="en-US" dirty="0"/>
              <a:t>版</a:t>
            </a:r>
            <a:endParaRPr lang="en-US" altLang="ja-JP" dirty="0"/>
          </a:p>
          <a:p>
            <a:r>
              <a:rPr lang="en-US" altLang="ja-JP" dirty="0">
                <a:hlinkClick r:id="rId2"/>
              </a:rPr>
              <a:t>Amazon.co.jp: </a:t>
            </a:r>
            <a:r>
              <a:rPr lang="ja-JP" altLang="en-US" dirty="0">
                <a:hlinkClick r:id="rId2"/>
              </a:rPr>
              <a:t>イラスト図解式 この一冊で全部わかるネットワークの基本 第</a:t>
            </a:r>
            <a:r>
              <a:rPr lang="en-US" altLang="ja-JP" dirty="0">
                <a:hlinkClick r:id="rId2"/>
              </a:rPr>
              <a:t>2</a:t>
            </a:r>
            <a:r>
              <a:rPr lang="ja-JP" altLang="en-US" dirty="0">
                <a:hlinkClick r:id="rId2"/>
              </a:rPr>
              <a:t>版 </a:t>
            </a:r>
            <a:r>
              <a:rPr lang="en-US" altLang="ja-JP" dirty="0">
                <a:hlinkClick r:id="rId2"/>
              </a:rPr>
              <a:t>eBook : </a:t>
            </a:r>
            <a:r>
              <a:rPr lang="ja-JP" altLang="en-US" dirty="0">
                <a:hlinkClick r:id="rId2"/>
              </a:rPr>
              <a:t>福永 勇二</a:t>
            </a:r>
            <a:r>
              <a:rPr lang="en-US" altLang="ja-JP" dirty="0">
                <a:hlinkClick r:id="rId2"/>
              </a:rPr>
              <a:t>: Kindle</a:t>
            </a:r>
            <a:r>
              <a:rPr lang="ja-JP" altLang="en-US" dirty="0">
                <a:hlinkClick r:id="rId2"/>
              </a:rPr>
              <a:t>ストア</a:t>
            </a:r>
            <a:endParaRPr lang="ja-JP" altLang="en-US" dirty="0"/>
          </a:p>
        </p:txBody>
      </p:sp>
      <p:pic>
        <p:nvPicPr>
          <p:cNvPr id="10" name="図 9" descr="テキスト&#10;&#10;AI 生成コンテンツは誤りを含む可能性があります。">
            <a:extLst>
              <a:ext uri="{FF2B5EF4-FFF2-40B4-BE49-F238E27FC236}">
                <a16:creationId xmlns:a16="http://schemas.microsoft.com/office/drawing/2014/main" id="{D8907866-03FA-9556-EAC1-E4F8827E0707}"/>
              </a:ext>
            </a:extLst>
          </p:cNvPr>
          <p:cNvPicPr>
            <a:picLocks noChangeAspect="1"/>
          </p:cNvPicPr>
          <p:nvPr/>
        </p:nvPicPr>
        <p:blipFill>
          <a:blip r:embed="rId3"/>
          <a:stretch>
            <a:fillRect/>
          </a:stretch>
        </p:blipFill>
        <p:spPr>
          <a:xfrm>
            <a:off x="453452" y="1388225"/>
            <a:ext cx="2955573" cy="3962069"/>
          </a:xfrm>
          <a:prstGeom prst="rect">
            <a:avLst/>
          </a:prstGeom>
        </p:spPr>
      </p:pic>
      <p:sp>
        <p:nvSpPr>
          <p:cNvPr id="11" name="タイトル プレースホルダー 1">
            <a:extLst>
              <a:ext uri="{FF2B5EF4-FFF2-40B4-BE49-F238E27FC236}">
                <a16:creationId xmlns:a16="http://schemas.microsoft.com/office/drawing/2014/main" id="{F7268D31-ECD8-4DDB-67CF-3217104307EE}"/>
              </a:ext>
            </a:extLst>
          </p:cNvPr>
          <p:cNvSpPr txBox="1">
            <a:spLocks/>
          </p:cNvSpPr>
          <p:nvPr/>
        </p:nvSpPr>
        <p:spPr>
          <a:xfrm>
            <a:off x="4747087" y="5459770"/>
            <a:ext cx="3053425" cy="85211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図解即戦力 通信業界のしくみとビジネスがこれ</a:t>
            </a:r>
            <a:r>
              <a:rPr lang="en-US" altLang="ja-JP" dirty="0"/>
              <a:t>1</a:t>
            </a:r>
            <a:r>
              <a:rPr lang="ja-JP" altLang="en-US" dirty="0"/>
              <a:t>冊でしっかりわかる教科書</a:t>
            </a:r>
          </a:p>
          <a:p>
            <a:r>
              <a:rPr lang="ja-JP" altLang="en-US" dirty="0">
                <a:hlinkClick r:id="rId4"/>
              </a:rPr>
              <a:t>図解即戦力 通信業界のしくみとビジネスがこれ</a:t>
            </a:r>
            <a:r>
              <a:rPr lang="en-US" altLang="ja-JP" dirty="0">
                <a:hlinkClick r:id="rId4"/>
              </a:rPr>
              <a:t>1</a:t>
            </a:r>
            <a:r>
              <a:rPr lang="ja-JP" altLang="en-US" dirty="0">
                <a:hlinkClick r:id="rId4"/>
              </a:rPr>
              <a:t>冊でしっかりわかる教科書 </a:t>
            </a:r>
            <a:r>
              <a:rPr lang="en-US" altLang="ja-JP" dirty="0">
                <a:hlinkClick r:id="rId4"/>
              </a:rPr>
              <a:t>| </a:t>
            </a:r>
            <a:r>
              <a:rPr lang="ja-JP" altLang="en-US" dirty="0">
                <a:hlinkClick r:id="rId4"/>
              </a:rPr>
              <a:t>実積 寿也</a:t>
            </a:r>
            <a:r>
              <a:rPr lang="en-US" altLang="ja-JP" dirty="0">
                <a:hlinkClick r:id="rId4"/>
              </a:rPr>
              <a:t>, </a:t>
            </a:r>
            <a:r>
              <a:rPr lang="ja-JP" altLang="en-US" dirty="0">
                <a:hlinkClick r:id="rId4"/>
              </a:rPr>
              <a:t>藤木 俊明 </a:t>
            </a:r>
            <a:r>
              <a:rPr lang="en-US" altLang="ja-JP" dirty="0">
                <a:hlinkClick r:id="rId4"/>
              </a:rPr>
              <a:t>|</a:t>
            </a:r>
            <a:r>
              <a:rPr lang="ja-JP" altLang="en-US" dirty="0">
                <a:hlinkClick r:id="rId4"/>
              </a:rPr>
              <a:t>本 </a:t>
            </a:r>
            <a:r>
              <a:rPr lang="en-US" altLang="ja-JP" dirty="0">
                <a:hlinkClick r:id="rId4"/>
              </a:rPr>
              <a:t>| </a:t>
            </a:r>
            <a:r>
              <a:rPr lang="ja-JP" altLang="en-US" dirty="0">
                <a:hlinkClick r:id="rId4"/>
              </a:rPr>
              <a:t>通販 </a:t>
            </a:r>
            <a:r>
              <a:rPr lang="en-US" altLang="ja-JP" dirty="0">
                <a:hlinkClick r:id="rId4"/>
              </a:rPr>
              <a:t>| Amazon</a:t>
            </a:r>
            <a:endParaRPr lang="ja-JP" altLang="en-US" dirty="0"/>
          </a:p>
        </p:txBody>
      </p:sp>
      <p:pic>
        <p:nvPicPr>
          <p:cNvPr id="14" name="図 13" descr="QR コード&#10;&#10;AI 生成コンテンツは誤りを含む可能性があります。">
            <a:extLst>
              <a:ext uri="{FF2B5EF4-FFF2-40B4-BE49-F238E27FC236}">
                <a16:creationId xmlns:a16="http://schemas.microsoft.com/office/drawing/2014/main" id="{F4667E3B-B582-2FB1-F9A4-8314BF62C737}"/>
              </a:ext>
            </a:extLst>
          </p:cNvPr>
          <p:cNvPicPr>
            <a:picLocks noChangeAspect="1"/>
          </p:cNvPicPr>
          <p:nvPr/>
        </p:nvPicPr>
        <p:blipFill>
          <a:blip r:embed="rId5"/>
          <a:stretch>
            <a:fillRect/>
          </a:stretch>
        </p:blipFill>
        <p:spPr>
          <a:xfrm>
            <a:off x="4834383" y="1388225"/>
            <a:ext cx="2878831" cy="3962069"/>
          </a:xfrm>
          <a:prstGeom prst="rect">
            <a:avLst/>
          </a:prstGeom>
        </p:spPr>
      </p:pic>
      <p:sp>
        <p:nvSpPr>
          <p:cNvPr id="15" name="タイトル プレースホルダー 1">
            <a:extLst>
              <a:ext uri="{FF2B5EF4-FFF2-40B4-BE49-F238E27FC236}">
                <a16:creationId xmlns:a16="http://schemas.microsoft.com/office/drawing/2014/main" id="{C335D86F-108D-5FBB-9FFB-4580C7F1C951}"/>
              </a:ext>
            </a:extLst>
          </p:cNvPr>
          <p:cNvSpPr txBox="1">
            <a:spLocks/>
          </p:cNvSpPr>
          <p:nvPr/>
        </p:nvSpPr>
        <p:spPr>
          <a:xfrm>
            <a:off x="8782977" y="5459770"/>
            <a:ext cx="3053425" cy="85211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ネットワークはなぜつながるのか 第</a:t>
            </a:r>
            <a:r>
              <a:rPr lang="en-US" altLang="ja-JP" dirty="0"/>
              <a:t>2</a:t>
            </a:r>
            <a:r>
              <a:rPr lang="ja-JP" altLang="en-US" dirty="0"/>
              <a:t>版 知っておきたい</a:t>
            </a:r>
            <a:r>
              <a:rPr lang="en-US" altLang="ja-JP" dirty="0"/>
              <a:t>TCP/IP</a:t>
            </a:r>
            <a:r>
              <a:rPr lang="ja-JP" altLang="en-US" dirty="0"/>
              <a:t>、</a:t>
            </a:r>
            <a:r>
              <a:rPr lang="en-US" altLang="ja-JP" dirty="0"/>
              <a:t>LAN</a:t>
            </a:r>
            <a:r>
              <a:rPr lang="ja-JP" altLang="en-US" dirty="0"/>
              <a:t>、光ファイバの基礎知識</a:t>
            </a:r>
          </a:p>
          <a:p>
            <a:r>
              <a:rPr lang="ja-JP" altLang="en-US" dirty="0">
                <a:hlinkClick r:id="rId6"/>
              </a:rPr>
              <a:t>ネットワークはなぜつながるのか 第</a:t>
            </a:r>
            <a:r>
              <a:rPr lang="en-US" altLang="ja-JP" dirty="0">
                <a:hlinkClick r:id="rId6"/>
              </a:rPr>
              <a:t>2</a:t>
            </a:r>
            <a:r>
              <a:rPr lang="ja-JP" altLang="en-US" dirty="0">
                <a:hlinkClick r:id="rId6"/>
              </a:rPr>
              <a:t>版 知っておきたい</a:t>
            </a:r>
            <a:r>
              <a:rPr lang="en-US" altLang="ja-JP" dirty="0">
                <a:hlinkClick r:id="rId6"/>
              </a:rPr>
              <a:t>TCP/IP</a:t>
            </a:r>
            <a:r>
              <a:rPr lang="ja-JP" altLang="en-US" dirty="0">
                <a:hlinkClick r:id="rId6"/>
              </a:rPr>
              <a:t>、</a:t>
            </a:r>
            <a:r>
              <a:rPr lang="en-US" altLang="ja-JP" dirty="0">
                <a:hlinkClick r:id="rId6"/>
              </a:rPr>
              <a:t>LAN</a:t>
            </a:r>
            <a:r>
              <a:rPr lang="ja-JP" altLang="en-US" dirty="0">
                <a:hlinkClick r:id="rId6"/>
              </a:rPr>
              <a:t>、光ファイバの基礎知識 </a:t>
            </a:r>
            <a:r>
              <a:rPr lang="en-US" altLang="ja-JP" dirty="0">
                <a:hlinkClick r:id="rId6"/>
              </a:rPr>
              <a:t>| </a:t>
            </a:r>
            <a:r>
              <a:rPr lang="ja-JP" altLang="en-US" dirty="0">
                <a:hlinkClick r:id="rId6"/>
              </a:rPr>
              <a:t>戸根 勤</a:t>
            </a:r>
            <a:r>
              <a:rPr lang="en-US" altLang="ja-JP" dirty="0">
                <a:hlinkClick r:id="rId6"/>
              </a:rPr>
              <a:t>, </a:t>
            </a:r>
            <a:r>
              <a:rPr lang="ja-JP" altLang="en-US" dirty="0">
                <a:hlinkClick r:id="rId6"/>
              </a:rPr>
              <a:t>日経</a:t>
            </a:r>
            <a:r>
              <a:rPr lang="en-US" altLang="ja-JP" dirty="0">
                <a:hlinkClick r:id="rId6"/>
              </a:rPr>
              <a:t>NETWORK |</a:t>
            </a:r>
            <a:r>
              <a:rPr lang="ja-JP" altLang="en-US" dirty="0">
                <a:hlinkClick r:id="rId6"/>
              </a:rPr>
              <a:t>本 </a:t>
            </a:r>
            <a:r>
              <a:rPr lang="en-US" altLang="ja-JP" dirty="0">
                <a:hlinkClick r:id="rId6"/>
              </a:rPr>
              <a:t>| </a:t>
            </a:r>
            <a:r>
              <a:rPr lang="ja-JP" altLang="en-US" dirty="0">
                <a:hlinkClick r:id="rId6"/>
              </a:rPr>
              <a:t>通販 </a:t>
            </a:r>
            <a:r>
              <a:rPr lang="en-US" altLang="ja-JP" dirty="0">
                <a:hlinkClick r:id="rId6"/>
              </a:rPr>
              <a:t>| Amazon</a:t>
            </a:r>
            <a:endParaRPr lang="ja-JP" altLang="en-US" dirty="0"/>
          </a:p>
        </p:txBody>
      </p:sp>
      <p:pic>
        <p:nvPicPr>
          <p:cNvPr id="18" name="図 17" descr="ダイアグラム&#10;&#10;AI 生成コンテンツは誤りを含む可能性があります。">
            <a:extLst>
              <a:ext uri="{FF2B5EF4-FFF2-40B4-BE49-F238E27FC236}">
                <a16:creationId xmlns:a16="http://schemas.microsoft.com/office/drawing/2014/main" id="{049BF848-8ED6-9488-F0D2-2106730F85B8}"/>
              </a:ext>
            </a:extLst>
          </p:cNvPr>
          <p:cNvPicPr>
            <a:picLocks noChangeAspect="1"/>
          </p:cNvPicPr>
          <p:nvPr/>
        </p:nvPicPr>
        <p:blipFill>
          <a:blip r:embed="rId7"/>
          <a:srcRect b="5588"/>
          <a:stretch>
            <a:fillRect/>
          </a:stretch>
        </p:blipFill>
        <p:spPr>
          <a:xfrm>
            <a:off x="8782977" y="1388225"/>
            <a:ext cx="3011108" cy="3962070"/>
          </a:xfrm>
          <a:prstGeom prst="rect">
            <a:avLst/>
          </a:prstGeom>
        </p:spPr>
      </p:pic>
    </p:spTree>
    <p:extLst>
      <p:ext uri="{BB962C8B-B14F-4D97-AF65-F5344CB8AC3E}">
        <p14:creationId xmlns:p14="http://schemas.microsoft.com/office/powerpoint/2010/main" val="1252140608"/>
      </p:ext>
    </p:extLst>
  </p:cSld>
  <p:clrMapOvr>
    <a:masterClrMapping/>
  </p:clrMapOvr>
</p:sld>
</file>

<file path=ppt/theme/theme1.xml><?xml version="1.0" encoding="utf-8"?>
<a:theme xmlns:a="http://schemas.openxmlformats.org/drawingml/2006/main" name="Office テーマ">
  <a:themeElements>
    <a:clrScheme name="ユーザー定義 1">
      <a:dk1>
        <a:srgbClr val="3F3F3F"/>
      </a:dk1>
      <a:lt1>
        <a:sysClr val="window" lastClr="FFFFFF"/>
      </a:lt1>
      <a:dk2>
        <a:srgbClr val="3F3F3F"/>
      </a:dk2>
      <a:lt2>
        <a:srgbClr val="E8E8E8"/>
      </a:lt2>
      <a:accent1>
        <a:srgbClr val="FFFF00"/>
      </a:accent1>
      <a:accent2>
        <a:srgbClr val="FF0000"/>
      </a:accent2>
      <a:accent3>
        <a:srgbClr val="D8D8D8"/>
      </a:accent3>
      <a:accent4>
        <a:srgbClr val="0F9ED5"/>
      </a:accent4>
      <a:accent5>
        <a:srgbClr val="A02B93"/>
      </a:accent5>
      <a:accent6>
        <a:srgbClr val="4EA72E"/>
      </a:accent6>
      <a:hlink>
        <a:srgbClr val="467886"/>
      </a:hlink>
      <a:folHlink>
        <a:srgbClr val="96607D"/>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336</TotalTime>
  <Words>938</Words>
  <Application>Microsoft Office PowerPoint</Application>
  <PresentationFormat>ワイド画面</PresentationFormat>
  <Paragraphs>90</Paragraphs>
  <Slides>8</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Meiryo UI</vt:lpstr>
      <vt:lpstr>游ゴシック</vt:lpstr>
      <vt:lpstr>Arial</vt:lpstr>
      <vt:lpstr>Wingdings</vt:lpstr>
      <vt:lpstr>Office テーマ</vt:lpstr>
      <vt:lpstr>PowerPoint プレゼンテーション</vt:lpstr>
      <vt:lpstr>Vol1目次</vt:lpstr>
      <vt:lpstr>PowerPoint プレゼンテーション</vt:lpstr>
      <vt:lpstr>PowerPoint プレゼンテーション</vt:lpstr>
      <vt:lpstr>PowerPoint プレゼンテーション</vt:lpstr>
      <vt:lpstr>PowerPoint プレゼンテーション</vt:lpstr>
      <vt:lpstr>参考文献</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弘樹 中村</dc:creator>
  <cp:lastModifiedBy>弘樹 中村</cp:lastModifiedBy>
  <cp:revision>1</cp:revision>
  <dcterms:created xsi:type="dcterms:W3CDTF">2025-10-25T06:16:43Z</dcterms:created>
  <dcterms:modified xsi:type="dcterms:W3CDTF">2026-09-22T06:50:54Z</dcterms:modified>
</cp:coreProperties>
</file>