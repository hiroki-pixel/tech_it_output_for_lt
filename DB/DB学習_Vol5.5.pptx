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9" r:id="rId3"/>
    <p:sldId id="275" r:id="rId4"/>
    <p:sldId id="279" r:id="rId5"/>
    <p:sldId id="284" r:id="rId6"/>
    <p:sldId id="261" r:id="rId7"/>
    <p:sldId id="264" r:id="rId8"/>
    <p:sldId id="272" r:id="rId9"/>
    <p:sldId id="273" r:id="rId10"/>
    <p:sldId id="274" r:id="rId11"/>
    <p:sldId id="300" r:id="rId12"/>
    <p:sldId id="297" r:id="rId13"/>
    <p:sldId id="298" r:id="rId14"/>
    <p:sldId id="299" r:id="rId15"/>
    <p:sldId id="296" r:id="rId16"/>
    <p:sldId id="277" r:id="rId17"/>
    <p:sldId id="278" r:id="rId18"/>
    <p:sldId id="280" r:id="rId19"/>
    <p:sldId id="281" r:id="rId20"/>
    <p:sldId id="282" r:id="rId21"/>
    <p:sldId id="283" r:id="rId22"/>
    <p:sldId id="285" r:id="rId23"/>
    <p:sldId id="286" r:id="rId24"/>
    <p:sldId id="287" r:id="rId25"/>
    <p:sldId id="288" r:id="rId26"/>
    <p:sldId id="289" r:id="rId27"/>
    <p:sldId id="290" r:id="rId28"/>
    <p:sldId id="291" r:id="rId29"/>
    <p:sldId id="292" r:id="rId30"/>
    <p:sldId id="294" r:id="rId31"/>
    <p:sldId id="293" r:id="rId32"/>
    <p:sldId id="295" r:id="rId3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 id="{A85C9006-EB47-4D1F-8FED-7D34B2F437B8}">
          <p14:sldIdLst>
            <p14:sldId id="256"/>
          </p14:sldIdLst>
        </p14:section>
        <p14:section name="目次" id="{E74342EC-93D7-4CD8-A83A-4FC3F823B5B3}">
          <p14:sldIdLst>
            <p14:sldId id="259"/>
            <p14:sldId id="275"/>
            <p14:sldId id="279"/>
            <p14:sldId id="284"/>
          </p14:sldIdLst>
        </p14:section>
        <p14:section name="Vol1" id="{18F5FBC2-0C60-4CC0-973C-5A8913481E1F}">
          <p14:sldIdLst>
            <p14:sldId id="261"/>
            <p14:sldId id="264"/>
            <p14:sldId id="272"/>
            <p14:sldId id="273"/>
            <p14:sldId id="274"/>
          </p14:sldIdLst>
        </p14:section>
        <p14:section name="vol1.5" id="{669CE953-9E7B-44FF-9A0B-B2F1E3C5B7AD}">
          <p14:sldIdLst>
            <p14:sldId id="300"/>
            <p14:sldId id="297"/>
            <p14:sldId id="298"/>
            <p14:sldId id="299"/>
            <p14:sldId id="296"/>
          </p14:sldIdLst>
        </p14:section>
        <p14:section name="Vol2" id="{8110A64D-9E2D-4350-8D04-34B685CA8C96}">
          <p14:sldIdLst>
            <p14:sldId id="277"/>
            <p14:sldId id="278"/>
          </p14:sldIdLst>
        </p14:section>
        <p14:section name="Vol3" id="{0EBE8F34-751A-4699-B570-1A2E23F1BA01}">
          <p14:sldIdLst>
            <p14:sldId id="280"/>
            <p14:sldId id="281"/>
            <p14:sldId id="282"/>
            <p14:sldId id="283"/>
          </p14:sldIdLst>
        </p14:section>
        <p14:section name="Vol4" id="{192C4FF4-2FD4-4D2D-860A-83924580F48F}">
          <p14:sldIdLst/>
        </p14:section>
        <p14:section name="背景と目的" id="{6B3A283D-6751-4009-A25D-895FE55D5799}">
          <p14:sldIdLst>
            <p14:sldId id="285"/>
          </p14:sldIdLst>
        </p14:section>
        <p14:section name="正規化とは？" id="{8389E7C8-A234-4493-8F00-59EA00A81B07}">
          <p14:sldIdLst>
            <p14:sldId id="286"/>
          </p14:sldIdLst>
        </p14:section>
        <p14:section name="正規化の手順" id="{DB9FB481-7D2C-4790-AF98-A440236FDADD}">
          <p14:sldIdLst>
            <p14:sldId id="287"/>
            <p14:sldId id="288"/>
            <p14:sldId id="289"/>
            <p14:sldId id="290"/>
            <p14:sldId id="291"/>
            <p14:sldId id="292"/>
            <p14:sldId id="294"/>
          </p14:sldIdLst>
        </p14:section>
        <p14:section name="結合、外部キー" id="{F6094C77-C19A-4C0F-BFCF-5C2F1740805D}">
          <p14:sldIdLst>
            <p14:sldId id="293"/>
            <p14:sldId id="295"/>
          </p14:sldIdLst>
        </p14:section>
      </p14:sectionLst>
    </p:ex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94660"/>
  </p:normalViewPr>
  <p:slideViewPr>
    <p:cSldViewPr snapToGrid="0" showGuides="1">
      <p:cViewPr varScale="1">
        <p:scale>
          <a:sx n="80" d="100"/>
          <a:sy n="80" d="100"/>
        </p:scale>
        <p:origin x="192" y="44"/>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弘樹 中村" userId="a025bb5ecfdc7ca2" providerId="LiveId" clId="{AC29752E-9633-413F-A998-E9529B1C9327}"/>
    <pc:docChg chg="undo custSel addSld delSld modSld sldOrd modMainMaster addSection delSection modSection">
      <pc:chgData name="弘樹 中村" userId="a025bb5ecfdc7ca2" providerId="LiveId" clId="{AC29752E-9633-413F-A998-E9529B1C9327}" dt="2026-09-22T06:52:24.613" v="29861" actId="18676"/>
      <pc:docMkLst>
        <pc:docMk/>
      </pc:docMkLst>
      <pc:sldChg chg="addSp delSp modSp new mod">
        <pc:chgData name="弘樹 中村" userId="a025bb5ecfdc7ca2" providerId="LiveId" clId="{AC29752E-9633-413F-A998-E9529B1C9327}" dt="2026-09-22T06:51:56.212" v="29857" actId="20577"/>
        <pc:sldMkLst>
          <pc:docMk/>
          <pc:sldMk cId="1592062063" sldId="256"/>
        </pc:sldMkLst>
        <pc:spChg chg="mod">
          <ac:chgData name="弘樹 中村" userId="a025bb5ecfdc7ca2" providerId="LiveId" clId="{AC29752E-9633-413F-A998-E9529B1C9327}" dt="2026-09-22T06:51:56.212" v="29857" actId="20577"/>
          <ac:spMkLst>
            <pc:docMk/>
            <pc:sldMk cId="1592062063" sldId="256"/>
            <ac:spMk id="5" creationId="{9F2902F8-F03B-98EE-0E63-39A5D1BB8DF8}"/>
          </ac:spMkLst>
        </pc:spChg>
      </pc:sldChg>
      <pc:sldChg chg="del">
        <pc:chgData name="弘樹 中村" userId="a025bb5ecfdc7ca2" providerId="LiveId" clId="{AC29752E-9633-413F-A998-E9529B1C9327}" dt="2026-09-22T06:52:12.188" v="29858" actId="18676"/>
        <pc:sldMkLst>
          <pc:docMk/>
          <pc:sldMk cId="3240422563" sldId="263"/>
        </pc:sldMkLst>
      </pc:sldChg>
      <pc:sldChg chg="del">
        <pc:chgData name="弘樹 中村" userId="a025bb5ecfdc7ca2" providerId="LiveId" clId="{AC29752E-9633-413F-A998-E9529B1C9327}" dt="2026-09-22T06:52:12.188" v="29858" actId="18676"/>
        <pc:sldMkLst>
          <pc:docMk/>
          <pc:sldMk cId="2788948832" sldId="265"/>
        </pc:sldMkLst>
      </pc:sldChg>
      <pc:sldChg chg="del">
        <pc:chgData name="弘樹 中村" userId="a025bb5ecfdc7ca2" providerId="LiveId" clId="{AC29752E-9633-413F-A998-E9529B1C9327}" dt="2026-09-22T06:52:12.188" v="29858" actId="18676"/>
        <pc:sldMkLst>
          <pc:docMk/>
          <pc:sldMk cId="635912571" sldId="266"/>
        </pc:sldMkLst>
      </pc:sldChg>
      <pc:sldChg chg="del">
        <pc:chgData name="弘樹 中村" userId="a025bb5ecfdc7ca2" providerId="LiveId" clId="{AC29752E-9633-413F-A998-E9529B1C9327}" dt="2026-09-22T06:52:15.364" v="29859" actId="18676"/>
        <pc:sldMkLst>
          <pc:docMk/>
          <pc:sldMk cId="1155084605" sldId="267"/>
        </pc:sldMkLst>
      </pc:sldChg>
      <pc:sldChg chg="del">
        <pc:chgData name="弘樹 中村" userId="a025bb5ecfdc7ca2" providerId="LiveId" clId="{AC29752E-9633-413F-A998-E9529B1C9327}" dt="2026-09-22T06:52:24.613" v="29861" actId="18676"/>
        <pc:sldMkLst>
          <pc:docMk/>
          <pc:sldMk cId="2752387135" sldId="268"/>
        </pc:sldMkLst>
      </pc:sldChg>
      <pc:sldChg chg="del">
        <pc:chgData name="弘樹 中村" userId="a025bb5ecfdc7ca2" providerId="LiveId" clId="{AC29752E-9633-413F-A998-E9529B1C9327}" dt="2026-09-22T06:52:24.613" v="29861" actId="18676"/>
        <pc:sldMkLst>
          <pc:docMk/>
          <pc:sldMk cId="2781909537" sldId="269"/>
        </pc:sldMkLst>
      </pc:sldChg>
      <pc:sldChg chg="del">
        <pc:chgData name="弘樹 中村" userId="a025bb5ecfdc7ca2" providerId="LiveId" clId="{AC29752E-9633-413F-A998-E9529B1C9327}" dt="2026-09-22T06:52:18.612" v="29860" actId="18676"/>
        <pc:sldMkLst>
          <pc:docMk/>
          <pc:sldMk cId="3714738854" sldId="270"/>
        </pc:sldMkLst>
      </pc:sldChg>
      <pc:sldChg chg="del">
        <pc:chgData name="弘樹 中村" userId="a025bb5ecfdc7ca2" providerId="LiveId" clId="{AC29752E-9633-413F-A998-E9529B1C9327}" dt="2026-09-22T06:52:24.613" v="29861" actId="18676"/>
        <pc:sldMkLst>
          <pc:docMk/>
          <pc:sldMk cId="3280532236"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8816E2-D3A0-4421-A891-A455C82DC6AF}" type="datetimeFigureOut">
              <a:rPr kumimoji="1" lang="ja-JP" altLang="en-US" smtClean="0"/>
              <a:t>2026/9/22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320514-8564-4880-B1AF-DBFF35336FCA}" type="slidenum">
              <a:rPr kumimoji="1" lang="ja-JP" altLang="en-US" smtClean="0"/>
              <a:t>‹#›</a:t>
            </a:fld>
            <a:endParaRPr kumimoji="1" lang="ja-JP" altLang="en-US"/>
          </a:p>
        </p:txBody>
      </p:sp>
    </p:spTree>
    <p:extLst>
      <p:ext uri="{BB962C8B-B14F-4D97-AF65-F5344CB8AC3E}">
        <p14:creationId xmlns:p14="http://schemas.microsoft.com/office/powerpoint/2010/main" val="419116436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1320514-8564-4880-B1AF-DBFF35336FCA}" type="slidenum">
              <a:rPr kumimoji="1" lang="ja-JP" altLang="en-US" smtClean="0"/>
              <a:t>16</a:t>
            </a:fld>
            <a:endParaRPr kumimoji="1" lang="ja-JP" altLang="en-US"/>
          </a:p>
        </p:txBody>
      </p:sp>
    </p:spTree>
    <p:extLst>
      <p:ext uri="{BB962C8B-B14F-4D97-AF65-F5344CB8AC3E}">
        <p14:creationId xmlns:p14="http://schemas.microsoft.com/office/powerpoint/2010/main" val="288533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C76CB974-6965-3B05-22C5-D7ABD8B670B8}"/>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B95E1E01-BBD1-8D09-DD42-3B2674861F1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481568C-6E3F-DDC4-62FD-3B38E97BC86D}"/>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
        <p:nvSpPr>
          <p:cNvPr id="19" name="タイトル プレースホルダー 1">
            <a:extLst>
              <a:ext uri="{FF2B5EF4-FFF2-40B4-BE49-F238E27FC236}">
                <a16:creationId xmlns:a16="http://schemas.microsoft.com/office/drawing/2014/main" id="{F5448BF9-421D-682B-97F0-3386334EF2B4}"/>
              </a:ext>
            </a:extLst>
          </p:cNvPr>
          <p:cNvSpPr txBox="1">
            <a:spLocks/>
          </p:cNvSpPr>
          <p:nvPr userDrawn="1"/>
        </p:nvSpPr>
        <p:spPr>
          <a:xfrm>
            <a:off x="355600" y="981078"/>
            <a:ext cx="11506200" cy="6064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endParaRPr lang="ja-JP" altLang="en-US" dirty="0"/>
          </a:p>
        </p:txBody>
      </p:sp>
    </p:spTree>
    <p:extLst>
      <p:ext uri="{BB962C8B-B14F-4D97-AF65-F5344CB8AC3E}">
        <p14:creationId xmlns:p14="http://schemas.microsoft.com/office/powerpoint/2010/main" val="15227181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EEE96987-1474-034D-4B91-DA1366DBAADC}"/>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023E1FDD-ACA4-AA64-0A41-20B5F41830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4EF6310-7943-3617-498B-10AAE18E6D94}"/>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1573038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7AD362-CCE4-0138-34C0-74808599B59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F52A03E-16D7-EB7B-A856-B6C414702E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FB607D9-BE18-1CA4-2567-38A4D665985B}"/>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12D6161D-3BA0-12A7-EDDD-84AF39D535A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109196-30B9-3BA9-7378-2B646B148D46}"/>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408524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5E107B-94EB-CA6A-9434-B517B78814C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091A68D-D644-05F1-EC2B-B435C07973F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6769D75-4D40-B663-63B0-062F751EBE5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E6C5320-846E-46F4-F02F-89FEE981C5BF}"/>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6" name="フッター プレースホルダー 5">
            <a:extLst>
              <a:ext uri="{FF2B5EF4-FFF2-40B4-BE49-F238E27FC236}">
                <a16:creationId xmlns:a16="http://schemas.microsoft.com/office/drawing/2014/main" id="{BBB90F69-439E-906B-F6F2-6A175E62A75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0D91C6E-E0CA-6F0E-E004-87E58414DFAD}"/>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66793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51B5D0-3CE0-0809-87A5-67D6A638AF1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AE82A07-D943-14BC-1DA5-7577411A46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F0DF91F-8EAE-3475-4135-E993288EE6A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C246EA62-CEEC-99A6-4959-1D70A6BD2E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53D2A83-8D3E-F815-6FB1-28DB99F6E8D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5F72EAB-3580-B0A9-91CC-117290E04114}"/>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8" name="フッター プレースホルダー 7">
            <a:extLst>
              <a:ext uri="{FF2B5EF4-FFF2-40B4-BE49-F238E27FC236}">
                <a16:creationId xmlns:a16="http://schemas.microsoft.com/office/drawing/2014/main" id="{F572CF3B-0559-E47E-AFDF-D07C78B9C9A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03BBED3-5D9B-D2D0-0CB8-B479204C9207}"/>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189422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C7FFFF-1F39-F244-C20B-95FFFA0D5B7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69DAD91-03CE-A711-F26A-D2035B0034DC}"/>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4" name="フッター プレースホルダー 3">
            <a:extLst>
              <a:ext uri="{FF2B5EF4-FFF2-40B4-BE49-F238E27FC236}">
                <a16:creationId xmlns:a16="http://schemas.microsoft.com/office/drawing/2014/main" id="{A0176CE3-533A-EA58-4674-9C7B7CC91DB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B837AAD-12CA-E083-138A-4A44672925CC}"/>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70339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FF35215-C192-AB02-9DBE-F70BF57433DB}"/>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3" name="フッター プレースホルダー 2">
            <a:extLst>
              <a:ext uri="{FF2B5EF4-FFF2-40B4-BE49-F238E27FC236}">
                <a16:creationId xmlns:a16="http://schemas.microsoft.com/office/drawing/2014/main" id="{C44F8E8A-76A5-72AE-9C33-55F23040A58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D228C80-18E8-EB4A-6D72-36233AE4316C}"/>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506233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64395B-9EC9-F820-B6CF-BDC7B0610C6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4254441-A095-775A-11FA-4ECA6B866C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252438A-77AE-9D95-5ADE-1810E06147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6C934D5-B163-194D-5902-936123785AC2}"/>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6" name="フッター プレースホルダー 5">
            <a:extLst>
              <a:ext uri="{FF2B5EF4-FFF2-40B4-BE49-F238E27FC236}">
                <a16:creationId xmlns:a16="http://schemas.microsoft.com/office/drawing/2014/main" id="{4DEB49EA-18A0-8C85-FC81-E4742813763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BE151B-A72F-FEE7-80E0-78907CC6F9E8}"/>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644459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076550-EE61-3F6E-6846-A405F874119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1C75BD5-9055-E6D2-9EB8-9FA6CC8B91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E7205C2-0F37-154A-EF89-87DA9DD2B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220F01C-9045-C0AC-2C65-9645DD15229A}"/>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6" name="フッター プレースホルダー 5">
            <a:extLst>
              <a:ext uri="{FF2B5EF4-FFF2-40B4-BE49-F238E27FC236}">
                <a16:creationId xmlns:a16="http://schemas.microsoft.com/office/drawing/2014/main" id="{DE296708-5A4D-F288-6864-C5C6AFA999E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73568F7-0F73-AF47-9559-56364FCCA916}"/>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449097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50A875-B467-4AE7-8320-8366CE103E4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7AE5161-F73D-6300-C77B-00B9080629A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0AD1774-5BD4-022E-280B-F07918F2BB47}"/>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21FDD860-79BF-83F7-41CE-6BE0EEAE54C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D3EE30-B4B0-6F12-CBEE-7ADE4718CD43}"/>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77533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129DAA8-8FD8-C24F-2BA1-E47ADE21F87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AA1B9A7-0AB5-59E1-EEE0-A426399EA9A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346EDEC-6654-0C01-8323-D872787FC87B}"/>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6AAA2A5E-461D-D277-74B4-F7DAA98764A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3CF1EB9-728C-F7DD-4813-E76D8E66728F}"/>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169963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3C2996E-F3C1-B5E7-8B83-027DA8B966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B43E46F3-7EDF-6B23-ED04-7DBB49F401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9AA5DB-07EC-165B-50EE-33369E5761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D64261CF-F9A8-A78C-E381-D8BAF390D5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9DE0BC9-A1C9-5BBF-44A0-F664E1A5C4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315796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DDBC31ED-067E-28C0-BF64-3410795368BC}"/>
              </a:ext>
            </a:extLst>
          </p:cNvPr>
          <p:cNvGrpSpPr/>
          <p:nvPr/>
        </p:nvGrpSpPr>
        <p:grpSpPr>
          <a:xfrm>
            <a:off x="1053170" y="1257300"/>
            <a:ext cx="7925730" cy="4296318"/>
            <a:chOff x="1103970" y="596900"/>
            <a:chExt cx="7176430" cy="4131218"/>
          </a:xfrm>
        </p:grpSpPr>
        <p:sp>
          <p:nvSpPr>
            <p:cNvPr id="5" name="正方形/長方形 4">
              <a:extLst>
                <a:ext uri="{FF2B5EF4-FFF2-40B4-BE49-F238E27FC236}">
                  <a16:creationId xmlns:a16="http://schemas.microsoft.com/office/drawing/2014/main" id="{9F2902F8-F03B-98EE-0E63-39A5D1BB8DF8}"/>
                </a:ext>
              </a:extLst>
            </p:cNvPr>
            <p:cNvSpPr/>
            <p:nvPr userDrawn="1"/>
          </p:nvSpPr>
          <p:spPr>
            <a:xfrm>
              <a:off x="1103970" y="2018371"/>
              <a:ext cx="7176430" cy="270974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kumimoji="1" lang="en-US" altLang="ja-JP" sz="2400" dirty="0">
                  <a:solidFill>
                    <a:schemeClr val="tx1">
                      <a:lumMod val="75000"/>
                    </a:schemeClr>
                  </a:solidFill>
                </a:rPr>
                <a:t>IT</a:t>
              </a:r>
              <a:r>
                <a:rPr kumimoji="1" lang="ja-JP" altLang="en-US" sz="2400" dirty="0">
                  <a:solidFill>
                    <a:schemeClr val="tx1">
                      <a:lumMod val="75000"/>
                    </a:schemeClr>
                  </a:solidFill>
                </a:rPr>
                <a:t>界隈向け</a:t>
              </a:r>
              <a:endParaRPr kumimoji="1" lang="en-US" altLang="ja-JP" sz="2400" dirty="0">
                <a:solidFill>
                  <a:schemeClr val="tx1">
                    <a:lumMod val="75000"/>
                  </a:schemeClr>
                </a:solidFill>
              </a:endParaRPr>
            </a:p>
            <a:p>
              <a:pPr algn="l"/>
              <a:r>
                <a:rPr kumimoji="1" lang="en-US" altLang="ja-JP" sz="3600" b="1" dirty="0">
                  <a:solidFill>
                    <a:schemeClr val="tx1">
                      <a:lumMod val="75000"/>
                    </a:schemeClr>
                  </a:solidFill>
                </a:rPr>
                <a:t>DB</a:t>
              </a:r>
              <a:r>
                <a:rPr kumimoji="1" lang="ja-JP" altLang="en-US" sz="3600" b="1" dirty="0">
                  <a:solidFill>
                    <a:schemeClr val="tx1">
                      <a:lumMod val="75000"/>
                    </a:schemeClr>
                  </a:solidFill>
                </a:rPr>
                <a:t>説明 </a:t>
              </a:r>
              <a:endParaRPr kumimoji="1" lang="en-US" altLang="ja-JP" sz="3600" b="1" dirty="0">
                <a:solidFill>
                  <a:schemeClr val="tx1">
                    <a:lumMod val="75000"/>
                  </a:schemeClr>
                </a:solidFill>
              </a:endParaRPr>
            </a:p>
            <a:p>
              <a:pPr algn="l"/>
              <a:r>
                <a:rPr lang="ja-JP" altLang="en-US" sz="2400" dirty="0">
                  <a:solidFill>
                    <a:schemeClr val="tx1">
                      <a:lumMod val="75000"/>
                    </a:schemeClr>
                  </a:solidFill>
                </a:rPr>
                <a:t>中村　弘樹</a:t>
              </a:r>
              <a:endParaRPr kumimoji="1" lang="en-US" altLang="ja-JP" sz="2400" b="0" dirty="0">
                <a:solidFill>
                  <a:schemeClr val="tx1">
                    <a:lumMod val="75000"/>
                  </a:schemeClr>
                </a:solidFill>
              </a:endParaRPr>
            </a:p>
            <a:p>
              <a:pPr algn="l"/>
              <a:r>
                <a:rPr kumimoji="1" lang="en-US" altLang="ja-JP" sz="2400" b="0" dirty="0">
                  <a:solidFill>
                    <a:schemeClr val="tx1">
                      <a:lumMod val="75000"/>
                    </a:schemeClr>
                  </a:solidFill>
                </a:rPr>
                <a:t>2025</a:t>
              </a:r>
              <a:r>
                <a:rPr kumimoji="1" lang="ja-JP" altLang="en-US" sz="2400" b="0" dirty="0">
                  <a:solidFill>
                    <a:schemeClr val="tx1">
                      <a:lumMod val="75000"/>
                    </a:schemeClr>
                  </a:solidFill>
                </a:rPr>
                <a:t>年</a:t>
              </a:r>
              <a:r>
                <a:rPr lang="en-US" altLang="ja-JP" sz="2400" dirty="0">
                  <a:solidFill>
                    <a:schemeClr val="tx1">
                      <a:lumMod val="75000"/>
                    </a:schemeClr>
                  </a:solidFill>
                </a:rPr>
                <a:t>11</a:t>
              </a:r>
              <a:r>
                <a:rPr kumimoji="1" lang="ja-JP" altLang="en-US" sz="2400" b="0" dirty="0">
                  <a:solidFill>
                    <a:schemeClr val="tx1">
                      <a:lumMod val="75000"/>
                    </a:schemeClr>
                  </a:solidFill>
                </a:rPr>
                <a:t>月</a:t>
              </a:r>
              <a:r>
                <a:rPr kumimoji="1" lang="en-US" altLang="ja-JP" sz="2400" b="0" dirty="0">
                  <a:solidFill>
                    <a:schemeClr val="tx1">
                      <a:lumMod val="75000"/>
                    </a:schemeClr>
                  </a:solidFill>
                </a:rPr>
                <a:t>22</a:t>
              </a:r>
              <a:r>
                <a:rPr kumimoji="1" lang="ja-JP" altLang="en-US" sz="2400" b="0" dirty="0">
                  <a:solidFill>
                    <a:schemeClr val="tx1">
                      <a:lumMod val="75000"/>
                    </a:schemeClr>
                  </a:solidFill>
                </a:rPr>
                <a:t>日</a:t>
              </a:r>
            </a:p>
          </p:txBody>
        </p:sp>
        <p:sp>
          <p:nvSpPr>
            <p:cNvPr id="6" name="二等辺三角形 5">
              <a:extLst>
                <a:ext uri="{FF2B5EF4-FFF2-40B4-BE49-F238E27FC236}">
                  <a16:creationId xmlns:a16="http://schemas.microsoft.com/office/drawing/2014/main" id="{40983595-4389-6DBC-4C66-952AD4CFA6D5}"/>
                </a:ext>
              </a:extLst>
            </p:cNvPr>
            <p:cNvSpPr/>
            <p:nvPr userDrawn="1"/>
          </p:nvSpPr>
          <p:spPr>
            <a:xfrm>
              <a:off x="1104899" y="596900"/>
              <a:ext cx="7175483" cy="1422400"/>
            </a:xfrm>
            <a:prstGeom prst="triangle">
              <a:avLst>
                <a:gd name="adj" fmla="val 100000"/>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p>
          </p:txBody>
        </p:sp>
      </p:grpSp>
    </p:spTree>
    <p:extLst>
      <p:ext uri="{BB962C8B-B14F-4D97-AF65-F5344CB8AC3E}">
        <p14:creationId xmlns:p14="http://schemas.microsoft.com/office/powerpoint/2010/main" val="1592062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3A6939-426B-4FB5-1811-E120EE5ED799}"/>
              </a:ext>
            </a:extLst>
          </p:cNvPr>
          <p:cNvSpPr>
            <a:spLocks noGrp="1"/>
          </p:cNvSpPr>
          <p:nvPr>
            <p:ph type="title" idx="4294967295"/>
          </p:nvPr>
        </p:nvSpPr>
        <p:spPr>
          <a:xfrm>
            <a:off x="336389" y="522414"/>
            <a:ext cx="11517355" cy="600075"/>
          </a:xfrm>
        </p:spPr>
        <p:txBody>
          <a:bodyPr anchor="t" anchorCtr="0">
            <a:normAutofit/>
          </a:bodyPr>
          <a:lstStyle/>
          <a:p>
            <a:r>
              <a:rPr kumimoji="1" lang="ja-JP" altLang="en-US" sz="3600" dirty="0"/>
              <a:t>目次　</a:t>
            </a:r>
            <a:r>
              <a:rPr kumimoji="1" lang="en-US" altLang="ja-JP" sz="3600" dirty="0"/>
              <a:t>Vol1</a:t>
            </a:r>
            <a:endParaRPr kumimoji="1" lang="ja-JP" altLang="en-US" sz="3600" dirty="0"/>
          </a:p>
        </p:txBody>
      </p:sp>
      <p:graphicFrame>
        <p:nvGraphicFramePr>
          <p:cNvPr id="3" name="表 2">
            <a:extLst>
              <a:ext uri="{FF2B5EF4-FFF2-40B4-BE49-F238E27FC236}">
                <a16:creationId xmlns:a16="http://schemas.microsoft.com/office/drawing/2014/main" id="{AD0D4A61-9C4A-4BF6-85EA-EC962F3F3BFC}"/>
              </a:ext>
            </a:extLst>
          </p:cNvPr>
          <p:cNvGraphicFramePr>
            <a:graphicFrameLocks noGrp="1"/>
          </p:cNvGraphicFramePr>
          <p:nvPr>
            <p:extLst>
              <p:ext uri="{D42A27DB-BD31-4B8C-83A1-F6EECF244321}">
                <p14:modId xmlns:p14="http://schemas.microsoft.com/office/powerpoint/2010/main" val="2731167282"/>
              </p:ext>
            </p:extLst>
          </p:nvPr>
        </p:nvGraphicFramePr>
        <p:xfrm>
          <a:off x="323687" y="1276608"/>
          <a:ext cx="11530057" cy="4763636"/>
        </p:xfrm>
        <a:graphic>
          <a:graphicData uri="http://schemas.openxmlformats.org/drawingml/2006/table">
            <a:tbl>
              <a:tblPr firstRow="1" bandRow="1">
                <a:tableStyleId>{F5AB1C69-6EDB-4FF4-983F-18BD219EF322}</a:tableStyleId>
              </a:tblPr>
              <a:tblGrid>
                <a:gridCol w="743113">
                  <a:extLst>
                    <a:ext uri="{9D8B030D-6E8A-4147-A177-3AD203B41FA5}">
                      <a16:colId xmlns:a16="http://schemas.microsoft.com/office/drawing/2014/main" val="851819213"/>
                    </a:ext>
                  </a:extLst>
                </a:gridCol>
                <a:gridCol w="2726888">
                  <a:extLst>
                    <a:ext uri="{9D8B030D-6E8A-4147-A177-3AD203B41FA5}">
                      <a16:colId xmlns:a16="http://schemas.microsoft.com/office/drawing/2014/main" val="618744104"/>
                    </a:ext>
                  </a:extLst>
                </a:gridCol>
                <a:gridCol w="5177542">
                  <a:extLst>
                    <a:ext uri="{9D8B030D-6E8A-4147-A177-3AD203B41FA5}">
                      <a16:colId xmlns:a16="http://schemas.microsoft.com/office/drawing/2014/main" val="952234859"/>
                    </a:ext>
                  </a:extLst>
                </a:gridCol>
                <a:gridCol w="2882514">
                  <a:extLst>
                    <a:ext uri="{9D8B030D-6E8A-4147-A177-3AD203B41FA5}">
                      <a16:colId xmlns:a16="http://schemas.microsoft.com/office/drawing/2014/main" val="2162630281"/>
                    </a:ext>
                  </a:extLst>
                </a:gridCol>
              </a:tblGrid>
              <a:tr h="507298">
                <a:tc>
                  <a:txBody>
                    <a:bodyPr/>
                    <a:lstStyle/>
                    <a:p>
                      <a:r>
                        <a:rPr kumimoji="1" lang="ja-JP" altLang="en-US" dirty="0"/>
                        <a:t>項番</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タイトル</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概要</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備考</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4021886788"/>
                  </a:ext>
                </a:extLst>
              </a:tr>
              <a:tr h="507298">
                <a:tc>
                  <a:txBody>
                    <a:bodyPr/>
                    <a:lstStyle/>
                    <a:p>
                      <a:r>
                        <a:rPr kumimoji="1" lang="en-US" altLang="ja-JP" dirty="0"/>
                        <a:t>1</a:t>
                      </a:r>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DB</a:t>
                      </a:r>
                      <a:r>
                        <a:rPr kumimoji="1" lang="ja-JP" altLang="en-US" dirty="0"/>
                        <a:t>とはなにか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ja-JP" altLang="en-US" dirty="0"/>
                        <a:t>前提知識となる</a:t>
                      </a:r>
                      <a:r>
                        <a:rPr kumimoji="1" lang="en-US" altLang="ja-JP" dirty="0"/>
                        <a:t>DB</a:t>
                      </a:r>
                      <a:r>
                        <a:rPr kumimoji="1" lang="ja-JP" altLang="en-US" dirty="0"/>
                        <a:t>（データベース）についての説明</a:t>
                      </a:r>
                      <a:endParaRPr kumimoji="1" lang="en-US" altLang="ja-JP" dirty="0"/>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5794718"/>
                  </a:ext>
                </a:extLst>
              </a:tr>
              <a:tr h="507298">
                <a:tc>
                  <a:txBody>
                    <a:bodyPr/>
                    <a:lstStyle/>
                    <a:p>
                      <a:r>
                        <a:rPr kumimoji="1" lang="en-US" altLang="ja-JP" dirty="0"/>
                        <a:t>2</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SQL</a:t>
                      </a:r>
                      <a:r>
                        <a:rPr kumimoji="1" lang="ja-JP" altLang="en-US" dirty="0"/>
                        <a:t>となにか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dirty="0"/>
                        <a:t>前提知識となる</a:t>
                      </a:r>
                      <a:r>
                        <a:rPr kumimoji="1" lang="en-US" altLang="ja-JP" dirty="0"/>
                        <a:t>SQL</a:t>
                      </a:r>
                      <a:r>
                        <a:rPr kumimoji="1" lang="ja-JP" altLang="en-US" dirty="0"/>
                        <a:t>（</a:t>
                      </a:r>
                      <a:r>
                        <a:rPr kumimoji="1" lang="en-US" altLang="ja-JP" dirty="0"/>
                        <a:t>Structured Query Language</a:t>
                      </a:r>
                      <a:r>
                        <a:rPr kumimoji="1" lang="ja-JP" altLang="en-US" dirty="0"/>
                        <a:t>）についての説明</a:t>
                      </a:r>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7024123"/>
                  </a:ext>
                </a:extLst>
              </a:tr>
              <a:tr h="507298">
                <a:tc>
                  <a:txBody>
                    <a:bodyPr/>
                    <a:lstStyle/>
                    <a:p>
                      <a:r>
                        <a:rPr kumimoji="1" lang="en-US" altLang="ja-JP" dirty="0"/>
                        <a:t>3</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SELECT</a:t>
                      </a:r>
                      <a:r>
                        <a:rPr kumimoji="1" lang="ja-JP" altLang="en-US" dirty="0"/>
                        <a:t>の問題点</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en-US" altLang="ja-JP" dirty="0"/>
                        <a:t>SQL</a:t>
                      </a:r>
                      <a:r>
                        <a:rPr kumimoji="1" lang="ja-JP" altLang="en-US" dirty="0"/>
                        <a:t>のうち</a:t>
                      </a:r>
                      <a:r>
                        <a:rPr kumimoji="1" lang="en-US" altLang="ja-JP" dirty="0"/>
                        <a:t>SELECT</a:t>
                      </a:r>
                      <a:r>
                        <a:rPr kumimoji="1" lang="ja-JP" altLang="en-US" dirty="0"/>
                        <a:t>操作で発生する問題について説明</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98956711"/>
                  </a:ext>
                </a:extLst>
              </a:tr>
              <a:tr h="507298">
                <a:tc>
                  <a:txBody>
                    <a:bodyPr/>
                    <a:lstStyle/>
                    <a:p>
                      <a:r>
                        <a:rPr kumimoji="1" lang="en-US" altLang="ja-JP" dirty="0"/>
                        <a:t>4</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問題解決手段としての</a:t>
                      </a:r>
                      <a:r>
                        <a:rPr kumimoji="1" lang="en-US" altLang="ja-JP" dirty="0"/>
                        <a:t>Index</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en-US" altLang="ja-JP" dirty="0"/>
                        <a:t>Index</a:t>
                      </a:r>
                      <a:r>
                        <a:rPr kumimoji="1" lang="ja-JP" altLang="en-US" dirty="0"/>
                        <a:t>の概要について説明</a:t>
                      </a:r>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2696075"/>
                  </a:ext>
                </a:extLst>
              </a:tr>
              <a:tr h="569819">
                <a:tc>
                  <a:txBody>
                    <a:bodyPr/>
                    <a:lstStyle/>
                    <a:p>
                      <a:r>
                        <a:rPr kumimoji="1" lang="en-US" altLang="ja-JP" dirty="0"/>
                        <a:t>5</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Index</a:t>
                      </a:r>
                      <a:r>
                        <a:rPr kumimoji="1" lang="ja-JP" altLang="en-US" dirty="0"/>
                        <a:t>の仕組み</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lgn="l">
                        <a:buFont typeface="Arial" panose="020B0604020202020204" pitchFamily="34" charset="0"/>
                        <a:buChar char="•"/>
                      </a:pPr>
                      <a:r>
                        <a:rPr kumimoji="1" lang="en-US" altLang="ja-JP" dirty="0"/>
                        <a:t>Index</a:t>
                      </a:r>
                      <a:r>
                        <a:rPr kumimoji="1" lang="ja-JP" altLang="en-US" dirty="0"/>
                        <a:t>によってどのように</a:t>
                      </a:r>
                      <a:r>
                        <a:rPr kumimoji="1" lang="en-US" altLang="ja-JP" dirty="0"/>
                        <a:t>SELECT</a:t>
                      </a:r>
                      <a:r>
                        <a:rPr kumimoji="1" lang="ja-JP" altLang="en-US" dirty="0"/>
                        <a:t>処理の速度を上げるのかの説明</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2554559"/>
                  </a:ext>
                </a:extLst>
              </a:tr>
              <a:tr h="507298">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26560638"/>
                  </a:ext>
                </a:extLst>
              </a:tr>
            </a:tbl>
          </a:graphicData>
        </a:graphic>
      </p:graphicFrame>
    </p:spTree>
    <p:extLst>
      <p:ext uri="{BB962C8B-B14F-4D97-AF65-F5344CB8AC3E}">
        <p14:creationId xmlns:p14="http://schemas.microsoft.com/office/powerpoint/2010/main" val="2332080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481C5-0120-5318-CF1C-ACAE7ED1F37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FBFC2DA-927E-D1CD-F0E3-1422E4AF1F7D}"/>
              </a:ext>
            </a:extLst>
          </p:cNvPr>
          <p:cNvSpPr>
            <a:spLocks noGrp="1"/>
          </p:cNvSpPr>
          <p:nvPr>
            <p:ph type="title" idx="4294967295"/>
          </p:nvPr>
        </p:nvSpPr>
        <p:spPr>
          <a:xfrm>
            <a:off x="336389" y="522414"/>
            <a:ext cx="11517355" cy="600075"/>
          </a:xfrm>
        </p:spPr>
        <p:txBody>
          <a:bodyPr anchor="t" anchorCtr="0">
            <a:normAutofit/>
          </a:bodyPr>
          <a:lstStyle/>
          <a:p>
            <a:r>
              <a:rPr kumimoji="1" lang="ja-JP" altLang="en-US" sz="3600" dirty="0"/>
              <a:t>目次　</a:t>
            </a:r>
            <a:r>
              <a:rPr kumimoji="1" lang="en-US" altLang="ja-JP" sz="3600" dirty="0"/>
              <a:t>Vol2</a:t>
            </a:r>
            <a:endParaRPr kumimoji="1" lang="ja-JP" altLang="en-US" sz="3600" dirty="0"/>
          </a:p>
        </p:txBody>
      </p:sp>
      <p:graphicFrame>
        <p:nvGraphicFramePr>
          <p:cNvPr id="3" name="表 2">
            <a:extLst>
              <a:ext uri="{FF2B5EF4-FFF2-40B4-BE49-F238E27FC236}">
                <a16:creationId xmlns:a16="http://schemas.microsoft.com/office/drawing/2014/main" id="{A0921C1E-CC72-922D-76C3-8995EF6C0C5F}"/>
              </a:ext>
            </a:extLst>
          </p:cNvPr>
          <p:cNvGraphicFramePr>
            <a:graphicFrameLocks noGrp="1"/>
          </p:cNvGraphicFramePr>
          <p:nvPr>
            <p:extLst>
              <p:ext uri="{D42A27DB-BD31-4B8C-83A1-F6EECF244321}">
                <p14:modId xmlns:p14="http://schemas.microsoft.com/office/powerpoint/2010/main" val="2636493550"/>
              </p:ext>
            </p:extLst>
          </p:nvPr>
        </p:nvGraphicFramePr>
        <p:xfrm>
          <a:off x="323687" y="1276608"/>
          <a:ext cx="11530057" cy="4427811"/>
        </p:xfrm>
        <a:graphic>
          <a:graphicData uri="http://schemas.openxmlformats.org/drawingml/2006/table">
            <a:tbl>
              <a:tblPr firstRow="1" bandRow="1">
                <a:tableStyleId>{F5AB1C69-6EDB-4FF4-983F-18BD219EF322}</a:tableStyleId>
              </a:tblPr>
              <a:tblGrid>
                <a:gridCol w="743113">
                  <a:extLst>
                    <a:ext uri="{9D8B030D-6E8A-4147-A177-3AD203B41FA5}">
                      <a16:colId xmlns:a16="http://schemas.microsoft.com/office/drawing/2014/main" val="851819213"/>
                    </a:ext>
                  </a:extLst>
                </a:gridCol>
                <a:gridCol w="2726888">
                  <a:extLst>
                    <a:ext uri="{9D8B030D-6E8A-4147-A177-3AD203B41FA5}">
                      <a16:colId xmlns:a16="http://schemas.microsoft.com/office/drawing/2014/main" val="618744104"/>
                    </a:ext>
                  </a:extLst>
                </a:gridCol>
                <a:gridCol w="5177542">
                  <a:extLst>
                    <a:ext uri="{9D8B030D-6E8A-4147-A177-3AD203B41FA5}">
                      <a16:colId xmlns:a16="http://schemas.microsoft.com/office/drawing/2014/main" val="952234859"/>
                    </a:ext>
                  </a:extLst>
                </a:gridCol>
                <a:gridCol w="2882514">
                  <a:extLst>
                    <a:ext uri="{9D8B030D-6E8A-4147-A177-3AD203B41FA5}">
                      <a16:colId xmlns:a16="http://schemas.microsoft.com/office/drawing/2014/main" val="2162630281"/>
                    </a:ext>
                  </a:extLst>
                </a:gridCol>
              </a:tblGrid>
              <a:tr h="507298">
                <a:tc>
                  <a:txBody>
                    <a:bodyPr/>
                    <a:lstStyle/>
                    <a:p>
                      <a:r>
                        <a:rPr kumimoji="1" lang="ja-JP" altLang="en-US" dirty="0"/>
                        <a:t>項番</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タイトル</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概要</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備考</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4021886788"/>
                  </a:ext>
                </a:extLst>
              </a:tr>
              <a:tr h="507298">
                <a:tc>
                  <a:txBody>
                    <a:bodyPr/>
                    <a:lstStyle/>
                    <a:p>
                      <a:r>
                        <a:rPr kumimoji="1" lang="en-US" altLang="ja-JP" dirty="0"/>
                        <a:t>1</a:t>
                      </a:r>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DB</a:t>
                      </a:r>
                      <a:r>
                        <a:rPr kumimoji="1" lang="ja-JP" altLang="en-US" dirty="0"/>
                        <a:t>設計がなぜおもしろいか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en-US" altLang="ja-JP" dirty="0"/>
                        <a:t>DB</a:t>
                      </a:r>
                      <a:r>
                        <a:rPr kumimoji="1" lang="ja-JP" altLang="en-US" dirty="0"/>
                        <a:t>（データベース）設計について個人的に面白いと思った理由を紹介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5794718"/>
                  </a:ext>
                </a:extLst>
              </a:tr>
              <a:tr h="507298">
                <a:tc>
                  <a:txBody>
                    <a:bodyPr/>
                    <a:lstStyle/>
                    <a:p>
                      <a:r>
                        <a:rPr kumimoji="1" lang="en-US" altLang="ja-JP" dirty="0"/>
                        <a:t>2</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「集合」としてのテーブル</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dirty="0"/>
                        <a:t>SQL</a:t>
                      </a:r>
                      <a:r>
                        <a:rPr kumimoji="1" lang="ja-JP" altLang="en-US" dirty="0"/>
                        <a:t>（</a:t>
                      </a:r>
                      <a:r>
                        <a:rPr kumimoji="1" lang="en-US" altLang="ja-JP" dirty="0"/>
                        <a:t>Structured Query Language</a:t>
                      </a:r>
                      <a:r>
                        <a:rPr kumimoji="1" lang="ja-JP" altLang="en-US" dirty="0"/>
                        <a:t>）特に</a:t>
                      </a:r>
                      <a:r>
                        <a:rPr kumimoji="1" lang="en-US" altLang="ja-JP" dirty="0"/>
                        <a:t>SELECT</a:t>
                      </a:r>
                      <a:r>
                        <a:rPr kumimoji="1" lang="ja-JP" altLang="en-US" dirty="0"/>
                        <a:t>文は「ベン図」のイメージを掴むことが</a:t>
                      </a:r>
                      <a:br>
                        <a:rPr kumimoji="1" lang="en-US" altLang="ja-JP" dirty="0"/>
                      </a:br>
                      <a:r>
                        <a:rPr kumimoji="1" lang="ja-JP" altLang="en-US" dirty="0"/>
                        <a:t>ポイント</a:t>
                      </a:r>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7024123"/>
                  </a:ext>
                </a:extLst>
              </a:tr>
              <a:tr h="507298">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98956711"/>
                  </a:ext>
                </a:extLst>
              </a:tr>
              <a:tr h="507298">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2696075"/>
                  </a:ext>
                </a:extLst>
              </a:tr>
              <a:tr h="569819">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lgn="l">
                        <a:buFont typeface="Arial" panose="020B0604020202020204" pitchFamily="34" charset="0"/>
                        <a:buChar char="•"/>
                      </a:pP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2554559"/>
                  </a:ext>
                </a:extLst>
              </a:tr>
              <a:tr h="507298">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26560638"/>
                  </a:ext>
                </a:extLst>
              </a:tr>
            </a:tbl>
          </a:graphicData>
        </a:graphic>
      </p:graphicFrame>
    </p:spTree>
    <p:extLst>
      <p:ext uri="{BB962C8B-B14F-4D97-AF65-F5344CB8AC3E}">
        <p14:creationId xmlns:p14="http://schemas.microsoft.com/office/powerpoint/2010/main" val="362225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B6F11-AA2D-C8DC-88C7-CC6CC49A39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FA6D1FA-89B4-00EA-FCE1-AB904956C7B1}"/>
              </a:ext>
            </a:extLst>
          </p:cNvPr>
          <p:cNvSpPr>
            <a:spLocks noGrp="1"/>
          </p:cNvSpPr>
          <p:nvPr>
            <p:ph type="title" idx="4294967295"/>
          </p:nvPr>
        </p:nvSpPr>
        <p:spPr>
          <a:xfrm>
            <a:off x="336389" y="522414"/>
            <a:ext cx="11517355" cy="600075"/>
          </a:xfrm>
        </p:spPr>
        <p:txBody>
          <a:bodyPr anchor="t" anchorCtr="0">
            <a:normAutofit/>
          </a:bodyPr>
          <a:lstStyle/>
          <a:p>
            <a:r>
              <a:rPr kumimoji="1" lang="ja-JP" altLang="en-US" sz="3600" dirty="0"/>
              <a:t>目次　</a:t>
            </a:r>
            <a:r>
              <a:rPr kumimoji="1" lang="en-US" altLang="ja-JP" sz="3600" dirty="0"/>
              <a:t>Vol3</a:t>
            </a:r>
            <a:endParaRPr kumimoji="1" lang="ja-JP" altLang="en-US" sz="3600" dirty="0"/>
          </a:p>
        </p:txBody>
      </p:sp>
      <p:graphicFrame>
        <p:nvGraphicFramePr>
          <p:cNvPr id="3" name="表 2">
            <a:extLst>
              <a:ext uri="{FF2B5EF4-FFF2-40B4-BE49-F238E27FC236}">
                <a16:creationId xmlns:a16="http://schemas.microsoft.com/office/drawing/2014/main" id="{176F29FB-081E-65D1-9E8B-EFF1290928F2}"/>
              </a:ext>
            </a:extLst>
          </p:cNvPr>
          <p:cNvGraphicFramePr>
            <a:graphicFrameLocks noGrp="1"/>
          </p:cNvGraphicFramePr>
          <p:nvPr>
            <p:extLst>
              <p:ext uri="{D42A27DB-BD31-4B8C-83A1-F6EECF244321}">
                <p14:modId xmlns:p14="http://schemas.microsoft.com/office/powerpoint/2010/main" val="1020068120"/>
              </p:ext>
            </p:extLst>
          </p:nvPr>
        </p:nvGraphicFramePr>
        <p:xfrm>
          <a:off x="323687" y="1276608"/>
          <a:ext cx="11530057" cy="3879171"/>
        </p:xfrm>
        <a:graphic>
          <a:graphicData uri="http://schemas.openxmlformats.org/drawingml/2006/table">
            <a:tbl>
              <a:tblPr firstRow="1" bandRow="1">
                <a:tableStyleId>{F5AB1C69-6EDB-4FF4-983F-18BD219EF322}</a:tableStyleId>
              </a:tblPr>
              <a:tblGrid>
                <a:gridCol w="743113">
                  <a:extLst>
                    <a:ext uri="{9D8B030D-6E8A-4147-A177-3AD203B41FA5}">
                      <a16:colId xmlns:a16="http://schemas.microsoft.com/office/drawing/2014/main" val="851819213"/>
                    </a:ext>
                  </a:extLst>
                </a:gridCol>
                <a:gridCol w="2726888">
                  <a:extLst>
                    <a:ext uri="{9D8B030D-6E8A-4147-A177-3AD203B41FA5}">
                      <a16:colId xmlns:a16="http://schemas.microsoft.com/office/drawing/2014/main" val="618744104"/>
                    </a:ext>
                  </a:extLst>
                </a:gridCol>
                <a:gridCol w="5177542">
                  <a:extLst>
                    <a:ext uri="{9D8B030D-6E8A-4147-A177-3AD203B41FA5}">
                      <a16:colId xmlns:a16="http://schemas.microsoft.com/office/drawing/2014/main" val="952234859"/>
                    </a:ext>
                  </a:extLst>
                </a:gridCol>
                <a:gridCol w="2882514">
                  <a:extLst>
                    <a:ext uri="{9D8B030D-6E8A-4147-A177-3AD203B41FA5}">
                      <a16:colId xmlns:a16="http://schemas.microsoft.com/office/drawing/2014/main" val="2162630281"/>
                    </a:ext>
                  </a:extLst>
                </a:gridCol>
              </a:tblGrid>
              <a:tr h="507298">
                <a:tc>
                  <a:txBody>
                    <a:bodyPr/>
                    <a:lstStyle/>
                    <a:p>
                      <a:r>
                        <a:rPr kumimoji="1" lang="ja-JP" altLang="en-US" dirty="0"/>
                        <a:t>項番</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タイトル</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概要</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備考</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4021886788"/>
                  </a:ext>
                </a:extLst>
              </a:tr>
              <a:tr h="507298">
                <a:tc>
                  <a:txBody>
                    <a:bodyPr/>
                    <a:lstStyle/>
                    <a:p>
                      <a:r>
                        <a:rPr kumimoji="1" lang="en-US" altLang="ja-JP" dirty="0"/>
                        <a:t>1</a:t>
                      </a:r>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NULL</a:t>
                      </a:r>
                      <a:r>
                        <a:rPr kumimoji="1" lang="ja-JP" altLang="en-US" dirty="0"/>
                        <a:t>の扱いについて</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ja-JP" altLang="en-US" dirty="0"/>
                        <a:t>プログラミングや</a:t>
                      </a:r>
                      <a:r>
                        <a:rPr kumimoji="1" lang="en-US" altLang="ja-JP" dirty="0"/>
                        <a:t>DB</a:t>
                      </a:r>
                      <a:r>
                        <a:rPr kumimoji="1" lang="ja-JP" altLang="en-US" dirty="0"/>
                        <a:t>における特徴的なデータ表現方法である</a:t>
                      </a:r>
                      <a:r>
                        <a:rPr kumimoji="1" lang="en-US" altLang="ja-JP" dirty="0"/>
                        <a:t>Null</a:t>
                      </a:r>
                      <a:r>
                        <a:rPr kumimoji="1" lang="ja-JP" altLang="en-US" dirty="0"/>
                        <a:t>の扱いを説明する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5794718"/>
                  </a:ext>
                </a:extLst>
              </a:tr>
              <a:tr h="507298">
                <a:tc>
                  <a:txBody>
                    <a:bodyPr/>
                    <a:lstStyle/>
                    <a:p>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7024123"/>
                  </a:ext>
                </a:extLst>
              </a:tr>
              <a:tr h="507298">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98956711"/>
                  </a:ext>
                </a:extLst>
              </a:tr>
              <a:tr h="507298">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2696075"/>
                  </a:ext>
                </a:extLst>
              </a:tr>
              <a:tr h="569819">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lgn="l">
                        <a:buFont typeface="Arial" panose="020B0604020202020204" pitchFamily="34" charset="0"/>
                        <a:buChar char="•"/>
                      </a:pP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2554559"/>
                  </a:ext>
                </a:extLst>
              </a:tr>
              <a:tr h="507298">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26560638"/>
                  </a:ext>
                </a:extLst>
              </a:tr>
            </a:tbl>
          </a:graphicData>
        </a:graphic>
      </p:graphicFrame>
    </p:spTree>
    <p:extLst>
      <p:ext uri="{BB962C8B-B14F-4D97-AF65-F5344CB8AC3E}">
        <p14:creationId xmlns:p14="http://schemas.microsoft.com/office/powerpoint/2010/main" val="563416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5B228-2E5C-7026-FC46-8A48F5C296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1425B46-0F76-00D0-1CBB-DEBC035DA261}"/>
              </a:ext>
            </a:extLst>
          </p:cNvPr>
          <p:cNvSpPr>
            <a:spLocks noGrp="1"/>
          </p:cNvSpPr>
          <p:nvPr>
            <p:ph type="title" idx="4294967295"/>
          </p:nvPr>
        </p:nvSpPr>
        <p:spPr>
          <a:xfrm>
            <a:off x="336389" y="522414"/>
            <a:ext cx="11517355" cy="600075"/>
          </a:xfrm>
        </p:spPr>
        <p:txBody>
          <a:bodyPr anchor="t" anchorCtr="0">
            <a:normAutofit/>
          </a:bodyPr>
          <a:lstStyle/>
          <a:p>
            <a:r>
              <a:rPr kumimoji="1" lang="ja-JP" altLang="en-US" sz="3600" dirty="0"/>
              <a:t>目次　</a:t>
            </a:r>
            <a:r>
              <a:rPr kumimoji="1" lang="en-US" altLang="ja-JP" sz="3600" dirty="0"/>
              <a:t>Vol4</a:t>
            </a:r>
            <a:endParaRPr kumimoji="1" lang="ja-JP" altLang="en-US" sz="3600" dirty="0"/>
          </a:p>
        </p:txBody>
      </p:sp>
      <p:graphicFrame>
        <p:nvGraphicFramePr>
          <p:cNvPr id="3" name="表 2">
            <a:extLst>
              <a:ext uri="{FF2B5EF4-FFF2-40B4-BE49-F238E27FC236}">
                <a16:creationId xmlns:a16="http://schemas.microsoft.com/office/drawing/2014/main" id="{D5CE3D4F-77A9-E6E2-4A69-22B13B95F31A}"/>
              </a:ext>
            </a:extLst>
          </p:cNvPr>
          <p:cNvGraphicFramePr>
            <a:graphicFrameLocks noGrp="1"/>
          </p:cNvGraphicFramePr>
          <p:nvPr>
            <p:extLst>
              <p:ext uri="{D42A27DB-BD31-4B8C-83A1-F6EECF244321}">
                <p14:modId xmlns:p14="http://schemas.microsoft.com/office/powerpoint/2010/main" val="214177909"/>
              </p:ext>
            </p:extLst>
          </p:nvPr>
        </p:nvGraphicFramePr>
        <p:xfrm>
          <a:off x="323687" y="1276608"/>
          <a:ext cx="11530057" cy="4754172"/>
        </p:xfrm>
        <a:graphic>
          <a:graphicData uri="http://schemas.openxmlformats.org/drawingml/2006/table">
            <a:tbl>
              <a:tblPr firstRow="1" bandRow="1">
                <a:tableStyleId>{F5AB1C69-6EDB-4FF4-983F-18BD219EF322}</a:tableStyleId>
              </a:tblPr>
              <a:tblGrid>
                <a:gridCol w="743113">
                  <a:extLst>
                    <a:ext uri="{9D8B030D-6E8A-4147-A177-3AD203B41FA5}">
                      <a16:colId xmlns:a16="http://schemas.microsoft.com/office/drawing/2014/main" val="851819213"/>
                    </a:ext>
                  </a:extLst>
                </a:gridCol>
                <a:gridCol w="2726888">
                  <a:extLst>
                    <a:ext uri="{9D8B030D-6E8A-4147-A177-3AD203B41FA5}">
                      <a16:colId xmlns:a16="http://schemas.microsoft.com/office/drawing/2014/main" val="618744104"/>
                    </a:ext>
                  </a:extLst>
                </a:gridCol>
                <a:gridCol w="5177542">
                  <a:extLst>
                    <a:ext uri="{9D8B030D-6E8A-4147-A177-3AD203B41FA5}">
                      <a16:colId xmlns:a16="http://schemas.microsoft.com/office/drawing/2014/main" val="952234859"/>
                    </a:ext>
                  </a:extLst>
                </a:gridCol>
                <a:gridCol w="2882514">
                  <a:extLst>
                    <a:ext uri="{9D8B030D-6E8A-4147-A177-3AD203B41FA5}">
                      <a16:colId xmlns:a16="http://schemas.microsoft.com/office/drawing/2014/main" val="2162630281"/>
                    </a:ext>
                  </a:extLst>
                </a:gridCol>
              </a:tblGrid>
              <a:tr h="568095">
                <a:tc>
                  <a:txBody>
                    <a:bodyPr/>
                    <a:lstStyle/>
                    <a:p>
                      <a:r>
                        <a:rPr kumimoji="1" lang="ja-JP" altLang="en-US" dirty="0"/>
                        <a:t>項番</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タイトル</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概要</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備考</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4021886788"/>
                  </a:ext>
                </a:extLst>
              </a:tr>
              <a:tr h="507298">
                <a:tc>
                  <a:txBody>
                    <a:bodyPr/>
                    <a:lstStyle/>
                    <a:p>
                      <a:r>
                        <a:rPr kumimoji="1" lang="en-US" altLang="ja-JP" dirty="0"/>
                        <a:t>1</a:t>
                      </a:r>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目的</a:t>
                      </a:r>
                      <a:endParaRPr kumimoji="1" lang="en-US" altLang="ja-JP" dirty="0"/>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ja-JP" altLang="en-US" dirty="0"/>
                        <a:t>これまで解説した「テーブルの分割」について具体的な方法を解説する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5794718"/>
                  </a:ext>
                </a:extLst>
              </a:tr>
              <a:tr h="507298">
                <a:tc>
                  <a:txBody>
                    <a:bodyPr/>
                    <a:lstStyle/>
                    <a:p>
                      <a:r>
                        <a:rPr kumimoji="1" lang="en-US" altLang="ja-JP" dirty="0"/>
                        <a:t>2</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正規化とは何か</a:t>
                      </a:r>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ja-JP" altLang="en-US" dirty="0"/>
                        <a:t>テーブル設計の方法である「正規化」について解説</a:t>
                      </a:r>
                      <a:endParaRPr kumimoji="1" lang="en-US" altLang="ja-JP"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7024123"/>
                  </a:ext>
                </a:extLst>
              </a:tr>
              <a:tr h="507298">
                <a:tc>
                  <a:txBody>
                    <a:bodyPr/>
                    <a:lstStyle/>
                    <a:p>
                      <a:r>
                        <a:rPr kumimoji="1" lang="en-US" altLang="ja-JP" dirty="0"/>
                        <a:t>3</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正規化のステップ</a:t>
                      </a:r>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ja-JP" altLang="en-US" dirty="0"/>
                        <a:t>正規化の全体像と第三正規系に至るまでの具体的なステップを説明する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3-0. </a:t>
                      </a:r>
                      <a:r>
                        <a:rPr kumimoji="1" lang="ja-JP" altLang="en-US" dirty="0"/>
                        <a:t>全体像</a:t>
                      </a:r>
                      <a:endParaRPr kumimoji="1" lang="en-US" altLang="ja-JP" dirty="0"/>
                    </a:p>
                    <a:p>
                      <a:r>
                        <a:rPr kumimoji="1" lang="en-US" altLang="ja-JP" dirty="0"/>
                        <a:t>3-1. </a:t>
                      </a:r>
                      <a:r>
                        <a:rPr kumimoji="1" lang="ja-JP" altLang="en-US" dirty="0"/>
                        <a:t>第一正規形</a:t>
                      </a:r>
                      <a:endParaRPr kumimoji="1" lang="en-US" altLang="ja-JP" dirty="0"/>
                    </a:p>
                    <a:p>
                      <a:r>
                        <a:rPr kumimoji="1" lang="en-US" altLang="ja-JP" dirty="0"/>
                        <a:t>3-2. </a:t>
                      </a:r>
                      <a:r>
                        <a:rPr kumimoji="1" lang="ja-JP" altLang="en-US" dirty="0"/>
                        <a:t>第二正規形</a:t>
                      </a:r>
                      <a:endParaRPr kumimoji="1" lang="en-US" altLang="ja-JP" dirty="0"/>
                    </a:p>
                    <a:p>
                      <a:r>
                        <a:rPr kumimoji="1" lang="en-US" altLang="ja-JP" dirty="0"/>
                        <a:t>3-3. </a:t>
                      </a:r>
                      <a:r>
                        <a:rPr kumimoji="1" lang="ja-JP" altLang="en-US" dirty="0"/>
                        <a:t>第三正規形</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98956711"/>
                  </a:ext>
                </a:extLst>
              </a:tr>
              <a:tr h="507298">
                <a:tc>
                  <a:txBody>
                    <a:bodyPr/>
                    <a:lstStyle/>
                    <a:p>
                      <a:r>
                        <a:rPr kumimoji="1" lang="en-US" altLang="ja-JP" dirty="0"/>
                        <a:t>4</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外部キーについて</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ja-JP" altLang="en-US" dirty="0"/>
                        <a:t>分割後のテーブル同士を紐づける「外部キー」について解説する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2696075"/>
                  </a:ext>
                </a:extLst>
              </a:tr>
              <a:tr h="569819">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lgn="l">
                        <a:buFont typeface="Arial" panose="020B0604020202020204" pitchFamily="34" charset="0"/>
                        <a:buChar char="•"/>
                      </a:pP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2554559"/>
                  </a:ext>
                </a:extLst>
              </a:tr>
              <a:tr h="507298">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26560638"/>
                  </a:ext>
                </a:extLst>
              </a:tr>
            </a:tbl>
          </a:graphicData>
        </a:graphic>
      </p:graphicFrame>
    </p:spTree>
    <p:extLst>
      <p:ext uri="{BB962C8B-B14F-4D97-AF65-F5344CB8AC3E}">
        <p14:creationId xmlns:p14="http://schemas.microsoft.com/office/powerpoint/2010/main" val="2909894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8D2C1743-B1DF-1311-D64E-194A38B34837}"/>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1FC88A8E-53F0-B469-5D52-051622F0ECDE}"/>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あらゆるシステムは形や目的が違ってもデータを扱う。</a:t>
            </a:r>
          </a:p>
          <a:p>
            <a:r>
              <a:rPr lang="ja-JP" altLang="en-US" sz="2800" dirty="0"/>
              <a:t>そのデータを整合的に蓄え、必要時に利用できるようにする仕組みが</a:t>
            </a:r>
            <a:r>
              <a:rPr lang="en-US" altLang="ja-JP" sz="2800" dirty="0"/>
              <a:t>DB</a:t>
            </a:r>
            <a:r>
              <a:rPr lang="ja-JP" altLang="en-US" sz="2800" dirty="0"/>
              <a:t>である。</a:t>
            </a:r>
          </a:p>
        </p:txBody>
      </p:sp>
      <p:sp>
        <p:nvSpPr>
          <p:cNvPr id="4" name="タイトル プレースホルダー 1">
            <a:extLst>
              <a:ext uri="{FF2B5EF4-FFF2-40B4-BE49-F238E27FC236}">
                <a16:creationId xmlns:a16="http://schemas.microsoft.com/office/drawing/2014/main" id="{306678DD-E9B8-0DA4-574D-12FF7A1F77B0}"/>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DB</a:t>
            </a:r>
            <a:r>
              <a:rPr lang="ja-JP" altLang="en-US" dirty="0"/>
              <a:t>とはなにか</a:t>
            </a:r>
            <a:endParaRPr lang="en-US" altLang="ja-JP" dirty="0"/>
          </a:p>
        </p:txBody>
      </p:sp>
      <p:sp>
        <p:nvSpPr>
          <p:cNvPr id="5" name="タイトル プレースホルダー 1">
            <a:extLst>
              <a:ext uri="{FF2B5EF4-FFF2-40B4-BE49-F238E27FC236}">
                <a16:creationId xmlns:a16="http://schemas.microsoft.com/office/drawing/2014/main" id="{D6D34CD7-D252-D2AA-DA88-AFBF77624AF7}"/>
              </a:ext>
            </a:extLst>
          </p:cNvPr>
          <p:cNvSpPr txBox="1">
            <a:spLocks/>
          </p:cNvSpPr>
          <p:nvPr/>
        </p:nvSpPr>
        <p:spPr>
          <a:xfrm>
            <a:off x="342900" y="2146316"/>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6" name="フローチャート: 定義済み処理 5">
            <a:extLst>
              <a:ext uri="{FF2B5EF4-FFF2-40B4-BE49-F238E27FC236}">
                <a16:creationId xmlns:a16="http://schemas.microsoft.com/office/drawing/2014/main" id="{28459CBD-B3B6-6C92-271E-6C0D34B2B987}"/>
              </a:ext>
            </a:extLst>
          </p:cNvPr>
          <p:cNvSpPr/>
          <p:nvPr/>
        </p:nvSpPr>
        <p:spPr>
          <a:xfrm>
            <a:off x="367214" y="4072971"/>
            <a:ext cx="1458000" cy="593728"/>
          </a:xfrm>
          <a:prstGeom prst="flowChartPredefinedProcess">
            <a:avLst/>
          </a:prstGeom>
          <a:solidFill>
            <a:schemeClr val="tx1">
              <a:lumMod val="20000"/>
              <a:lumOff val="80000"/>
            </a:schemeClr>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機能</a:t>
            </a:r>
          </a:p>
        </p:txBody>
      </p:sp>
      <p:sp>
        <p:nvSpPr>
          <p:cNvPr id="7" name="フローチャート: 磁気ディスク 6">
            <a:extLst>
              <a:ext uri="{FF2B5EF4-FFF2-40B4-BE49-F238E27FC236}">
                <a16:creationId xmlns:a16="http://schemas.microsoft.com/office/drawing/2014/main" id="{A0D03540-CF60-DA33-D805-A7F893BA4B90}"/>
              </a:ext>
            </a:extLst>
          </p:cNvPr>
          <p:cNvSpPr/>
          <p:nvPr/>
        </p:nvSpPr>
        <p:spPr>
          <a:xfrm>
            <a:off x="2687707" y="3682999"/>
            <a:ext cx="1458000" cy="698497"/>
          </a:xfrm>
          <a:prstGeom prst="flowChartMagneticDisk">
            <a:avLst/>
          </a:prstGeom>
          <a:solidFill>
            <a:srgbClr val="D9D9D9"/>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lumMod val="75000"/>
                  </a:schemeClr>
                </a:solidFill>
              </a:rPr>
              <a:t>DB</a:t>
            </a:r>
            <a:endParaRPr lang="ja-JP" altLang="en-US" sz="1400" dirty="0">
              <a:solidFill>
                <a:schemeClr val="tx1">
                  <a:lumMod val="75000"/>
                </a:schemeClr>
              </a:solidFill>
            </a:endParaRPr>
          </a:p>
        </p:txBody>
      </p:sp>
      <p:cxnSp>
        <p:nvCxnSpPr>
          <p:cNvPr id="8" name="直線矢印コネクタ 7">
            <a:extLst>
              <a:ext uri="{FF2B5EF4-FFF2-40B4-BE49-F238E27FC236}">
                <a16:creationId xmlns:a16="http://schemas.microsoft.com/office/drawing/2014/main" id="{C66D0869-8041-B706-419F-D29C496E0A2E}"/>
              </a:ext>
            </a:extLst>
          </p:cNvPr>
          <p:cNvCxnSpPr>
            <a:cxnSpLocks/>
            <a:stCxn id="6" idx="3"/>
            <a:endCxn id="7" idx="2"/>
          </p:cNvCxnSpPr>
          <p:nvPr/>
        </p:nvCxnSpPr>
        <p:spPr>
          <a:xfrm flipV="1">
            <a:off x="1825214" y="4032248"/>
            <a:ext cx="862493" cy="337587"/>
          </a:xfrm>
          <a:prstGeom prst="curvedConnector3">
            <a:avLst>
              <a:gd name="adj1" fmla="val 50000"/>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 name="スマイル 8">
            <a:extLst>
              <a:ext uri="{FF2B5EF4-FFF2-40B4-BE49-F238E27FC236}">
                <a16:creationId xmlns:a16="http://schemas.microsoft.com/office/drawing/2014/main" id="{00968115-7542-6533-FBEE-EFB05CCB2612}"/>
              </a:ext>
            </a:extLst>
          </p:cNvPr>
          <p:cNvSpPr/>
          <p:nvPr/>
        </p:nvSpPr>
        <p:spPr>
          <a:xfrm>
            <a:off x="829229" y="2862276"/>
            <a:ext cx="533969" cy="469888"/>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タイトル プレースホルダー 1">
            <a:extLst>
              <a:ext uri="{FF2B5EF4-FFF2-40B4-BE49-F238E27FC236}">
                <a16:creationId xmlns:a16="http://schemas.microsoft.com/office/drawing/2014/main" id="{F6671B99-C8D3-B7BF-343C-17CC2CE616B5}"/>
              </a:ext>
            </a:extLst>
          </p:cNvPr>
          <p:cNvSpPr txBox="1">
            <a:spLocks/>
          </p:cNvSpPr>
          <p:nvPr/>
        </p:nvSpPr>
        <p:spPr>
          <a:xfrm>
            <a:off x="6703120" y="2298705"/>
            <a:ext cx="5311079" cy="1887706"/>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ユーザや機能が</a:t>
            </a:r>
            <a:r>
              <a:rPr lang="en-US" altLang="ja-JP" sz="1800" dirty="0"/>
              <a:t>DB</a:t>
            </a:r>
            <a:r>
              <a:rPr lang="ja-JP" altLang="en-US" sz="1800" dirty="0"/>
              <a:t>に対して「データ」を入力し、その入力された「データ」をさらにユーザや機能が利用する。</a:t>
            </a:r>
            <a:br>
              <a:rPr lang="en-US" altLang="ja-JP" sz="1800" dirty="0"/>
            </a:br>
            <a:r>
              <a:rPr lang="ja-JP" altLang="en-US" sz="1800" dirty="0"/>
              <a:t>ここでいう利用とは、登録、参照や更新、削除である。</a:t>
            </a:r>
            <a:br>
              <a:rPr lang="en-US" altLang="ja-JP" sz="1800" dirty="0"/>
            </a:br>
            <a:r>
              <a:rPr lang="ja-JP" altLang="en-US" sz="1800" dirty="0"/>
              <a:t>システムが行うことはどれだけ巨大で複雑になろうが、結局「データ」を通信し、その加工をすることでしかない</a:t>
            </a:r>
            <a:endParaRPr lang="en-US" altLang="ja-JP" sz="1800" dirty="0"/>
          </a:p>
          <a:p>
            <a:pPr marL="285750" indent="-285750">
              <a:buFont typeface="Arial" panose="020B0604020202020204" pitchFamily="34" charset="0"/>
              <a:buChar char="•"/>
            </a:pPr>
            <a:r>
              <a:rPr lang="ja-JP" altLang="en-US" sz="1800" dirty="0"/>
              <a:t>ゆえにシステムの中で</a:t>
            </a:r>
            <a:r>
              <a:rPr lang="en-US" altLang="ja-JP" sz="1800" dirty="0"/>
              <a:t>DB</a:t>
            </a:r>
            <a:r>
              <a:rPr lang="ja-JP" altLang="en-US" sz="1800" dirty="0"/>
              <a:t>を持っていないシステムは存在しない。</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cxnSp>
        <p:nvCxnSpPr>
          <p:cNvPr id="11" name="直線矢印コネクタ 10">
            <a:extLst>
              <a:ext uri="{FF2B5EF4-FFF2-40B4-BE49-F238E27FC236}">
                <a16:creationId xmlns:a16="http://schemas.microsoft.com/office/drawing/2014/main" id="{4B819F44-4947-9D63-B5E6-E764DCB05A4F}"/>
              </a:ext>
            </a:extLst>
          </p:cNvPr>
          <p:cNvCxnSpPr>
            <a:cxnSpLocks/>
            <a:stCxn id="9" idx="6"/>
            <a:endCxn id="7" idx="2"/>
          </p:cNvCxnSpPr>
          <p:nvPr/>
        </p:nvCxnSpPr>
        <p:spPr>
          <a:xfrm>
            <a:off x="1363198" y="3097220"/>
            <a:ext cx="1324509" cy="935028"/>
          </a:xfrm>
          <a:prstGeom prst="curvedConnector3">
            <a:avLst>
              <a:gd name="adj1" fmla="val 50000"/>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9" name="フローチャート: 定義済み処理 18">
            <a:extLst>
              <a:ext uri="{FF2B5EF4-FFF2-40B4-BE49-F238E27FC236}">
                <a16:creationId xmlns:a16="http://schemas.microsoft.com/office/drawing/2014/main" id="{CAE81B8D-5EF3-2AB7-8C76-1C45033C7FBB}"/>
              </a:ext>
            </a:extLst>
          </p:cNvPr>
          <p:cNvSpPr/>
          <p:nvPr/>
        </p:nvSpPr>
        <p:spPr>
          <a:xfrm>
            <a:off x="367214" y="5007999"/>
            <a:ext cx="1458000" cy="593728"/>
          </a:xfrm>
          <a:prstGeom prst="flowChartPredefinedProcess">
            <a:avLst/>
          </a:prstGeom>
          <a:solidFill>
            <a:schemeClr val="tx1">
              <a:lumMod val="20000"/>
              <a:lumOff val="80000"/>
            </a:schemeClr>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機能</a:t>
            </a:r>
          </a:p>
        </p:txBody>
      </p:sp>
      <p:cxnSp>
        <p:nvCxnSpPr>
          <p:cNvPr id="20" name="直線矢印コネクタ 7">
            <a:extLst>
              <a:ext uri="{FF2B5EF4-FFF2-40B4-BE49-F238E27FC236}">
                <a16:creationId xmlns:a16="http://schemas.microsoft.com/office/drawing/2014/main" id="{501DC315-142D-BCE5-24D1-9B222E0C20F6}"/>
              </a:ext>
            </a:extLst>
          </p:cNvPr>
          <p:cNvCxnSpPr>
            <a:cxnSpLocks/>
            <a:stCxn id="19" idx="3"/>
            <a:endCxn id="7" idx="2"/>
          </p:cNvCxnSpPr>
          <p:nvPr/>
        </p:nvCxnSpPr>
        <p:spPr>
          <a:xfrm flipV="1">
            <a:off x="1825214" y="4032248"/>
            <a:ext cx="862493" cy="1272615"/>
          </a:xfrm>
          <a:prstGeom prst="curvedConnector3">
            <a:avLst>
              <a:gd name="adj1" fmla="val 50000"/>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直線矢印コネクタ 10">
            <a:extLst>
              <a:ext uri="{FF2B5EF4-FFF2-40B4-BE49-F238E27FC236}">
                <a16:creationId xmlns:a16="http://schemas.microsoft.com/office/drawing/2014/main" id="{E88BC8D9-077A-B618-FF72-A333EF8564E7}"/>
              </a:ext>
            </a:extLst>
          </p:cNvPr>
          <p:cNvCxnSpPr>
            <a:cxnSpLocks/>
            <a:stCxn id="24" idx="6"/>
            <a:endCxn id="7" idx="2"/>
          </p:cNvCxnSpPr>
          <p:nvPr/>
        </p:nvCxnSpPr>
        <p:spPr>
          <a:xfrm>
            <a:off x="1363197" y="3724040"/>
            <a:ext cx="1324510" cy="308208"/>
          </a:xfrm>
          <a:prstGeom prst="curvedConnector3">
            <a:avLst>
              <a:gd name="adj1" fmla="val 50000"/>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4" name="スマイル 23">
            <a:extLst>
              <a:ext uri="{FF2B5EF4-FFF2-40B4-BE49-F238E27FC236}">
                <a16:creationId xmlns:a16="http://schemas.microsoft.com/office/drawing/2014/main" id="{89E9E776-F8E2-1F3C-7A0E-B7D664370E11}"/>
              </a:ext>
            </a:extLst>
          </p:cNvPr>
          <p:cNvSpPr/>
          <p:nvPr/>
        </p:nvSpPr>
        <p:spPr>
          <a:xfrm>
            <a:off x="829228" y="3489096"/>
            <a:ext cx="533969" cy="469888"/>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フローチャート: 定義済み処理 35">
            <a:extLst>
              <a:ext uri="{FF2B5EF4-FFF2-40B4-BE49-F238E27FC236}">
                <a16:creationId xmlns:a16="http://schemas.microsoft.com/office/drawing/2014/main" id="{B55050D1-949C-145F-26FF-AF9AFB6A7D19}"/>
              </a:ext>
            </a:extLst>
          </p:cNvPr>
          <p:cNvSpPr/>
          <p:nvPr/>
        </p:nvSpPr>
        <p:spPr>
          <a:xfrm>
            <a:off x="4783106" y="4072971"/>
            <a:ext cx="1458000" cy="593728"/>
          </a:xfrm>
          <a:prstGeom prst="flowChartPredefinedProcess">
            <a:avLst/>
          </a:prstGeom>
          <a:solidFill>
            <a:schemeClr val="tx1">
              <a:lumMod val="20000"/>
              <a:lumOff val="80000"/>
            </a:schemeClr>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機能</a:t>
            </a:r>
          </a:p>
        </p:txBody>
      </p:sp>
      <p:sp>
        <p:nvSpPr>
          <p:cNvPr id="37" name="スマイル 36">
            <a:extLst>
              <a:ext uri="{FF2B5EF4-FFF2-40B4-BE49-F238E27FC236}">
                <a16:creationId xmlns:a16="http://schemas.microsoft.com/office/drawing/2014/main" id="{B41D326C-27D4-E5F3-D50B-21F96ED2D892}"/>
              </a:ext>
            </a:extLst>
          </p:cNvPr>
          <p:cNvSpPr/>
          <p:nvPr/>
        </p:nvSpPr>
        <p:spPr>
          <a:xfrm>
            <a:off x="5245121" y="2862276"/>
            <a:ext cx="533969" cy="469888"/>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フローチャート: 定義済み処理 37">
            <a:extLst>
              <a:ext uri="{FF2B5EF4-FFF2-40B4-BE49-F238E27FC236}">
                <a16:creationId xmlns:a16="http://schemas.microsoft.com/office/drawing/2014/main" id="{6B307232-C8C5-1E59-24E7-BEA11E591667}"/>
              </a:ext>
            </a:extLst>
          </p:cNvPr>
          <p:cNvSpPr/>
          <p:nvPr/>
        </p:nvSpPr>
        <p:spPr>
          <a:xfrm>
            <a:off x="4783106" y="5007999"/>
            <a:ext cx="1458000" cy="593728"/>
          </a:xfrm>
          <a:prstGeom prst="flowChartPredefinedProcess">
            <a:avLst/>
          </a:prstGeom>
          <a:solidFill>
            <a:schemeClr val="tx1">
              <a:lumMod val="20000"/>
              <a:lumOff val="80000"/>
            </a:schemeClr>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機能</a:t>
            </a:r>
          </a:p>
        </p:txBody>
      </p:sp>
      <p:sp>
        <p:nvSpPr>
          <p:cNvPr id="39" name="スマイル 38">
            <a:extLst>
              <a:ext uri="{FF2B5EF4-FFF2-40B4-BE49-F238E27FC236}">
                <a16:creationId xmlns:a16="http://schemas.microsoft.com/office/drawing/2014/main" id="{5473D8FC-689C-0C0C-5678-2B9FEED8DB0C}"/>
              </a:ext>
            </a:extLst>
          </p:cNvPr>
          <p:cNvSpPr/>
          <p:nvPr/>
        </p:nvSpPr>
        <p:spPr>
          <a:xfrm>
            <a:off x="5245120" y="3489096"/>
            <a:ext cx="533969" cy="469888"/>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0" name="直線矢印コネクタ 10">
            <a:extLst>
              <a:ext uri="{FF2B5EF4-FFF2-40B4-BE49-F238E27FC236}">
                <a16:creationId xmlns:a16="http://schemas.microsoft.com/office/drawing/2014/main" id="{927A5DC7-633D-652F-1396-4F139053D4BC}"/>
              </a:ext>
            </a:extLst>
          </p:cNvPr>
          <p:cNvCxnSpPr>
            <a:cxnSpLocks/>
            <a:stCxn id="7" idx="4"/>
            <a:endCxn id="37" idx="2"/>
          </p:cNvCxnSpPr>
          <p:nvPr/>
        </p:nvCxnSpPr>
        <p:spPr>
          <a:xfrm flipV="1">
            <a:off x="4145707" y="3097220"/>
            <a:ext cx="1099414" cy="935028"/>
          </a:xfrm>
          <a:prstGeom prst="curvedConnector3">
            <a:avLst>
              <a:gd name="adj1" fmla="val 50000"/>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3" name="直線矢印コネクタ 10">
            <a:extLst>
              <a:ext uri="{FF2B5EF4-FFF2-40B4-BE49-F238E27FC236}">
                <a16:creationId xmlns:a16="http://schemas.microsoft.com/office/drawing/2014/main" id="{5EAEADCA-E8F0-333F-7439-DC6386B21119}"/>
              </a:ext>
            </a:extLst>
          </p:cNvPr>
          <p:cNvCxnSpPr>
            <a:cxnSpLocks/>
            <a:stCxn id="7" idx="4"/>
          </p:cNvCxnSpPr>
          <p:nvPr/>
        </p:nvCxnSpPr>
        <p:spPr>
          <a:xfrm flipV="1">
            <a:off x="4145707" y="3790408"/>
            <a:ext cx="1099414" cy="241840"/>
          </a:xfrm>
          <a:prstGeom prst="curvedConnector3">
            <a:avLst>
              <a:gd name="adj1" fmla="val 50000"/>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5" name="直線矢印コネクタ 10">
            <a:extLst>
              <a:ext uri="{FF2B5EF4-FFF2-40B4-BE49-F238E27FC236}">
                <a16:creationId xmlns:a16="http://schemas.microsoft.com/office/drawing/2014/main" id="{F716B576-6FCD-5D10-BAA1-1EE2283C152D}"/>
              </a:ext>
            </a:extLst>
          </p:cNvPr>
          <p:cNvCxnSpPr>
            <a:cxnSpLocks/>
            <a:stCxn id="7" idx="4"/>
            <a:endCxn id="36" idx="1"/>
          </p:cNvCxnSpPr>
          <p:nvPr/>
        </p:nvCxnSpPr>
        <p:spPr>
          <a:xfrm>
            <a:off x="4145707" y="4032248"/>
            <a:ext cx="637399" cy="337587"/>
          </a:xfrm>
          <a:prstGeom prst="curvedConnector3">
            <a:avLst>
              <a:gd name="adj1" fmla="val 50000"/>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8" name="直線矢印コネクタ 10">
            <a:extLst>
              <a:ext uri="{FF2B5EF4-FFF2-40B4-BE49-F238E27FC236}">
                <a16:creationId xmlns:a16="http://schemas.microsoft.com/office/drawing/2014/main" id="{AC2DDEDB-7566-DA52-5D66-889DEE80838F}"/>
              </a:ext>
            </a:extLst>
          </p:cNvPr>
          <p:cNvCxnSpPr>
            <a:cxnSpLocks/>
            <a:stCxn id="7" idx="4"/>
            <a:endCxn id="38" idx="1"/>
          </p:cNvCxnSpPr>
          <p:nvPr/>
        </p:nvCxnSpPr>
        <p:spPr>
          <a:xfrm>
            <a:off x="4145707" y="4032248"/>
            <a:ext cx="637399" cy="1272615"/>
          </a:xfrm>
          <a:prstGeom prst="curvedConnector3">
            <a:avLst>
              <a:gd name="adj1" fmla="val 50000"/>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6" name="直線矢印コネクタ 10">
            <a:extLst>
              <a:ext uri="{FF2B5EF4-FFF2-40B4-BE49-F238E27FC236}">
                <a16:creationId xmlns:a16="http://schemas.microsoft.com/office/drawing/2014/main" id="{2D333144-3D1B-C656-6371-60DF5C120A94}"/>
              </a:ext>
            </a:extLst>
          </p:cNvPr>
          <p:cNvCxnSpPr>
            <a:cxnSpLocks/>
            <a:endCxn id="7" idx="2"/>
          </p:cNvCxnSpPr>
          <p:nvPr/>
        </p:nvCxnSpPr>
        <p:spPr>
          <a:xfrm>
            <a:off x="1351584" y="3097220"/>
            <a:ext cx="1336123" cy="935028"/>
          </a:xfrm>
          <a:prstGeom prst="curvedConnector3">
            <a:avLst>
              <a:gd name="adj1" fmla="val 50000"/>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7" name="二等辺三角形 56">
            <a:extLst>
              <a:ext uri="{FF2B5EF4-FFF2-40B4-BE49-F238E27FC236}">
                <a16:creationId xmlns:a16="http://schemas.microsoft.com/office/drawing/2014/main" id="{C511D176-B4F3-FEB5-709E-121BFDCA51F9}"/>
              </a:ext>
            </a:extLst>
          </p:cNvPr>
          <p:cNvSpPr/>
          <p:nvPr/>
        </p:nvSpPr>
        <p:spPr>
          <a:xfrm rot="10800000">
            <a:off x="7758459" y="4205693"/>
            <a:ext cx="3200400" cy="444500"/>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タイトル プレースホルダー 1">
            <a:extLst>
              <a:ext uri="{FF2B5EF4-FFF2-40B4-BE49-F238E27FC236}">
                <a16:creationId xmlns:a16="http://schemas.microsoft.com/office/drawing/2014/main" id="{9B4BF136-34BF-618E-4C07-495B35A7562F}"/>
              </a:ext>
            </a:extLst>
          </p:cNvPr>
          <p:cNvSpPr txBox="1">
            <a:spLocks/>
          </p:cNvSpPr>
          <p:nvPr/>
        </p:nvSpPr>
        <p:spPr>
          <a:xfrm>
            <a:off x="6703120" y="4728998"/>
            <a:ext cx="5311079" cy="1887706"/>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システムが「データ」ありきである以上、その「データ」をメインで扱う</a:t>
            </a:r>
            <a:r>
              <a:rPr lang="en-US" altLang="ja-JP" sz="1800" dirty="0"/>
              <a:t>DB</a:t>
            </a:r>
            <a:r>
              <a:rPr lang="ja-JP" altLang="en-US" sz="1800" dirty="0"/>
              <a:t>理解も必然的にシステム理解の柱になる。</a:t>
            </a:r>
            <a:br>
              <a:rPr lang="en-US" altLang="ja-JP" sz="1800" dirty="0"/>
            </a:br>
            <a:r>
              <a:rPr lang="ja-JP" altLang="en-US" sz="1800" dirty="0"/>
              <a:t>→</a:t>
            </a:r>
            <a:r>
              <a:rPr lang="ja-JP" altLang="en-US" sz="1800" b="1" dirty="0"/>
              <a:t>「データベースを制するものはシステムを制す」</a:t>
            </a:r>
            <a:br>
              <a:rPr lang="en-US" altLang="ja-JP" sz="1800" b="1" dirty="0"/>
            </a:br>
            <a:r>
              <a:rPr lang="en-US" altLang="ja-JP" sz="1800" b="1" dirty="0"/>
              <a:t>	~by</a:t>
            </a:r>
            <a:r>
              <a:rPr lang="ja-JP" altLang="en-US" sz="1800" b="1" dirty="0"/>
              <a:t> センパイ</a:t>
            </a:r>
            <a:r>
              <a:rPr lang="en-US" altLang="ja-JP" sz="1800" b="1" dirty="0"/>
              <a:t>~</a:t>
            </a:r>
          </a:p>
          <a:p>
            <a:endParaRPr lang="en-US" altLang="ja-JP" sz="1800" dirty="0"/>
          </a:p>
          <a:p>
            <a:endParaRPr lang="en-US" altLang="ja-JP" sz="1800" dirty="0"/>
          </a:p>
          <a:p>
            <a:endParaRPr lang="en-US" altLang="ja-JP" sz="1800" dirty="0"/>
          </a:p>
          <a:p>
            <a:endParaRPr lang="en-US" altLang="ja-JP" sz="1800" dirty="0"/>
          </a:p>
        </p:txBody>
      </p:sp>
    </p:spTree>
    <p:extLst>
      <p:ext uri="{BB962C8B-B14F-4D97-AF65-F5344CB8AC3E}">
        <p14:creationId xmlns:p14="http://schemas.microsoft.com/office/powerpoint/2010/main" val="3808109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E24A1-1F56-220F-D965-52CA104B398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BD344855-77BE-A0C3-E6BD-87FBAC4CED79}"/>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9CE11133-2A75-FA27-FAE9-43A412FD06E7}"/>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2800" dirty="0"/>
              <a:t>DB</a:t>
            </a:r>
            <a:r>
              <a:rPr lang="ja-JP" altLang="en-US" sz="2800" dirty="0"/>
              <a:t>を操作するための言語で、</a:t>
            </a:r>
            <a:r>
              <a:rPr lang="en-US" altLang="ja-JP" sz="2800" dirty="0"/>
              <a:t>DB</a:t>
            </a:r>
            <a:r>
              <a:rPr lang="ja-JP" altLang="en-US" sz="2800" dirty="0"/>
              <a:t>に対して指示を行いデータの登録、更新、削除、参照などを行うための言語</a:t>
            </a:r>
            <a:endParaRPr lang="en-US" altLang="ja-JP" sz="2800" dirty="0"/>
          </a:p>
        </p:txBody>
      </p:sp>
      <p:sp>
        <p:nvSpPr>
          <p:cNvPr id="4" name="タイトル プレースホルダー 1">
            <a:extLst>
              <a:ext uri="{FF2B5EF4-FFF2-40B4-BE49-F238E27FC236}">
                <a16:creationId xmlns:a16="http://schemas.microsoft.com/office/drawing/2014/main" id="{07C590E0-F21F-20DC-6F39-C584668E5141}"/>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SQL</a:t>
            </a:r>
            <a:r>
              <a:rPr lang="ja-JP" altLang="en-US" dirty="0"/>
              <a:t>とはなにか</a:t>
            </a:r>
            <a:endParaRPr lang="en-US" altLang="ja-JP" dirty="0"/>
          </a:p>
        </p:txBody>
      </p:sp>
      <p:sp>
        <p:nvSpPr>
          <p:cNvPr id="5" name="タイトル プレースホルダー 1">
            <a:extLst>
              <a:ext uri="{FF2B5EF4-FFF2-40B4-BE49-F238E27FC236}">
                <a16:creationId xmlns:a16="http://schemas.microsoft.com/office/drawing/2014/main" id="{6CDD10C7-761A-23F2-5FEC-71EB9CA49293}"/>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現在の主流な</a:t>
            </a:r>
            <a:r>
              <a:rPr lang="en-US" altLang="ja-JP" sz="1800" dirty="0"/>
              <a:t>DB</a:t>
            </a:r>
            <a:r>
              <a:rPr lang="ja-JP" altLang="en-US" sz="1800" dirty="0"/>
              <a:t>の形式である</a:t>
            </a:r>
            <a:r>
              <a:rPr lang="en-US" altLang="ja-JP" sz="1800" dirty="0"/>
              <a:t>RDB</a:t>
            </a:r>
            <a:r>
              <a:rPr lang="ja-JP" altLang="en-US" sz="1800" dirty="0"/>
              <a:t>（リレーショナルデータベース）を扱うために必要な言語。</a:t>
            </a:r>
            <a:endParaRPr lang="en-US" altLang="ja-JP" sz="1800" dirty="0"/>
          </a:p>
          <a:p>
            <a:pPr marL="285750" indent="-285750">
              <a:buFont typeface="Arial" panose="020B0604020202020204" pitchFamily="34" charset="0"/>
              <a:buChar char="•"/>
            </a:pPr>
            <a:r>
              <a:rPr lang="en-US" altLang="ja-JP" sz="1800" dirty="0"/>
              <a:t>RDB</a:t>
            </a:r>
            <a:r>
              <a:rPr lang="ja-JP" altLang="en-US" sz="1800" dirty="0"/>
              <a:t>について基本的に「表形式」である</a:t>
            </a:r>
            <a:r>
              <a:rPr lang="en-US" altLang="ja-JP" sz="1800" dirty="0"/>
              <a:t>DB</a:t>
            </a:r>
            <a:r>
              <a:rPr lang="ja-JP" altLang="en-US" sz="1800" dirty="0"/>
              <a:t>だと理解すればよい。</a:t>
            </a:r>
            <a:endParaRPr lang="en-US" altLang="ja-JP" sz="1800" dirty="0"/>
          </a:p>
          <a:p>
            <a:pPr marL="285750" indent="-285750">
              <a:buFont typeface="Arial" panose="020B0604020202020204" pitchFamily="34" charset="0"/>
              <a:buChar char="•"/>
            </a:pPr>
            <a:r>
              <a:rPr lang="ja-JP" altLang="en-US" sz="1800" dirty="0"/>
              <a:t>また、正確には</a:t>
            </a:r>
            <a:r>
              <a:rPr lang="en-US" altLang="ja-JP" sz="1800" dirty="0"/>
              <a:t>DB</a:t>
            </a:r>
            <a:r>
              <a:rPr lang="ja-JP" altLang="en-US" sz="1800" dirty="0"/>
              <a:t>というのは管理システムの名称で実際に管理されるデータが格納されているのは「テーブル」というもの</a:t>
            </a:r>
            <a:endParaRPr lang="en-US" altLang="ja-JP" sz="1800" dirty="0"/>
          </a:p>
          <a:p>
            <a:pPr marL="285750" indent="-285750">
              <a:buFont typeface="Arial" panose="020B0604020202020204" pitchFamily="34" charset="0"/>
              <a:buChar char="•"/>
            </a:pPr>
            <a:r>
              <a:rPr lang="en-US" altLang="ja-JP" sz="1800" dirty="0"/>
              <a:t>SQL</a:t>
            </a:r>
            <a:r>
              <a:rPr lang="ja-JP" altLang="en-US" sz="1800" dirty="0"/>
              <a:t>、というのは略称で正式には</a:t>
            </a:r>
            <a:r>
              <a:rPr lang="en-US" altLang="ja-JP" sz="1800" dirty="0"/>
              <a:t>Structured Query Language </a:t>
            </a:r>
            <a:r>
              <a:rPr lang="ja-JP" altLang="en-US" sz="1800" dirty="0"/>
              <a:t>という。</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6" name="フローチャート: 磁気ディスク 5">
            <a:extLst>
              <a:ext uri="{FF2B5EF4-FFF2-40B4-BE49-F238E27FC236}">
                <a16:creationId xmlns:a16="http://schemas.microsoft.com/office/drawing/2014/main" id="{808AA1FF-8BAE-4C33-6C88-42D3651B4177}"/>
              </a:ext>
            </a:extLst>
          </p:cNvPr>
          <p:cNvSpPr/>
          <p:nvPr/>
        </p:nvSpPr>
        <p:spPr>
          <a:xfrm>
            <a:off x="462300" y="3924489"/>
            <a:ext cx="3810302" cy="1825435"/>
          </a:xfrm>
          <a:prstGeom prst="flowChartMagneticDisk">
            <a:avLst/>
          </a:prstGeom>
          <a:solidFill>
            <a:srgbClr val="D9D9D9"/>
          </a:solidFill>
          <a:ln w="12700">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lumMod val="75000"/>
                  </a:schemeClr>
                </a:solidFill>
              </a:rPr>
              <a:t>DB</a:t>
            </a:r>
            <a:endParaRPr lang="ja-JP" altLang="en-US" sz="1400" dirty="0">
              <a:solidFill>
                <a:schemeClr val="tx1">
                  <a:lumMod val="75000"/>
                </a:schemeClr>
              </a:solidFill>
            </a:endParaRPr>
          </a:p>
        </p:txBody>
      </p:sp>
      <p:graphicFrame>
        <p:nvGraphicFramePr>
          <p:cNvPr id="7" name="表 6">
            <a:extLst>
              <a:ext uri="{FF2B5EF4-FFF2-40B4-BE49-F238E27FC236}">
                <a16:creationId xmlns:a16="http://schemas.microsoft.com/office/drawing/2014/main" id="{344BAC3A-DA7B-2DA9-DD1E-9C7465F04466}"/>
              </a:ext>
            </a:extLst>
          </p:cNvPr>
          <p:cNvGraphicFramePr>
            <a:graphicFrameLocks noGrp="1"/>
          </p:cNvGraphicFramePr>
          <p:nvPr>
            <p:extLst>
              <p:ext uri="{D42A27DB-BD31-4B8C-83A1-F6EECF244321}">
                <p14:modId xmlns:p14="http://schemas.microsoft.com/office/powerpoint/2010/main" val="4293878050"/>
              </p:ext>
            </p:extLst>
          </p:nvPr>
        </p:nvGraphicFramePr>
        <p:xfrm>
          <a:off x="2775075" y="5153123"/>
          <a:ext cx="2259633" cy="491205"/>
        </p:xfrm>
        <a:graphic>
          <a:graphicData uri="http://schemas.openxmlformats.org/drawingml/2006/table">
            <a:tbl>
              <a:tblPr firstRow="1" bandRow="1">
                <a:tableStyleId>{073A0DAA-6AF3-43AB-8588-CEC1D06C72B9}</a:tableStyleId>
              </a:tblPr>
              <a:tblGrid>
                <a:gridCol w="753211">
                  <a:extLst>
                    <a:ext uri="{9D8B030D-6E8A-4147-A177-3AD203B41FA5}">
                      <a16:colId xmlns:a16="http://schemas.microsoft.com/office/drawing/2014/main" val="632589234"/>
                    </a:ext>
                  </a:extLst>
                </a:gridCol>
                <a:gridCol w="753211">
                  <a:extLst>
                    <a:ext uri="{9D8B030D-6E8A-4147-A177-3AD203B41FA5}">
                      <a16:colId xmlns:a16="http://schemas.microsoft.com/office/drawing/2014/main" val="2478904765"/>
                    </a:ext>
                  </a:extLst>
                </a:gridCol>
                <a:gridCol w="753211">
                  <a:extLst>
                    <a:ext uri="{9D8B030D-6E8A-4147-A177-3AD203B41FA5}">
                      <a16:colId xmlns:a16="http://schemas.microsoft.com/office/drawing/2014/main" val="484499221"/>
                    </a:ext>
                  </a:extLst>
                </a:gridCol>
              </a:tblGrid>
              <a:tr h="163735">
                <a:tc>
                  <a:txBody>
                    <a:bodyPr/>
                    <a:lstStyle/>
                    <a:p>
                      <a:r>
                        <a:rPr kumimoji="1" lang="ja-JP" altLang="en-US" sz="800" dirty="0"/>
                        <a:t>契約</a:t>
                      </a:r>
                      <a:r>
                        <a:rPr kumimoji="1" lang="en-US" altLang="ja-JP" sz="800" dirty="0"/>
                        <a:t>ID</a:t>
                      </a:r>
                      <a:endParaRPr kumimoji="1" lang="ja-JP" altLang="en-US" sz="800" dirty="0"/>
                    </a:p>
                  </a:txBody>
                  <a:tcPr marL="40373" marR="40373" marT="20187" marB="20187"/>
                </a:tc>
                <a:tc>
                  <a:txBody>
                    <a:bodyPr/>
                    <a:lstStyle/>
                    <a:p>
                      <a:r>
                        <a:rPr kumimoji="1" lang="ja-JP" altLang="en-US" sz="800" dirty="0"/>
                        <a:t>電話番号</a:t>
                      </a:r>
                    </a:p>
                  </a:txBody>
                  <a:tcPr marL="40373" marR="40373" marT="20187" marB="20187"/>
                </a:tc>
                <a:tc>
                  <a:txBody>
                    <a:bodyPr/>
                    <a:lstStyle/>
                    <a:p>
                      <a:r>
                        <a:rPr kumimoji="1" lang="ja-JP" altLang="en-US" sz="800" dirty="0"/>
                        <a:t>なまえ</a:t>
                      </a:r>
                    </a:p>
                  </a:txBody>
                  <a:tcPr marL="40373" marR="40373" marT="20187" marB="20187"/>
                </a:tc>
                <a:extLst>
                  <a:ext uri="{0D108BD9-81ED-4DB2-BD59-A6C34878D82A}">
                    <a16:rowId xmlns:a16="http://schemas.microsoft.com/office/drawing/2014/main" val="3721538852"/>
                  </a:ext>
                </a:extLst>
              </a:tr>
              <a:tr h="163735">
                <a:tc>
                  <a:txBody>
                    <a:bodyPr/>
                    <a:lstStyle/>
                    <a:p>
                      <a:endParaRPr kumimoji="1" lang="ja-JP" altLang="en-US" sz="800"/>
                    </a:p>
                  </a:txBody>
                  <a:tcPr marL="40373" marR="40373" marT="20187" marB="20187"/>
                </a:tc>
                <a:tc>
                  <a:txBody>
                    <a:bodyPr/>
                    <a:lstStyle/>
                    <a:p>
                      <a:endParaRPr kumimoji="1" lang="ja-JP" altLang="en-US" sz="800" dirty="0"/>
                    </a:p>
                  </a:txBody>
                  <a:tcPr marL="40373" marR="40373" marT="20187" marB="20187"/>
                </a:tc>
                <a:tc>
                  <a:txBody>
                    <a:bodyPr/>
                    <a:lstStyle/>
                    <a:p>
                      <a:endParaRPr kumimoji="1" lang="ja-JP" altLang="en-US" sz="800"/>
                    </a:p>
                  </a:txBody>
                  <a:tcPr marL="40373" marR="40373" marT="20187" marB="20187"/>
                </a:tc>
                <a:extLst>
                  <a:ext uri="{0D108BD9-81ED-4DB2-BD59-A6C34878D82A}">
                    <a16:rowId xmlns:a16="http://schemas.microsoft.com/office/drawing/2014/main" val="2677277498"/>
                  </a:ext>
                </a:extLst>
              </a:tr>
              <a:tr h="163735">
                <a:tc>
                  <a:txBody>
                    <a:bodyPr/>
                    <a:lstStyle/>
                    <a:p>
                      <a:endParaRPr kumimoji="1" lang="ja-JP" altLang="en-US" sz="800"/>
                    </a:p>
                  </a:txBody>
                  <a:tcPr marL="40373" marR="40373" marT="20187" marB="20187"/>
                </a:tc>
                <a:tc>
                  <a:txBody>
                    <a:bodyPr/>
                    <a:lstStyle/>
                    <a:p>
                      <a:endParaRPr kumimoji="1" lang="ja-JP" altLang="en-US" sz="800"/>
                    </a:p>
                  </a:txBody>
                  <a:tcPr marL="40373" marR="40373" marT="20187" marB="20187"/>
                </a:tc>
                <a:tc>
                  <a:txBody>
                    <a:bodyPr/>
                    <a:lstStyle/>
                    <a:p>
                      <a:endParaRPr kumimoji="1" lang="ja-JP" altLang="en-US" sz="800" dirty="0"/>
                    </a:p>
                  </a:txBody>
                  <a:tcPr marL="40373" marR="40373" marT="20187" marB="20187"/>
                </a:tc>
                <a:extLst>
                  <a:ext uri="{0D108BD9-81ED-4DB2-BD59-A6C34878D82A}">
                    <a16:rowId xmlns:a16="http://schemas.microsoft.com/office/drawing/2014/main" val="246849539"/>
                  </a:ext>
                </a:extLst>
              </a:tr>
            </a:tbl>
          </a:graphicData>
        </a:graphic>
      </p:graphicFrame>
      <p:graphicFrame>
        <p:nvGraphicFramePr>
          <p:cNvPr id="8" name="表 7">
            <a:extLst>
              <a:ext uri="{FF2B5EF4-FFF2-40B4-BE49-F238E27FC236}">
                <a16:creationId xmlns:a16="http://schemas.microsoft.com/office/drawing/2014/main" id="{580BED8E-2C97-015D-2F9B-75788C8A82EA}"/>
              </a:ext>
            </a:extLst>
          </p:cNvPr>
          <p:cNvGraphicFramePr>
            <a:graphicFrameLocks noGrp="1"/>
          </p:cNvGraphicFramePr>
          <p:nvPr>
            <p:extLst>
              <p:ext uri="{D42A27DB-BD31-4B8C-83A1-F6EECF244321}">
                <p14:modId xmlns:p14="http://schemas.microsoft.com/office/powerpoint/2010/main" val="3909594004"/>
              </p:ext>
            </p:extLst>
          </p:nvPr>
        </p:nvGraphicFramePr>
        <p:xfrm>
          <a:off x="2775075" y="4436487"/>
          <a:ext cx="2259633" cy="491205"/>
        </p:xfrm>
        <a:graphic>
          <a:graphicData uri="http://schemas.openxmlformats.org/drawingml/2006/table">
            <a:tbl>
              <a:tblPr firstRow="1" bandRow="1">
                <a:tableStyleId>{21E4AEA4-8DFA-4A89-87EB-49C32662AFE0}</a:tableStyleId>
              </a:tblPr>
              <a:tblGrid>
                <a:gridCol w="753211">
                  <a:extLst>
                    <a:ext uri="{9D8B030D-6E8A-4147-A177-3AD203B41FA5}">
                      <a16:colId xmlns:a16="http://schemas.microsoft.com/office/drawing/2014/main" val="632589234"/>
                    </a:ext>
                  </a:extLst>
                </a:gridCol>
                <a:gridCol w="753211">
                  <a:extLst>
                    <a:ext uri="{9D8B030D-6E8A-4147-A177-3AD203B41FA5}">
                      <a16:colId xmlns:a16="http://schemas.microsoft.com/office/drawing/2014/main" val="2478904765"/>
                    </a:ext>
                  </a:extLst>
                </a:gridCol>
                <a:gridCol w="753211">
                  <a:extLst>
                    <a:ext uri="{9D8B030D-6E8A-4147-A177-3AD203B41FA5}">
                      <a16:colId xmlns:a16="http://schemas.microsoft.com/office/drawing/2014/main" val="484499221"/>
                    </a:ext>
                  </a:extLst>
                </a:gridCol>
              </a:tblGrid>
              <a:tr h="163735">
                <a:tc>
                  <a:txBody>
                    <a:bodyPr/>
                    <a:lstStyle/>
                    <a:p>
                      <a:r>
                        <a:rPr kumimoji="1" lang="ja-JP" altLang="en-US" sz="800" dirty="0"/>
                        <a:t>マイナンバー</a:t>
                      </a:r>
                    </a:p>
                  </a:txBody>
                  <a:tcPr marL="40373" marR="40373" marT="20187" marB="20187"/>
                </a:tc>
                <a:tc>
                  <a:txBody>
                    <a:bodyPr/>
                    <a:lstStyle/>
                    <a:p>
                      <a:r>
                        <a:rPr kumimoji="1" lang="ja-JP" altLang="en-US" sz="800" dirty="0"/>
                        <a:t>なまえ</a:t>
                      </a:r>
                    </a:p>
                  </a:txBody>
                  <a:tcPr marL="40373" marR="40373" marT="20187" marB="20187"/>
                </a:tc>
                <a:tc>
                  <a:txBody>
                    <a:bodyPr/>
                    <a:lstStyle/>
                    <a:p>
                      <a:r>
                        <a:rPr kumimoji="1" lang="ja-JP" altLang="en-US" sz="800" dirty="0"/>
                        <a:t>住所</a:t>
                      </a:r>
                    </a:p>
                  </a:txBody>
                  <a:tcPr marL="40373" marR="40373" marT="20187" marB="20187"/>
                </a:tc>
                <a:extLst>
                  <a:ext uri="{0D108BD9-81ED-4DB2-BD59-A6C34878D82A}">
                    <a16:rowId xmlns:a16="http://schemas.microsoft.com/office/drawing/2014/main" val="3721538852"/>
                  </a:ext>
                </a:extLst>
              </a:tr>
              <a:tr h="163735">
                <a:tc>
                  <a:txBody>
                    <a:bodyPr/>
                    <a:lstStyle/>
                    <a:p>
                      <a:endParaRPr kumimoji="1" lang="ja-JP" altLang="en-US" sz="800"/>
                    </a:p>
                  </a:txBody>
                  <a:tcPr marL="40373" marR="40373" marT="20187" marB="20187"/>
                </a:tc>
                <a:tc>
                  <a:txBody>
                    <a:bodyPr/>
                    <a:lstStyle/>
                    <a:p>
                      <a:endParaRPr kumimoji="1" lang="ja-JP" altLang="en-US" sz="800"/>
                    </a:p>
                  </a:txBody>
                  <a:tcPr marL="40373" marR="40373" marT="20187" marB="20187"/>
                </a:tc>
                <a:tc>
                  <a:txBody>
                    <a:bodyPr/>
                    <a:lstStyle/>
                    <a:p>
                      <a:endParaRPr kumimoji="1" lang="ja-JP" altLang="en-US" sz="800" dirty="0"/>
                    </a:p>
                  </a:txBody>
                  <a:tcPr marL="40373" marR="40373" marT="20187" marB="20187"/>
                </a:tc>
                <a:extLst>
                  <a:ext uri="{0D108BD9-81ED-4DB2-BD59-A6C34878D82A}">
                    <a16:rowId xmlns:a16="http://schemas.microsoft.com/office/drawing/2014/main" val="2677277498"/>
                  </a:ext>
                </a:extLst>
              </a:tr>
              <a:tr h="163735">
                <a:tc>
                  <a:txBody>
                    <a:bodyPr/>
                    <a:lstStyle/>
                    <a:p>
                      <a:endParaRPr kumimoji="1" lang="ja-JP" altLang="en-US" sz="800"/>
                    </a:p>
                  </a:txBody>
                  <a:tcPr marL="40373" marR="40373" marT="20187" marB="20187"/>
                </a:tc>
                <a:tc>
                  <a:txBody>
                    <a:bodyPr/>
                    <a:lstStyle/>
                    <a:p>
                      <a:endParaRPr kumimoji="1" lang="ja-JP" altLang="en-US" sz="800"/>
                    </a:p>
                  </a:txBody>
                  <a:tcPr marL="40373" marR="40373" marT="20187" marB="20187"/>
                </a:tc>
                <a:tc>
                  <a:txBody>
                    <a:bodyPr/>
                    <a:lstStyle/>
                    <a:p>
                      <a:endParaRPr kumimoji="1" lang="ja-JP" altLang="en-US" sz="800" dirty="0"/>
                    </a:p>
                  </a:txBody>
                  <a:tcPr marL="40373" marR="40373" marT="20187" marB="20187"/>
                </a:tc>
                <a:extLst>
                  <a:ext uri="{0D108BD9-81ED-4DB2-BD59-A6C34878D82A}">
                    <a16:rowId xmlns:a16="http://schemas.microsoft.com/office/drawing/2014/main" val="246849539"/>
                  </a:ext>
                </a:extLst>
              </a:tr>
            </a:tbl>
          </a:graphicData>
        </a:graphic>
      </p:graphicFrame>
      <p:sp>
        <p:nvSpPr>
          <p:cNvPr id="9" name="吹き出し: 折線 (枠付き、強調線付き) 8">
            <a:extLst>
              <a:ext uri="{FF2B5EF4-FFF2-40B4-BE49-F238E27FC236}">
                <a16:creationId xmlns:a16="http://schemas.microsoft.com/office/drawing/2014/main" id="{8AC544DD-18A5-A696-DF24-F23DAFFBC4F4}"/>
              </a:ext>
            </a:extLst>
          </p:cNvPr>
          <p:cNvSpPr/>
          <p:nvPr/>
        </p:nvSpPr>
        <p:spPr>
          <a:xfrm>
            <a:off x="7004333" y="4068906"/>
            <a:ext cx="4725367" cy="1825435"/>
          </a:xfrm>
          <a:prstGeom prst="accentBorderCallout2">
            <a:avLst>
              <a:gd name="adj1" fmla="val 18750"/>
              <a:gd name="adj2" fmla="val -8333"/>
              <a:gd name="adj3" fmla="val 18750"/>
              <a:gd name="adj4" fmla="val -16667"/>
              <a:gd name="adj5" fmla="val 63746"/>
              <a:gd name="adj6" fmla="val -56446"/>
            </a:avLst>
          </a:prstGeom>
          <a:solidFill>
            <a:schemeClr val="accent1">
              <a:lumMod val="20000"/>
              <a:lumOff val="80000"/>
            </a:schemeClr>
          </a:solidFill>
          <a:ln>
            <a:solidFill>
              <a:schemeClr val="tx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kumimoji="1" lang="ja-JP" altLang="en-US" dirty="0">
                <a:solidFill>
                  <a:schemeClr val="tx1">
                    <a:lumMod val="75000"/>
                  </a:schemeClr>
                </a:solidFill>
              </a:rPr>
              <a:t>テーブルを操作するための言語が</a:t>
            </a:r>
            <a:r>
              <a:rPr kumimoji="1" lang="en-US" altLang="ja-JP" dirty="0">
                <a:solidFill>
                  <a:schemeClr val="tx1">
                    <a:lumMod val="75000"/>
                  </a:schemeClr>
                </a:solidFill>
              </a:rPr>
              <a:t>SQL</a:t>
            </a:r>
          </a:p>
          <a:p>
            <a:r>
              <a:rPr lang="ja-JP" altLang="en-US" dirty="0">
                <a:solidFill>
                  <a:schemeClr val="tx1">
                    <a:lumMod val="75000"/>
                  </a:schemeClr>
                </a:solidFill>
              </a:rPr>
              <a:t>以下テーブル操作のための</a:t>
            </a:r>
            <a:r>
              <a:rPr lang="en-US" altLang="ja-JP" dirty="0">
                <a:solidFill>
                  <a:schemeClr val="tx1">
                    <a:lumMod val="75000"/>
                  </a:schemeClr>
                </a:solidFill>
              </a:rPr>
              <a:t>4</a:t>
            </a:r>
            <a:r>
              <a:rPr lang="ja-JP" altLang="en-US" dirty="0">
                <a:solidFill>
                  <a:schemeClr val="tx1">
                    <a:lumMod val="75000"/>
                  </a:schemeClr>
                </a:solidFill>
              </a:rPr>
              <a:t>種類がメジャーどころ</a:t>
            </a:r>
            <a:endParaRPr lang="en-US" altLang="ja-JP" dirty="0">
              <a:solidFill>
                <a:schemeClr val="tx1">
                  <a:lumMod val="75000"/>
                </a:schemeClr>
              </a:solidFill>
            </a:endParaRPr>
          </a:p>
          <a:p>
            <a:pPr marL="285750" indent="-285750">
              <a:buFont typeface="Arial" panose="020B0604020202020204" pitchFamily="34" charset="0"/>
              <a:buChar char="•"/>
            </a:pPr>
            <a:r>
              <a:rPr kumimoji="1" lang="en-US" altLang="ja-JP" b="1" dirty="0">
                <a:solidFill>
                  <a:schemeClr val="tx1">
                    <a:lumMod val="75000"/>
                  </a:schemeClr>
                </a:solidFill>
              </a:rPr>
              <a:t>SELECT</a:t>
            </a:r>
            <a:r>
              <a:rPr kumimoji="1" lang="ja-JP" altLang="en-US" b="1" dirty="0">
                <a:solidFill>
                  <a:schemeClr val="tx1">
                    <a:lumMod val="75000"/>
                  </a:schemeClr>
                </a:solidFill>
              </a:rPr>
              <a:t>：検索を行う</a:t>
            </a:r>
            <a:endParaRPr kumimoji="1" lang="en-US" altLang="ja-JP" b="1" dirty="0">
              <a:solidFill>
                <a:schemeClr val="tx1">
                  <a:lumMod val="75000"/>
                </a:schemeClr>
              </a:solidFill>
            </a:endParaRPr>
          </a:p>
          <a:p>
            <a:pPr marL="285750" indent="-285750">
              <a:buFont typeface="Arial" panose="020B0604020202020204" pitchFamily="34" charset="0"/>
              <a:buChar char="•"/>
            </a:pPr>
            <a:r>
              <a:rPr lang="en-US" altLang="ja-JP" dirty="0">
                <a:solidFill>
                  <a:schemeClr val="tx1">
                    <a:lumMod val="75000"/>
                  </a:schemeClr>
                </a:solidFill>
              </a:rPr>
              <a:t>INSERT</a:t>
            </a:r>
            <a:r>
              <a:rPr lang="ja-JP" altLang="en-US" dirty="0">
                <a:solidFill>
                  <a:schemeClr val="tx1">
                    <a:lumMod val="75000"/>
                  </a:schemeClr>
                </a:solidFill>
              </a:rPr>
              <a:t>：登録を行う</a:t>
            </a:r>
            <a:endParaRPr lang="en-US" altLang="ja-JP" dirty="0">
              <a:solidFill>
                <a:schemeClr val="tx1">
                  <a:lumMod val="75000"/>
                </a:schemeClr>
              </a:solidFill>
            </a:endParaRPr>
          </a:p>
          <a:p>
            <a:pPr marL="285750" indent="-285750">
              <a:buFont typeface="Arial" panose="020B0604020202020204" pitchFamily="34" charset="0"/>
              <a:buChar char="•"/>
            </a:pPr>
            <a:r>
              <a:rPr kumimoji="1" lang="en-US" altLang="ja-JP" dirty="0">
                <a:solidFill>
                  <a:schemeClr val="tx1">
                    <a:lumMod val="75000"/>
                  </a:schemeClr>
                </a:solidFill>
              </a:rPr>
              <a:t>UPDATE</a:t>
            </a:r>
            <a:r>
              <a:rPr kumimoji="1" lang="ja-JP" altLang="en-US" dirty="0">
                <a:solidFill>
                  <a:schemeClr val="tx1">
                    <a:lumMod val="75000"/>
                  </a:schemeClr>
                </a:solidFill>
              </a:rPr>
              <a:t>：更新を行う</a:t>
            </a:r>
            <a:endParaRPr kumimoji="1" lang="en-US" altLang="ja-JP" dirty="0">
              <a:solidFill>
                <a:schemeClr val="tx1">
                  <a:lumMod val="75000"/>
                </a:schemeClr>
              </a:solidFill>
            </a:endParaRPr>
          </a:p>
          <a:p>
            <a:pPr marL="285750" indent="-285750">
              <a:buFont typeface="Arial" panose="020B0604020202020204" pitchFamily="34" charset="0"/>
              <a:buChar char="•"/>
            </a:pPr>
            <a:r>
              <a:rPr lang="en-US" altLang="ja-JP" dirty="0">
                <a:solidFill>
                  <a:schemeClr val="tx1">
                    <a:lumMod val="75000"/>
                  </a:schemeClr>
                </a:solidFill>
              </a:rPr>
              <a:t>DELETE</a:t>
            </a:r>
            <a:r>
              <a:rPr lang="ja-JP" altLang="en-US" dirty="0">
                <a:solidFill>
                  <a:schemeClr val="tx1">
                    <a:lumMod val="75000"/>
                  </a:schemeClr>
                </a:solidFill>
              </a:rPr>
              <a:t>：削除を行う</a:t>
            </a:r>
            <a:endParaRPr kumimoji="1" lang="en-US" altLang="ja-JP" dirty="0">
              <a:solidFill>
                <a:schemeClr val="tx1">
                  <a:lumMod val="75000"/>
                </a:schemeClr>
              </a:solidFill>
            </a:endParaRPr>
          </a:p>
          <a:p>
            <a:pPr marL="285750" indent="-285750">
              <a:buFont typeface="Arial" panose="020B0604020202020204" pitchFamily="34" charset="0"/>
              <a:buChar char="•"/>
            </a:pPr>
            <a:endParaRPr kumimoji="1" lang="ja-JP" altLang="en-US" dirty="0">
              <a:solidFill>
                <a:schemeClr val="tx1">
                  <a:lumMod val="75000"/>
                </a:schemeClr>
              </a:solidFill>
            </a:endParaRPr>
          </a:p>
        </p:txBody>
      </p:sp>
    </p:spTree>
    <p:extLst>
      <p:ext uri="{BB962C8B-B14F-4D97-AF65-F5344CB8AC3E}">
        <p14:creationId xmlns:p14="http://schemas.microsoft.com/office/powerpoint/2010/main" val="832867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9F98E-F2D0-5983-5CE4-34CEC158F368}"/>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82024215-4C21-A36D-C36E-4DC4DA34A139}"/>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3A3CECF2-96B7-802E-8DE6-6D98CE87CDA6}"/>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大量のデータが格納されたテーブルに検索しにいくと、パフォーマンスが悪化する</a:t>
            </a:r>
            <a:endParaRPr lang="en-US" altLang="ja-JP" sz="2800" dirty="0"/>
          </a:p>
        </p:txBody>
      </p:sp>
      <p:sp>
        <p:nvSpPr>
          <p:cNvPr id="4" name="タイトル プレースホルダー 1">
            <a:extLst>
              <a:ext uri="{FF2B5EF4-FFF2-40B4-BE49-F238E27FC236}">
                <a16:creationId xmlns:a16="http://schemas.microsoft.com/office/drawing/2014/main" id="{7A1E6E7E-5B9C-619C-CB1F-1E7E82F674A0}"/>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SELECT</a:t>
            </a:r>
            <a:r>
              <a:rPr lang="ja-JP" altLang="en-US" dirty="0"/>
              <a:t>の問題点</a:t>
            </a:r>
            <a:endParaRPr lang="en-US" altLang="ja-JP" dirty="0"/>
          </a:p>
        </p:txBody>
      </p:sp>
      <p:sp>
        <p:nvSpPr>
          <p:cNvPr id="5" name="タイトル プレースホルダー 1">
            <a:extLst>
              <a:ext uri="{FF2B5EF4-FFF2-40B4-BE49-F238E27FC236}">
                <a16:creationId xmlns:a16="http://schemas.microsoft.com/office/drawing/2014/main" id="{354BF9BD-9AE6-496F-84B5-F2F24F297B8B}"/>
              </a:ext>
            </a:extLst>
          </p:cNvPr>
          <p:cNvSpPr txBox="1">
            <a:spLocks/>
          </p:cNvSpPr>
          <p:nvPr/>
        </p:nvSpPr>
        <p:spPr>
          <a:xfrm>
            <a:off x="6096000" y="2146304"/>
            <a:ext cx="5765800" cy="13192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左記の表では</a:t>
            </a:r>
            <a:r>
              <a:rPr lang="en-US" altLang="ja-JP" sz="1800" dirty="0"/>
              <a:t>2</a:t>
            </a:r>
            <a:r>
              <a:rPr lang="ja-JP" altLang="en-US" sz="1800" dirty="0"/>
              <a:t>件しか登録していない。</a:t>
            </a:r>
            <a:endParaRPr lang="en-US" altLang="ja-JP" sz="1800" dirty="0"/>
          </a:p>
          <a:p>
            <a:pPr marL="285750" indent="-285750">
              <a:buFont typeface="Arial" panose="020B0604020202020204" pitchFamily="34" charset="0"/>
              <a:buChar char="•"/>
            </a:pPr>
            <a:r>
              <a:rPr lang="ja-JP" altLang="en-US" sz="1800" dirty="0"/>
              <a:t>この状態であれば一瞬で検索が完了することは想像できる</a:t>
            </a:r>
            <a:endParaRPr lang="en-US" altLang="ja-JP" sz="1800" dirty="0"/>
          </a:p>
          <a:p>
            <a:pPr marL="285750" indent="-285750">
              <a:buFont typeface="Arial" panose="020B0604020202020204" pitchFamily="34" charset="0"/>
              <a:buChar char="•"/>
            </a:pPr>
            <a:r>
              <a:rPr lang="ja-JP" altLang="en-US" sz="1800" dirty="0"/>
              <a:t>しかし、データが</a:t>
            </a:r>
            <a:r>
              <a:rPr lang="en-US" altLang="ja-JP" sz="1800" dirty="0"/>
              <a:t>100</a:t>
            </a:r>
            <a:r>
              <a:rPr lang="ja-JP" altLang="en-US" sz="1800" dirty="0"/>
              <a:t>万件登録されているとしたら？</a:t>
            </a:r>
            <a:endParaRPr lang="en-US" altLang="ja-JP" sz="1800" dirty="0"/>
          </a:p>
          <a:p>
            <a:pPr marL="285750" indent="-285750">
              <a:buFont typeface="Arial" panose="020B0604020202020204" pitchFamily="34" charset="0"/>
              <a:buChar char="•"/>
            </a:pPr>
            <a:r>
              <a:rPr lang="ja-JP" altLang="en-US" sz="1800" dirty="0"/>
              <a:t>テーブルに対して指定した条件に当てはまるデータをすべて見て、指示されたデータを検索しにいく。</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graphicFrame>
        <p:nvGraphicFramePr>
          <p:cNvPr id="6" name="表 5">
            <a:extLst>
              <a:ext uri="{FF2B5EF4-FFF2-40B4-BE49-F238E27FC236}">
                <a16:creationId xmlns:a16="http://schemas.microsoft.com/office/drawing/2014/main" id="{7B660C7C-8EF5-3DD0-52BA-5B791E1BB84B}"/>
              </a:ext>
            </a:extLst>
          </p:cNvPr>
          <p:cNvGraphicFramePr>
            <a:graphicFrameLocks noGrp="1"/>
          </p:cNvGraphicFramePr>
          <p:nvPr>
            <p:extLst>
              <p:ext uri="{D42A27DB-BD31-4B8C-83A1-F6EECF244321}">
                <p14:modId xmlns:p14="http://schemas.microsoft.com/office/powerpoint/2010/main" val="4282444322"/>
              </p:ext>
            </p:extLst>
          </p:nvPr>
        </p:nvGraphicFramePr>
        <p:xfrm>
          <a:off x="355600" y="2378054"/>
          <a:ext cx="5236940" cy="4214452"/>
        </p:xfrm>
        <a:graphic>
          <a:graphicData uri="http://schemas.openxmlformats.org/drawingml/2006/table">
            <a:tbl>
              <a:tblPr firstRow="1" bandRow="1">
                <a:tableStyleId>{5C22544A-7EE6-4342-B048-85BDC9FD1C3A}</a:tableStyleId>
              </a:tblPr>
              <a:tblGrid>
                <a:gridCol w="1309235">
                  <a:extLst>
                    <a:ext uri="{9D8B030D-6E8A-4147-A177-3AD203B41FA5}">
                      <a16:colId xmlns:a16="http://schemas.microsoft.com/office/drawing/2014/main" val="632589234"/>
                    </a:ext>
                  </a:extLst>
                </a:gridCol>
                <a:gridCol w="1309235">
                  <a:extLst>
                    <a:ext uri="{9D8B030D-6E8A-4147-A177-3AD203B41FA5}">
                      <a16:colId xmlns:a16="http://schemas.microsoft.com/office/drawing/2014/main" val="2478904765"/>
                    </a:ext>
                  </a:extLst>
                </a:gridCol>
                <a:gridCol w="1309235">
                  <a:extLst>
                    <a:ext uri="{9D8B030D-6E8A-4147-A177-3AD203B41FA5}">
                      <a16:colId xmlns:a16="http://schemas.microsoft.com/office/drawing/2014/main" val="2103884576"/>
                    </a:ext>
                  </a:extLst>
                </a:gridCol>
                <a:gridCol w="1309235">
                  <a:extLst>
                    <a:ext uri="{9D8B030D-6E8A-4147-A177-3AD203B41FA5}">
                      <a16:colId xmlns:a16="http://schemas.microsoft.com/office/drawing/2014/main" val="484499221"/>
                    </a:ext>
                  </a:extLst>
                </a:gridCol>
              </a:tblGrid>
              <a:tr h="379473">
                <a:tc>
                  <a:txBody>
                    <a:bodyPr/>
                    <a:lstStyle/>
                    <a:p>
                      <a:r>
                        <a:rPr kumimoji="1" lang="ja-JP" altLang="en-US" sz="1900" dirty="0">
                          <a:solidFill>
                            <a:schemeClr val="tx1">
                              <a:lumMod val="75000"/>
                            </a:schemeClr>
                          </a:solidFill>
                        </a:rPr>
                        <a:t>契約</a:t>
                      </a:r>
                      <a:r>
                        <a:rPr kumimoji="1" lang="en-US" altLang="ja-JP" sz="1900" dirty="0">
                          <a:solidFill>
                            <a:schemeClr val="tx1">
                              <a:lumMod val="75000"/>
                            </a:schemeClr>
                          </a:solidFill>
                        </a:rPr>
                        <a:t>ID</a:t>
                      </a:r>
                      <a:endParaRPr kumimoji="1" lang="ja-JP" altLang="en-US" sz="1900" dirty="0">
                        <a:solidFill>
                          <a:schemeClr val="tx1">
                            <a:lumMod val="75000"/>
                          </a:schemeClr>
                        </a:solidFill>
                      </a:endParaRPr>
                    </a:p>
                  </a:txBody>
                  <a:tcPr marL="93569" marR="93569" marT="46786" marB="46786"/>
                </a:tc>
                <a:tc>
                  <a:txBody>
                    <a:bodyPr/>
                    <a:lstStyle/>
                    <a:p>
                      <a:r>
                        <a:rPr kumimoji="1" lang="ja-JP" altLang="en-US" sz="1900" dirty="0">
                          <a:solidFill>
                            <a:schemeClr val="tx1">
                              <a:lumMod val="75000"/>
                            </a:schemeClr>
                          </a:solidFill>
                        </a:rPr>
                        <a:t>電話番号</a:t>
                      </a:r>
                    </a:p>
                  </a:txBody>
                  <a:tcPr marL="93569" marR="93569" marT="46786" marB="46786"/>
                </a:tc>
                <a:tc>
                  <a:txBody>
                    <a:bodyPr/>
                    <a:lstStyle/>
                    <a:p>
                      <a:r>
                        <a:rPr kumimoji="1" lang="ja-JP" altLang="en-US" sz="1900" dirty="0">
                          <a:solidFill>
                            <a:schemeClr val="tx1">
                              <a:lumMod val="75000"/>
                            </a:schemeClr>
                          </a:solidFill>
                        </a:rPr>
                        <a:t>性別</a:t>
                      </a:r>
                    </a:p>
                  </a:txBody>
                  <a:tcPr marL="93569" marR="93569" marT="46786" marB="46786"/>
                </a:tc>
                <a:tc>
                  <a:txBody>
                    <a:bodyPr/>
                    <a:lstStyle/>
                    <a:p>
                      <a:r>
                        <a:rPr kumimoji="1" lang="ja-JP" altLang="en-US" sz="1900" dirty="0">
                          <a:solidFill>
                            <a:schemeClr val="tx1">
                              <a:lumMod val="75000"/>
                            </a:schemeClr>
                          </a:solidFill>
                        </a:rPr>
                        <a:t>なまえ</a:t>
                      </a:r>
                    </a:p>
                  </a:txBody>
                  <a:tcPr marL="93569" marR="93569" marT="46786" marB="46786"/>
                </a:tc>
                <a:extLst>
                  <a:ext uri="{0D108BD9-81ED-4DB2-BD59-A6C34878D82A}">
                    <a16:rowId xmlns:a16="http://schemas.microsoft.com/office/drawing/2014/main" val="3721538852"/>
                  </a:ext>
                </a:extLst>
              </a:tr>
              <a:tr h="379473">
                <a:tc>
                  <a:txBody>
                    <a:bodyPr/>
                    <a:lstStyle/>
                    <a:p>
                      <a:r>
                        <a:rPr kumimoji="1" lang="en-US" altLang="ja-JP" sz="1900" dirty="0"/>
                        <a:t>001</a:t>
                      </a:r>
                      <a:endParaRPr kumimoji="1" lang="ja-JP" altLang="en-US" sz="1900" dirty="0"/>
                    </a:p>
                  </a:txBody>
                  <a:tcPr marL="93569" marR="93569" marT="46786" marB="46786"/>
                </a:tc>
                <a:tc>
                  <a:txBody>
                    <a:bodyPr/>
                    <a:lstStyle/>
                    <a:p>
                      <a:r>
                        <a:rPr kumimoji="1" lang="en-US" altLang="ja-JP" sz="1900" dirty="0"/>
                        <a:t>000</a:t>
                      </a:r>
                      <a:endParaRPr kumimoji="1" lang="ja-JP" altLang="en-US" sz="1900" dirty="0"/>
                    </a:p>
                  </a:txBody>
                  <a:tcPr marL="93569" marR="93569" marT="46786" marB="46786"/>
                </a:tc>
                <a:tc>
                  <a:txBody>
                    <a:bodyPr/>
                    <a:lstStyle/>
                    <a:p>
                      <a:r>
                        <a:rPr kumimoji="1" lang="ja-JP" altLang="en-US" sz="1900" dirty="0"/>
                        <a:t>男</a:t>
                      </a:r>
                    </a:p>
                  </a:txBody>
                  <a:tcPr marL="93569" marR="93569" marT="46786" marB="46786"/>
                </a:tc>
                <a:tc>
                  <a:txBody>
                    <a:bodyPr/>
                    <a:lstStyle/>
                    <a:p>
                      <a:r>
                        <a:rPr kumimoji="1" lang="ja-JP" altLang="en-US" sz="1900" dirty="0"/>
                        <a:t>たけし</a:t>
                      </a:r>
                    </a:p>
                  </a:txBody>
                  <a:tcPr marL="93569" marR="93569" marT="46786" marB="46786"/>
                </a:tc>
                <a:extLst>
                  <a:ext uri="{0D108BD9-81ED-4DB2-BD59-A6C34878D82A}">
                    <a16:rowId xmlns:a16="http://schemas.microsoft.com/office/drawing/2014/main" val="2677277498"/>
                  </a:ext>
                </a:extLst>
              </a:tr>
              <a:tr h="379473">
                <a:tc>
                  <a:txBody>
                    <a:bodyPr/>
                    <a:lstStyle/>
                    <a:p>
                      <a:r>
                        <a:rPr kumimoji="1" lang="en-US" altLang="ja-JP" sz="1900" dirty="0"/>
                        <a:t>002</a:t>
                      </a:r>
                      <a:endParaRPr kumimoji="1" lang="ja-JP" altLang="en-US" sz="1900" dirty="0"/>
                    </a:p>
                  </a:txBody>
                  <a:tcPr marL="93569" marR="93569" marT="46786" marB="46786"/>
                </a:tc>
                <a:tc>
                  <a:txBody>
                    <a:bodyPr/>
                    <a:lstStyle/>
                    <a:p>
                      <a:r>
                        <a:rPr kumimoji="1" lang="en-US" altLang="ja-JP" sz="1900" dirty="0"/>
                        <a:t>111</a:t>
                      </a:r>
                      <a:endParaRPr kumimoji="1" lang="ja-JP" altLang="en-US" sz="1900" dirty="0"/>
                    </a:p>
                  </a:txBody>
                  <a:tcPr marL="93569" marR="93569" marT="46786" marB="46786"/>
                </a:tc>
                <a:tc>
                  <a:txBody>
                    <a:bodyPr/>
                    <a:lstStyle/>
                    <a:p>
                      <a:r>
                        <a:rPr kumimoji="1" lang="ja-JP" altLang="en-US" sz="1900" dirty="0"/>
                        <a:t>女</a:t>
                      </a:r>
                    </a:p>
                  </a:txBody>
                  <a:tcPr marL="93569" marR="93569" marT="46786" marB="46786"/>
                </a:tc>
                <a:tc>
                  <a:txBody>
                    <a:bodyPr/>
                    <a:lstStyle/>
                    <a:p>
                      <a:r>
                        <a:rPr kumimoji="1" lang="ja-JP" altLang="en-US" sz="1900" dirty="0"/>
                        <a:t>はなこ</a:t>
                      </a:r>
                    </a:p>
                  </a:txBody>
                  <a:tcPr marL="93569" marR="93569" marT="46786" marB="46786"/>
                </a:tc>
                <a:extLst>
                  <a:ext uri="{0D108BD9-81ED-4DB2-BD59-A6C34878D82A}">
                    <a16:rowId xmlns:a16="http://schemas.microsoft.com/office/drawing/2014/main" val="246849539"/>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extLst>
                  <a:ext uri="{0D108BD9-81ED-4DB2-BD59-A6C34878D82A}">
                    <a16:rowId xmlns:a16="http://schemas.microsoft.com/office/drawing/2014/main" val="1979457983"/>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extLst>
                  <a:ext uri="{0D108BD9-81ED-4DB2-BD59-A6C34878D82A}">
                    <a16:rowId xmlns:a16="http://schemas.microsoft.com/office/drawing/2014/main" val="1199552400"/>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extLst>
                  <a:ext uri="{0D108BD9-81ED-4DB2-BD59-A6C34878D82A}">
                    <a16:rowId xmlns:a16="http://schemas.microsoft.com/office/drawing/2014/main" val="2539358533"/>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extLst>
                  <a:ext uri="{0D108BD9-81ED-4DB2-BD59-A6C34878D82A}">
                    <a16:rowId xmlns:a16="http://schemas.microsoft.com/office/drawing/2014/main" val="557733666"/>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extLst>
                  <a:ext uri="{0D108BD9-81ED-4DB2-BD59-A6C34878D82A}">
                    <a16:rowId xmlns:a16="http://schemas.microsoft.com/office/drawing/2014/main" val="1366322178"/>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extLst>
                  <a:ext uri="{0D108BD9-81ED-4DB2-BD59-A6C34878D82A}">
                    <a16:rowId xmlns:a16="http://schemas.microsoft.com/office/drawing/2014/main" val="1964508137"/>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extLst>
                  <a:ext uri="{0D108BD9-81ED-4DB2-BD59-A6C34878D82A}">
                    <a16:rowId xmlns:a16="http://schemas.microsoft.com/office/drawing/2014/main" val="2419385059"/>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extLst>
                  <a:ext uri="{0D108BD9-81ED-4DB2-BD59-A6C34878D82A}">
                    <a16:rowId xmlns:a16="http://schemas.microsoft.com/office/drawing/2014/main" val="1218371587"/>
                  </a:ext>
                </a:extLst>
              </a:tr>
            </a:tbl>
          </a:graphicData>
        </a:graphic>
      </p:graphicFrame>
      <p:sp>
        <p:nvSpPr>
          <p:cNvPr id="7" name="二等辺三角形 6">
            <a:extLst>
              <a:ext uri="{FF2B5EF4-FFF2-40B4-BE49-F238E27FC236}">
                <a16:creationId xmlns:a16="http://schemas.microsoft.com/office/drawing/2014/main" id="{94FB70B8-48DC-0DB7-A932-EBC2C265D449}"/>
              </a:ext>
            </a:extLst>
          </p:cNvPr>
          <p:cNvSpPr/>
          <p:nvPr/>
        </p:nvSpPr>
        <p:spPr>
          <a:xfrm rot="10800000">
            <a:off x="7339818" y="3720951"/>
            <a:ext cx="3200400" cy="444500"/>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タイトル プレースホルダー 1">
            <a:extLst>
              <a:ext uri="{FF2B5EF4-FFF2-40B4-BE49-F238E27FC236}">
                <a16:creationId xmlns:a16="http://schemas.microsoft.com/office/drawing/2014/main" id="{274DC5DE-65C8-87CF-5139-ADB4B92BCC64}"/>
              </a:ext>
            </a:extLst>
          </p:cNvPr>
          <p:cNvSpPr txBox="1">
            <a:spLocks/>
          </p:cNvSpPr>
          <p:nvPr/>
        </p:nvSpPr>
        <p:spPr>
          <a:xfrm>
            <a:off x="6284479" y="4244256"/>
            <a:ext cx="5311079" cy="1887706"/>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ja-JP" sz="1800" dirty="0"/>
              <a:t>最悪の場合、</a:t>
            </a:r>
            <a:r>
              <a:rPr lang="en-US" altLang="ja-JP" sz="1800" dirty="0"/>
              <a:t>99</a:t>
            </a:r>
            <a:r>
              <a:rPr lang="ja-JP" altLang="ja-JP" sz="1800" dirty="0"/>
              <a:t>万</a:t>
            </a:r>
            <a:r>
              <a:rPr lang="en-US" altLang="ja-JP" sz="1800" dirty="0"/>
              <a:t>9999</a:t>
            </a:r>
            <a:r>
              <a:rPr lang="ja-JP" altLang="ja-JP" sz="1800" dirty="0"/>
              <a:t>件すべてを見て、</a:t>
            </a:r>
            <a:r>
              <a:rPr lang="en-US" altLang="ja-JP" sz="1800" dirty="0"/>
              <a:t>100</a:t>
            </a:r>
            <a:r>
              <a:rPr lang="ja-JP" altLang="ja-JP" sz="1800" dirty="0"/>
              <a:t>万件目で</a:t>
            </a:r>
            <a:r>
              <a:rPr lang="ja-JP" altLang="en-US" sz="1800" dirty="0"/>
              <a:t>目当てのデータにたどり着く場合がある。</a:t>
            </a:r>
            <a:endParaRPr lang="en-US" altLang="ja-JP" sz="1800" dirty="0"/>
          </a:p>
          <a:p>
            <a:pPr marL="285750" indent="-285750">
              <a:buFont typeface="Arial" panose="020B0604020202020204" pitchFamily="34" charset="0"/>
              <a:buChar char="•"/>
            </a:pPr>
            <a:r>
              <a:rPr lang="ja-JP" altLang="en-US" sz="1800" dirty="0"/>
              <a:t>この時、システム的には数秒かかる可能性がある。</a:t>
            </a:r>
            <a:endParaRPr lang="en-US" altLang="ja-JP" sz="1800" dirty="0"/>
          </a:p>
          <a:p>
            <a:r>
              <a:rPr lang="ja-JP" altLang="en-US" sz="1800" b="1" dirty="0"/>
              <a:t>→システム性能やユーザ体験悪化に直結</a:t>
            </a:r>
            <a:endParaRPr lang="ja-JP" altLang="ja-JP" sz="1800" b="1" dirty="0"/>
          </a:p>
          <a:p>
            <a:endParaRPr lang="en-US" altLang="ja-JP" sz="1800" dirty="0"/>
          </a:p>
          <a:p>
            <a:endParaRPr lang="en-US" altLang="ja-JP" sz="1800" dirty="0"/>
          </a:p>
          <a:p>
            <a:endParaRPr lang="en-US" altLang="ja-JP" sz="1800" dirty="0"/>
          </a:p>
          <a:p>
            <a:endParaRPr lang="en-US" altLang="ja-JP" sz="1800" dirty="0"/>
          </a:p>
        </p:txBody>
      </p:sp>
    </p:spTree>
    <p:extLst>
      <p:ext uri="{BB962C8B-B14F-4D97-AF65-F5344CB8AC3E}">
        <p14:creationId xmlns:p14="http://schemas.microsoft.com/office/powerpoint/2010/main" val="424146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B1DBE-E3F2-DAB8-D00C-DFF46421FEFE}"/>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CECE6F73-4A45-BEF9-C8B9-5B1554DD7C3A}"/>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AE41F5F2-D76E-1FA1-47F0-5F10B9FCA453}"/>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データを素早く探すための“検索用の仕組み”で、書籍の索引のようなもの</a:t>
            </a:r>
          </a:p>
          <a:p>
            <a:r>
              <a:rPr lang="ja-JP" altLang="en-US" sz="2800" dirty="0"/>
              <a:t>特定の条件での検索や並び替えを高速化できる</a:t>
            </a:r>
          </a:p>
        </p:txBody>
      </p:sp>
      <p:sp>
        <p:nvSpPr>
          <p:cNvPr id="4" name="タイトル プレースホルダー 1">
            <a:extLst>
              <a:ext uri="{FF2B5EF4-FFF2-40B4-BE49-F238E27FC236}">
                <a16:creationId xmlns:a16="http://schemas.microsoft.com/office/drawing/2014/main" id="{DFAA87E6-E211-EF99-0609-8B02735405AC}"/>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問題解決手段としての</a:t>
            </a:r>
            <a:r>
              <a:rPr lang="en-US" altLang="ja-JP" dirty="0"/>
              <a:t>Index</a:t>
            </a:r>
          </a:p>
        </p:txBody>
      </p:sp>
      <p:sp>
        <p:nvSpPr>
          <p:cNvPr id="5" name="タイトル プレースホルダー 1">
            <a:extLst>
              <a:ext uri="{FF2B5EF4-FFF2-40B4-BE49-F238E27FC236}">
                <a16:creationId xmlns:a16="http://schemas.microsoft.com/office/drawing/2014/main" id="{8CB1CB62-D9C3-5801-C128-A552EC999D7D}"/>
              </a:ext>
            </a:extLst>
          </p:cNvPr>
          <p:cNvSpPr txBox="1">
            <a:spLocks/>
          </p:cNvSpPr>
          <p:nvPr/>
        </p:nvSpPr>
        <p:spPr>
          <a:xfrm>
            <a:off x="6096000" y="2146304"/>
            <a:ext cx="57658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特定の列を</a:t>
            </a:r>
            <a:r>
              <a:rPr lang="en-US" altLang="ja-JP" sz="1800" dirty="0"/>
              <a:t>Index</a:t>
            </a:r>
            <a:r>
              <a:rPr lang="ja-JP" altLang="en-US" sz="1800" dirty="0"/>
              <a:t>として設定することで、その列を索引のようにして、検索を高速処理させることができる。</a:t>
            </a:r>
            <a:endParaRPr lang="en-US" altLang="ja-JP" sz="1800" dirty="0"/>
          </a:p>
          <a:p>
            <a:pPr marL="285750" indent="-285750">
              <a:buFont typeface="Arial" panose="020B0604020202020204" pitchFamily="34" charset="0"/>
              <a:buChar char="•"/>
            </a:pPr>
            <a:r>
              <a:rPr lang="ja-JP" altLang="en-US" sz="1800" dirty="0"/>
              <a:t>左記の例では、電話番号やなまえなどが</a:t>
            </a:r>
            <a:r>
              <a:rPr lang="en-US" altLang="ja-JP" sz="1800" dirty="0"/>
              <a:t>Index</a:t>
            </a:r>
            <a:r>
              <a:rPr lang="ja-JP" altLang="en-US" sz="1800" dirty="0"/>
              <a:t>設定の候補となる。</a:t>
            </a:r>
            <a:endParaRPr lang="en-US" altLang="ja-JP" sz="1800" dirty="0"/>
          </a:p>
          <a:p>
            <a:pPr marL="285750" indent="-285750">
              <a:buFont typeface="Arial" panose="020B0604020202020204" pitchFamily="34" charset="0"/>
              <a:buChar char="•"/>
            </a:pPr>
            <a:r>
              <a:rPr lang="en-US" altLang="ja-JP" sz="1800" dirty="0"/>
              <a:t>Index</a:t>
            </a:r>
            <a:r>
              <a:rPr lang="ja-JP" altLang="en-US" sz="1800" dirty="0"/>
              <a:t>により、データをフルスキャンするのではなく</a:t>
            </a:r>
            <a:r>
              <a:rPr lang="en-US" altLang="ja-JP" sz="1800" dirty="0"/>
              <a:t>Index</a:t>
            </a:r>
            <a:r>
              <a:rPr lang="ja-JP" altLang="en-US" sz="1800" dirty="0"/>
              <a:t>を参照して必要な行にすばやくアクセスすることができる</a:t>
            </a:r>
            <a:endParaRPr lang="en-US" altLang="ja-JP" sz="1800" dirty="0"/>
          </a:p>
          <a:p>
            <a:pPr marL="285750" indent="-285750">
              <a:buFont typeface="Arial" panose="020B0604020202020204" pitchFamily="34" charset="0"/>
              <a:buChar char="•"/>
            </a:pPr>
            <a:r>
              <a:rPr lang="ja-JP" altLang="en-US" sz="1800" dirty="0"/>
              <a:t>イメージとしては本の索引ページのように、該当ページの</a:t>
            </a:r>
            <a:br>
              <a:rPr lang="en-US" altLang="ja-JP" sz="1800" dirty="0"/>
            </a:br>
            <a:r>
              <a:rPr lang="en-US" altLang="ja-JP" sz="1800" dirty="0"/>
              <a:t>”</a:t>
            </a:r>
            <a:r>
              <a:rPr lang="ja-JP" altLang="en-US" sz="1800" dirty="0"/>
              <a:t>位置情報</a:t>
            </a:r>
            <a:r>
              <a:rPr lang="en-US" altLang="ja-JP" sz="1800" dirty="0"/>
              <a:t>”</a:t>
            </a:r>
            <a:r>
              <a:rPr lang="ja-JP" altLang="en-US" sz="1800" dirty="0"/>
              <a:t>をあらかじめもっておくイメージ。</a:t>
            </a:r>
            <a:endParaRPr lang="en-US" altLang="ja-JP" sz="1800" dirty="0"/>
          </a:p>
          <a:p>
            <a:pPr marL="285750" indent="-285750">
              <a:buFont typeface="Arial" panose="020B0604020202020204" pitchFamily="34" charset="0"/>
              <a:buChar char="•"/>
            </a:pPr>
            <a:endParaRPr lang="en-US" altLang="ja-JP" sz="1800" dirty="0"/>
          </a:p>
          <a:p>
            <a:r>
              <a:rPr lang="en-US" altLang="ja-JP" sz="1800" dirty="0"/>
              <a:t>【</a:t>
            </a:r>
            <a:r>
              <a:rPr lang="ja-JP" altLang="en-US" sz="1800" dirty="0"/>
              <a:t>注意点</a:t>
            </a:r>
            <a:r>
              <a:rPr lang="en-US" altLang="ja-JP" sz="1800" dirty="0"/>
              <a:t>】</a:t>
            </a:r>
          </a:p>
          <a:p>
            <a:pPr marL="285750" indent="-285750">
              <a:buFont typeface="Arial" panose="020B0604020202020204" pitchFamily="34" charset="0"/>
              <a:buChar char="•"/>
            </a:pPr>
            <a:r>
              <a:rPr lang="ja-JP" altLang="en-US" sz="1800" dirty="0"/>
              <a:t>追加、更新、削除のたびにインデックスも更新されるので、書き込み性能が低下する可能性がある</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graphicFrame>
        <p:nvGraphicFramePr>
          <p:cNvPr id="6" name="表 5">
            <a:extLst>
              <a:ext uri="{FF2B5EF4-FFF2-40B4-BE49-F238E27FC236}">
                <a16:creationId xmlns:a16="http://schemas.microsoft.com/office/drawing/2014/main" id="{314902F9-812F-752D-1893-8829618618E0}"/>
              </a:ext>
            </a:extLst>
          </p:cNvPr>
          <p:cNvGraphicFramePr>
            <a:graphicFrameLocks noGrp="1"/>
          </p:cNvGraphicFramePr>
          <p:nvPr>
            <p:extLst>
              <p:ext uri="{D42A27DB-BD31-4B8C-83A1-F6EECF244321}">
                <p14:modId xmlns:p14="http://schemas.microsoft.com/office/powerpoint/2010/main" val="4143561362"/>
              </p:ext>
            </p:extLst>
          </p:nvPr>
        </p:nvGraphicFramePr>
        <p:xfrm>
          <a:off x="355600" y="2378054"/>
          <a:ext cx="5236940" cy="4214452"/>
        </p:xfrm>
        <a:graphic>
          <a:graphicData uri="http://schemas.openxmlformats.org/drawingml/2006/table">
            <a:tbl>
              <a:tblPr firstRow="1" bandRow="1">
                <a:tableStyleId>{5C22544A-7EE6-4342-B048-85BDC9FD1C3A}</a:tableStyleId>
              </a:tblPr>
              <a:tblGrid>
                <a:gridCol w="1309235">
                  <a:extLst>
                    <a:ext uri="{9D8B030D-6E8A-4147-A177-3AD203B41FA5}">
                      <a16:colId xmlns:a16="http://schemas.microsoft.com/office/drawing/2014/main" val="632589234"/>
                    </a:ext>
                  </a:extLst>
                </a:gridCol>
                <a:gridCol w="1309235">
                  <a:extLst>
                    <a:ext uri="{9D8B030D-6E8A-4147-A177-3AD203B41FA5}">
                      <a16:colId xmlns:a16="http://schemas.microsoft.com/office/drawing/2014/main" val="2478904765"/>
                    </a:ext>
                  </a:extLst>
                </a:gridCol>
                <a:gridCol w="1309235">
                  <a:extLst>
                    <a:ext uri="{9D8B030D-6E8A-4147-A177-3AD203B41FA5}">
                      <a16:colId xmlns:a16="http://schemas.microsoft.com/office/drawing/2014/main" val="2103884576"/>
                    </a:ext>
                  </a:extLst>
                </a:gridCol>
                <a:gridCol w="1309235">
                  <a:extLst>
                    <a:ext uri="{9D8B030D-6E8A-4147-A177-3AD203B41FA5}">
                      <a16:colId xmlns:a16="http://schemas.microsoft.com/office/drawing/2014/main" val="484499221"/>
                    </a:ext>
                  </a:extLst>
                </a:gridCol>
              </a:tblGrid>
              <a:tr h="379473">
                <a:tc>
                  <a:txBody>
                    <a:bodyPr/>
                    <a:lstStyle/>
                    <a:p>
                      <a:r>
                        <a:rPr kumimoji="1" lang="ja-JP" altLang="en-US" sz="1900" dirty="0">
                          <a:solidFill>
                            <a:schemeClr val="tx1">
                              <a:lumMod val="75000"/>
                            </a:schemeClr>
                          </a:solidFill>
                        </a:rPr>
                        <a:t>契約</a:t>
                      </a:r>
                      <a:r>
                        <a:rPr kumimoji="1" lang="en-US" altLang="ja-JP" sz="1900" dirty="0">
                          <a:solidFill>
                            <a:schemeClr val="tx1">
                              <a:lumMod val="75000"/>
                            </a:schemeClr>
                          </a:solidFill>
                        </a:rPr>
                        <a:t>ID</a:t>
                      </a:r>
                      <a:endParaRPr kumimoji="1" lang="ja-JP" altLang="en-US" sz="1900" dirty="0">
                        <a:solidFill>
                          <a:schemeClr val="tx1">
                            <a:lumMod val="75000"/>
                          </a:schemeClr>
                        </a:solidFill>
                      </a:endParaRPr>
                    </a:p>
                  </a:txBody>
                  <a:tcPr marL="93569" marR="93569" marT="46786" marB="46786"/>
                </a:tc>
                <a:tc>
                  <a:txBody>
                    <a:bodyPr/>
                    <a:lstStyle/>
                    <a:p>
                      <a:r>
                        <a:rPr kumimoji="1" lang="ja-JP" altLang="en-US" sz="1900" dirty="0">
                          <a:solidFill>
                            <a:srgbClr val="0070C0"/>
                          </a:solidFill>
                        </a:rPr>
                        <a:t>電話番号</a:t>
                      </a:r>
                    </a:p>
                  </a:txBody>
                  <a:tcPr marL="93569" marR="93569" marT="46786" marB="46786"/>
                </a:tc>
                <a:tc>
                  <a:txBody>
                    <a:bodyPr/>
                    <a:lstStyle/>
                    <a:p>
                      <a:r>
                        <a:rPr kumimoji="1" lang="ja-JP" altLang="en-US" sz="1900" dirty="0">
                          <a:solidFill>
                            <a:schemeClr val="tx1">
                              <a:lumMod val="75000"/>
                            </a:schemeClr>
                          </a:solidFill>
                        </a:rPr>
                        <a:t>性別</a:t>
                      </a:r>
                    </a:p>
                  </a:txBody>
                  <a:tcPr marL="93569" marR="93569" marT="46786" marB="46786"/>
                </a:tc>
                <a:tc>
                  <a:txBody>
                    <a:bodyPr/>
                    <a:lstStyle/>
                    <a:p>
                      <a:r>
                        <a:rPr kumimoji="1" lang="ja-JP" altLang="en-US" sz="1900" dirty="0">
                          <a:solidFill>
                            <a:srgbClr val="0070C0"/>
                          </a:solidFill>
                        </a:rPr>
                        <a:t>なまえ</a:t>
                      </a:r>
                    </a:p>
                  </a:txBody>
                  <a:tcPr marL="93569" marR="93569" marT="46786" marB="46786"/>
                </a:tc>
                <a:extLst>
                  <a:ext uri="{0D108BD9-81ED-4DB2-BD59-A6C34878D82A}">
                    <a16:rowId xmlns:a16="http://schemas.microsoft.com/office/drawing/2014/main" val="3721538852"/>
                  </a:ext>
                </a:extLst>
              </a:tr>
              <a:tr h="379473">
                <a:tc>
                  <a:txBody>
                    <a:bodyPr/>
                    <a:lstStyle/>
                    <a:p>
                      <a:r>
                        <a:rPr kumimoji="1" lang="en-US" altLang="ja-JP" sz="1900" dirty="0"/>
                        <a:t>001</a:t>
                      </a:r>
                      <a:endParaRPr kumimoji="1" lang="ja-JP" altLang="en-US" sz="1900" dirty="0"/>
                    </a:p>
                  </a:txBody>
                  <a:tcPr marL="93569" marR="93569" marT="46786" marB="46786"/>
                </a:tc>
                <a:tc>
                  <a:txBody>
                    <a:bodyPr/>
                    <a:lstStyle/>
                    <a:p>
                      <a:r>
                        <a:rPr kumimoji="1" lang="en-US" altLang="ja-JP" sz="1900" dirty="0">
                          <a:solidFill>
                            <a:srgbClr val="0070C0"/>
                          </a:solidFill>
                        </a:rPr>
                        <a:t>000</a:t>
                      </a:r>
                      <a:endParaRPr kumimoji="1" lang="ja-JP" altLang="en-US" sz="1900" dirty="0">
                        <a:solidFill>
                          <a:srgbClr val="0070C0"/>
                        </a:solidFill>
                      </a:endParaRPr>
                    </a:p>
                  </a:txBody>
                  <a:tcPr marL="93569" marR="93569" marT="46786" marB="46786"/>
                </a:tc>
                <a:tc>
                  <a:txBody>
                    <a:bodyPr/>
                    <a:lstStyle/>
                    <a:p>
                      <a:r>
                        <a:rPr kumimoji="1" lang="ja-JP" altLang="en-US" sz="1900" dirty="0"/>
                        <a:t>男</a:t>
                      </a:r>
                    </a:p>
                  </a:txBody>
                  <a:tcPr marL="93569" marR="93569" marT="46786" marB="46786"/>
                </a:tc>
                <a:tc>
                  <a:txBody>
                    <a:bodyPr/>
                    <a:lstStyle/>
                    <a:p>
                      <a:r>
                        <a:rPr kumimoji="1" lang="ja-JP" altLang="en-US" sz="1900" dirty="0">
                          <a:solidFill>
                            <a:srgbClr val="0070C0"/>
                          </a:solidFill>
                        </a:rPr>
                        <a:t>たけし</a:t>
                      </a:r>
                    </a:p>
                  </a:txBody>
                  <a:tcPr marL="93569" marR="93569" marT="46786" marB="46786"/>
                </a:tc>
                <a:extLst>
                  <a:ext uri="{0D108BD9-81ED-4DB2-BD59-A6C34878D82A}">
                    <a16:rowId xmlns:a16="http://schemas.microsoft.com/office/drawing/2014/main" val="2677277498"/>
                  </a:ext>
                </a:extLst>
              </a:tr>
              <a:tr h="379473">
                <a:tc>
                  <a:txBody>
                    <a:bodyPr/>
                    <a:lstStyle/>
                    <a:p>
                      <a:r>
                        <a:rPr kumimoji="1" lang="en-US" altLang="ja-JP" sz="1900" dirty="0"/>
                        <a:t>002</a:t>
                      </a:r>
                      <a:endParaRPr kumimoji="1" lang="ja-JP" altLang="en-US" sz="1900" dirty="0"/>
                    </a:p>
                  </a:txBody>
                  <a:tcPr marL="93569" marR="93569" marT="46786" marB="46786"/>
                </a:tc>
                <a:tc>
                  <a:txBody>
                    <a:bodyPr/>
                    <a:lstStyle/>
                    <a:p>
                      <a:r>
                        <a:rPr kumimoji="1" lang="en-US" altLang="ja-JP" sz="1900" dirty="0">
                          <a:solidFill>
                            <a:srgbClr val="0070C0"/>
                          </a:solidFill>
                        </a:rPr>
                        <a:t>111</a:t>
                      </a:r>
                      <a:endParaRPr kumimoji="1" lang="ja-JP" altLang="en-US" sz="1900" dirty="0">
                        <a:solidFill>
                          <a:srgbClr val="0070C0"/>
                        </a:solidFill>
                      </a:endParaRPr>
                    </a:p>
                  </a:txBody>
                  <a:tcPr marL="93569" marR="93569" marT="46786" marB="46786"/>
                </a:tc>
                <a:tc>
                  <a:txBody>
                    <a:bodyPr/>
                    <a:lstStyle/>
                    <a:p>
                      <a:r>
                        <a:rPr kumimoji="1" lang="ja-JP" altLang="en-US" sz="1900" dirty="0"/>
                        <a:t>女</a:t>
                      </a:r>
                    </a:p>
                  </a:txBody>
                  <a:tcPr marL="93569" marR="93569" marT="46786" marB="46786"/>
                </a:tc>
                <a:tc>
                  <a:txBody>
                    <a:bodyPr/>
                    <a:lstStyle/>
                    <a:p>
                      <a:r>
                        <a:rPr kumimoji="1" lang="ja-JP" altLang="en-US" sz="1900" dirty="0">
                          <a:solidFill>
                            <a:srgbClr val="0070C0"/>
                          </a:solidFill>
                        </a:rPr>
                        <a:t>はなこ</a:t>
                      </a:r>
                    </a:p>
                  </a:txBody>
                  <a:tcPr marL="93569" marR="93569" marT="46786" marB="46786"/>
                </a:tc>
                <a:extLst>
                  <a:ext uri="{0D108BD9-81ED-4DB2-BD59-A6C34878D82A}">
                    <a16:rowId xmlns:a16="http://schemas.microsoft.com/office/drawing/2014/main" val="246849539"/>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solidFill>
                          <a:srgbClr val="0070C0"/>
                        </a:solidFill>
                      </a:endParaRPr>
                    </a:p>
                  </a:txBody>
                  <a:tcPr marL="93569" marR="93569" marT="46786" marB="46786"/>
                </a:tc>
                <a:extLst>
                  <a:ext uri="{0D108BD9-81ED-4DB2-BD59-A6C34878D82A}">
                    <a16:rowId xmlns:a16="http://schemas.microsoft.com/office/drawing/2014/main" val="1979457983"/>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solidFill>
                          <a:srgbClr val="0070C0"/>
                        </a:solidFill>
                      </a:endParaRPr>
                    </a:p>
                  </a:txBody>
                  <a:tcPr marL="93569" marR="93569" marT="46786" marB="46786"/>
                </a:tc>
                <a:extLst>
                  <a:ext uri="{0D108BD9-81ED-4DB2-BD59-A6C34878D82A}">
                    <a16:rowId xmlns:a16="http://schemas.microsoft.com/office/drawing/2014/main" val="1199552400"/>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solidFill>
                          <a:srgbClr val="0070C0"/>
                        </a:solidFill>
                      </a:endParaRPr>
                    </a:p>
                  </a:txBody>
                  <a:tcPr marL="93569" marR="93569" marT="46786" marB="46786"/>
                </a:tc>
                <a:extLst>
                  <a:ext uri="{0D108BD9-81ED-4DB2-BD59-A6C34878D82A}">
                    <a16:rowId xmlns:a16="http://schemas.microsoft.com/office/drawing/2014/main" val="2539358533"/>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solidFill>
                          <a:srgbClr val="0070C0"/>
                        </a:solidFill>
                      </a:endParaRPr>
                    </a:p>
                  </a:txBody>
                  <a:tcPr marL="93569" marR="93569" marT="46786" marB="46786"/>
                </a:tc>
                <a:extLst>
                  <a:ext uri="{0D108BD9-81ED-4DB2-BD59-A6C34878D82A}">
                    <a16:rowId xmlns:a16="http://schemas.microsoft.com/office/drawing/2014/main" val="557733666"/>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solidFill>
                          <a:srgbClr val="0070C0"/>
                        </a:solidFill>
                      </a:endParaRPr>
                    </a:p>
                  </a:txBody>
                  <a:tcPr marL="93569" marR="93569" marT="46786" marB="46786"/>
                </a:tc>
                <a:extLst>
                  <a:ext uri="{0D108BD9-81ED-4DB2-BD59-A6C34878D82A}">
                    <a16:rowId xmlns:a16="http://schemas.microsoft.com/office/drawing/2014/main" val="1366322178"/>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solidFill>
                          <a:srgbClr val="0070C0"/>
                        </a:solidFill>
                      </a:endParaRPr>
                    </a:p>
                  </a:txBody>
                  <a:tcPr marL="93569" marR="93569" marT="46786" marB="46786"/>
                </a:tc>
                <a:extLst>
                  <a:ext uri="{0D108BD9-81ED-4DB2-BD59-A6C34878D82A}">
                    <a16:rowId xmlns:a16="http://schemas.microsoft.com/office/drawing/2014/main" val="1964508137"/>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solidFill>
                          <a:srgbClr val="0070C0"/>
                        </a:solidFill>
                      </a:endParaRPr>
                    </a:p>
                  </a:txBody>
                  <a:tcPr marL="93569" marR="93569" marT="46786" marB="46786"/>
                </a:tc>
                <a:extLst>
                  <a:ext uri="{0D108BD9-81ED-4DB2-BD59-A6C34878D82A}">
                    <a16:rowId xmlns:a16="http://schemas.microsoft.com/office/drawing/2014/main" val="2419385059"/>
                  </a:ext>
                </a:extLst>
              </a:tr>
              <a:tr h="379473">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solidFill>
                          <a:srgbClr val="0070C0"/>
                        </a:solidFill>
                      </a:endParaRPr>
                    </a:p>
                  </a:txBody>
                  <a:tcPr marL="93569" marR="93569" marT="46786" marB="46786"/>
                </a:tc>
                <a:extLst>
                  <a:ext uri="{0D108BD9-81ED-4DB2-BD59-A6C34878D82A}">
                    <a16:rowId xmlns:a16="http://schemas.microsoft.com/office/drawing/2014/main" val="1218371587"/>
                  </a:ext>
                </a:extLst>
              </a:tr>
            </a:tbl>
          </a:graphicData>
        </a:graphic>
      </p:graphicFrame>
    </p:spTree>
    <p:extLst>
      <p:ext uri="{BB962C8B-B14F-4D97-AF65-F5344CB8AC3E}">
        <p14:creationId xmlns:p14="http://schemas.microsoft.com/office/powerpoint/2010/main" val="169163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86F33-7009-04DB-90A2-9834BEA83BCC}"/>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5D032A22-E20C-C435-6EF2-7A5BF7EE41F6}"/>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BA8F503E-9956-AF80-1BDF-1894D8B6F011}"/>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2800" dirty="0"/>
              <a:t>Index</a:t>
            </a:r>
            <a:r>
              <a:rPr lang="ja-JP" altLang="en-US" sz="2800" dirty="0"/>
              <a:t>に設定すると対象の列に対して、木構造で探索が行われるようになる</a:t>
            </a:r>
            <a:endParaRPr lang="en-US" altLang="ja-JP" sz="2800" dirty="0"/>
          </a:p>
        </p:txBody>
      </p:sp>
      <p:sp>
        <p:nvSpPr>
          <p:cNvPr id="4" name="タイトル プレースホルダー 1">
            <a:extLst>
              <a:ext uri="{FF2B5EF4-FFF2-40B4-BE49-F238E27FC236}">
                <a16:creationId xmlns:a16="http://schemas.microsoft.com/office/drawing/2014/main" id="{1AAFC3CC-A2B1-625E-C652-448C235CD387}"/>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Index</a:t>
            </a:r>
            <a:r>
              <a:rPr lang="ja-JP" altLang="en-US" dirty="0"/>
              <a:t>の仕組み</a:t>
            </a:r>
            <a:endParaRPr lang="en-US" altLang="ja-JP" dirty="0"/>
          </a:p>
        </p:txBody>
      </p:sp>
      <p:sp>
        <p:nvSpPr>
          <p:cNvPr id="5" name="タイトル プレースホルダー 1">
            <a:extLst>
              <a:ext uri="{FF2B5EF4-FFF2-40B4-BE49-F238E27FC236}">
                <a16:creationId xmlns:a16="http://schemas.microsoft.com/office/drawing/2014/main" id="{3B1A4EF4-8E07-76BC-C4D3-7F9EF7435CC7}"/>
              </a:ext>
            </a:extLst>
          </p:cNvPr>
          <p:cNvSpPr txBox="1">
            <a:spLocks/>
          </p:cNvSpPr>
          <p:nvPr/>
        </p:nvSpPr>
        <p:spPr>
          <a:xfrm>
            <a:off x="7022330" y="2146304"/>
            <a:ext cx="4839469"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1800" dirty="0"/>
              <a:t>【</a:t>
            </a:r>
            <a:r>
              <a:rPr lang="ja-JP" altLang="en-US" sz="1800" dirty="0"/>
              <a:t>前提</a:t>
            </a:r>
            <a:r>
              <a:rPr lang="en-US" altLang="ja-JP" sz="1800" dirty="0"/>
              <a:t>】</a:t>
            </a:r>
          </a:p>
          <a:p>
            <a:pPr marL="285750" indent="-285750">
              <a:buFont typeface="Arial" panose="020B0604020202020204" pitchFamily="34" charset="0"/>
              <a:buChar char="•"/>
            </a:pPr>
            <a:r>
              <a:rPr lang="ja-JP" altLang="en-US" sz="1800" dirty="0"/>
              <a:t>テーブルには</a:t>
            </a:r>
            <a:r>
              <a:rPr lang="en-US" altLang="ja-JP" sz="1800" dirty="0"/>
              <a:t>1000</a:t>
            </a:r>
            <a:r>
              <a:rPr lang="ja-JP" altLang="en-US" sz="1800" dirty="0"/>
              <a:t>件のデータが含まれている</a:t>
            </a:r>
            <a:endParaRPr lang="en-US" altLang="ja-JP" sz="1800" dirty="0"/>
          </a:p>
          <a:p>
            <a:pPr marL="285750" indent="-285750">
              <a:buFont typeface="Arial" panose="020B0604020202020204" pitchFamily="34" charset="0"/>
              <a:buChar char="•"/>
            </a:pPr>
            <a:r>
              <a:rPr lang="ja-JP" altLang="en-US" sz="1800" dirty="0"/>
              <a:t>探索したいデータは「</a:t>
            </a:r>
            <a:r>
              <a:rPr lang="en-US" altLang="ja-JP" sz="1800" dirty="0"/>
              <a:t>1000</a:t>
            </a:r>
            <a:r>
              <a:rPr lang="ja-JP" altLang="en-US" sz="1800" dirty="0"/>
              <a:t>」だとする</a:t>
            </a:r>
            <a:endParaRPr lang="en-US" altLang="ja-JP" sz="1800" dirty="0"/>
          </a:p>
          <a:p>
            <a:r>
              <a:rPr lang="en-US" altLang="ja-JP" sz="1800" dirty="0"/>
              <a:t>【Index</a:t>
            </a:r>
            <a:r>
              <a:rPr lang="ja-JP" altLang="en-US" sz="1800" dirty="0"/>
              <a:t>がない場合</a:t>
            </a:r>
            <a:r>
              <a:rPr lang="en-US" altLang="ja-JP" sz="1800" dirty="0"/>
              <a:t>】</a:t>
            </a:r>
          </a:p>
          <a:p>
            <a:pPr marL="285750" indent="-285750">
              <a:buFont typeface="Arial" panose="020B0604020202020204" pitchFamily="34" charset="0"/>
              <a:buChar char="•"/>
            </a:pPr>
            <a:r>
              <a:rPr lang="ja-JP" altLang="en-US" sz="1800" dirty="0"/>
              <a:t>テーブルをフルスキャン（必要ない</a:t>
            </a:r>
            <a:r>
              <a:rPr lang="en-US" altLang="ja-JP" sz="1800" dirty="0"/>
              <a:t>999</a:t>
            </a:r>
            <a:r>
              <a:rPr lang="ja-JP" altLang="en-US" sz="1800" dirty="0"/>
              <a:t>件も見ることになる）して該当データを探索する</a:t>
            </a:r>
            <a:endParaRPr lang="en-US" altLang="ja-JP" sz="1800" dirty="0"/>
          </a:p>
          <a:p>
            <a:r>
              <a:rPr lang="en-US" altLang="ja-JP" sz="1800" dirty="0"/>
              <a:t>【Index</a:t>
            </a:r>
            <a:r>
              <a:rPr lang="ja-JP" altLang="en-US" sz="1800" dirty="0"/>
              <a:t>設定で行われる処理</a:t>
            </a:r>
            <a:r>
              <a:rPr lang="en-US" altLang="ja-JP" sz="1800" dirty="0"/>
              <a:t>】</a:t>
            </a:r>
          </a:p>
          <a:p>
            <a:pPr marL="285750" indent="-285750">
              <a:buFont typeface="Arial" panose="020B0604020202020204" pitchFamily="34" charset="0"/>
              <a:buChar char="•"/>
            </a:pPr>
            <a:r>
              <a:rPr lang="ja-JP" altLang="en-US" sz="1800" dirty="0"/>
              <a:t>木構造を作る</a:t>
            </a:r>
            <a:endParaRPr lang="en-US" altLang="ja-JP" sz="1800" dirty="0"/>
          </a:p>
          <a:p>
            <a:pPr marL="285750" indent="-285750">
              <a:buFont typeface="Arial" panose="020B0604020202020204" pitchFamily="34" charset="0"/>
              <a:buChar char="•"/>
            </a:pPr>
            <a:r>
              <a:rPr lang="ja-JP" altLang="en-US" sz="1800" dirty="0"/>
              <a:t>今回は</a:t>
            </a:r>
            <a:r>
              <a:rPr lang="en-US" altLang="ja-JP" sz="1800" dirty="0"/>
              <a:t>10</a:t>
            </a:r>
            <a:r>
              <a:rPr lang="ja-JP" altLang="en-US" sz="1800" dirty="0"/>
              <a:t>段階を</a:t>
            </a:r>
            <a:r>
              <a:rPr lang="en-US" altLang="ja-JP" sz="1800" dirty="0"/>
              <a:t>3</a:t>
            </a:r>
            <a:r>
              <a:rPr lang="ja-JP" altLang="en-US" sz="1800" dirty="0"/>
              <a:t>階層作る。</a:t>
            </a:r>
            <a:endParaRPr lang="en-US" altLang="ja-JP" sz="1800" dirty="0"/>
          </a:p>
          <a:p>
            <a:pPr marL="285750" indent="-285750">
              <a:buFont typeface="Arial" panose="020B0604020202020204" pitchFamily="34" charset="0"/>
              <a:buChar char="•"/>
            </a:pP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6" name="正方形/長方形 5">
            <a:extLst>
              <a:ext uri="{FF2B5EF4-FFF2-40B4-BE49-F238E27FC236}">
                <a16:creationId xmlns:a16="http://schemas.microsoft.com/office/drawing/2014/main" id="{AD1F33FE-C46B-E357-C4DD-C934EE042754}"/>
              </a:ext>
            </a:extLst>
          </p:cNvPr>
          <p:cNvSpPr/>
          <p:nvPr/>
        </p:nvSpPr>
        <p:spPr>
          <a:xfrm>
            <a:off x="505400" y="234436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7" name="正方形/長方形 6">
            <a:extLst>
              <a:ext uri="{FF2B5EF4-FFF2-40B4-BE49-F238E27FC236}">
                <a16:creationId xmlns:a16="http://schemas.microsoft.com/office/drawing/2014/main" id="{8D2A13BA-FD6A-E08D-B4C1-ACECED2728B2}"/>
              </a:ext>
            </a:extLst>
          </p:cNvPr>
          <p:cNvSpPr/>
          <p:nvPr/>
        </p:nvSpPr>
        <p:spPr>
          <a:xfrm>
            <a:off x="1087341" y="234436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8" name="正方形/長方形 7">
            <a:extLst>
              <a:ext uri="{FF2B5EF4-FFF2-40B4-BE49-F238E27FC236}">
                <a16:creationId xmlns:a16="http://schemas.microsoft.com/office/drawing/2014/main" id="{62652FE2-94F2-7C1B-C376-26DBCBCE8C5A}"/>
              </a:ext>
            </a:extLst>
          </p:cNvPr>
          <p:cNvSpPr/>
          <p:nvPr/>
        </p:nvSpPr>
        <p:spPr>
          <a:xfrm>
            <a:off x="1698319" y="234436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9" name="正方形/長方形 8">
            <a:extLst>
              <a:ext uri="{FF2B5EF4-FFF2-40B4-BE49-F238E27FC236}">
                <a16:creationId xmlns:a16="http://schemas.microsoft.com/office/drawing/2014/main" id="{82DD4975-111F-A328-B961-68D0B831D4F2}"/>
              </a:ext>
            </a:extLst>
          </p:cNvPr>
          <p:cNvSpPr/>
          <p:nvPr/>
        </p:nvSpPr>
        <p:spPr>
          <a:xfrm>
            <a:off x="2369490" y="234436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14" name="正方形/長方形 13">
            <a:extLst>
              <a:ext uri="{FF2B5EF4-FFF2-40B4-BE49-F238E27FC236}">
                <a16:creationId xmlns:a16="http://schemas.microsoft.com/office/drawing/2014/main" id="{DFAF727D-EDF9-F189-4300-13864A81ED36}"/>
              </a:ext>
            </a:extLst>
          </p:cNvPr>
          <p:cNvSpPr/>
          <p:nvPr/>
        </p:nvSpPr>
        <p:spPr>
          <a:xfrm>
            <a:off x="5422001" y="232467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15" name="正方形/長方形 14">
            <a:extLst>
              <a:ext uri="{FF2B5EF4-FFF2-40B4-BE49-F238E27FC236}">
                <a16:creationId xmlns:a16="http://schemas.microsoft.com/office/drawing/2014/main" id="{41ADFD79-F9D3-9678-7F53-85020543510B}"/>
              </a:ext>
            </a:extLst>
          </p:cNvPr>
          <p:cNvSpPr/>
          <p:nvPr/>
        </p:nvSpPr>
        <p:spPr>
          <a:xfrm>
            <a:off x="6035196" y="232467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29" name="正方形/長方形 28">
            <a:extLst>
              <a:ext uri="{FF2B5EF4-FFF2-40B4-BE49-F238E27FC236}">
                <a16:creationId xmlns:a16="http://schemas.microsoft.com/office/drawing/2014/main" id="{73AD2108-100D-48FC-9A32-F1DF417DE44D}"/>
              </a:ext>
            </a:extLst>
          </p:cNvPr>
          <p:cNvSpPr/>
          <p:nvPr/>
        </p:nvSpPr>
        <p:spPr>
          <a:xfrm>
            <a:off x="516417" y="3798143"/>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grpSp>
        <p:nvGrpSpPr>
          <p:cNvPr id="48" name="グループ化 47">
            <a:extLst>
              <a:ext uri="{FF2B5EF4-FFF2-40B4-BE49-F238E27FC236}">
                <a16:creationId xmlns:a16="http://schemas.microsoft.com/office/drawing/2014/main" id="{BF0DCDB5-8DC4-A0D0-0D3B-F397C1B3A0EF}"/>
              </a:ext>
            </a:extLst>
          </p:cNvPr>
          <p:cNvGrpSpPr/>
          <p:nvPr/>
        </p:nvGrpSpPr>
        <p:grpSpPr>
          <a:xfrm>
            <a:off x="547951" y="3726091"/>
            <a:ext cx="5892715" cy="476998"/>
            <a:chOff x="566629" y="3798143"/>
            <a:chExt cx="5892715" cy="476998"/>
          </a:xfrm>
        </p:grpSpPr>
        <p:sp>
          <p:nvSpPr>
            <p:cNvPr id="23" name="正方形/長方形 22">
              <a:extLst>
                <a:ext uri="{FF2B5EF4-FFF2-40B4-BE49-F238E27FC236}">
                  <a16:creationId xmlns:a16="http://schemas.microsoft.com/office/drawing/2014/main" id="{24C19892-EC78-BD9F-DEF3-6DD9699F7F3F}"/>
                </a:ext>
              </a:extLst>
            </p:cNvPr>
            <p:cNvSpPr/>
            <p:nvPr/>
          </p:nvSpPr>
          <p:spPr>
            <a:xfrm>
              <a:off x="2969209" y="3798143"/>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24" name="正方形/長方形 23">
              <a:extLst>
                <a:ext uri="{FF2B5EF4-FFF2-40B4-BE49-F238E27FC236}">
                  <a16:creationId xmlns:a16="http://schemas.microsoft.com/office/drawing/2014/main" id="{0FBBEF90-D789-910D-7154-ADD627D9B615}"/>
                </a:ext>
              </a:extLst>
            </p:cNvPr>
            <p:cNvSpPr/>
            <p:nvPr/>
          </p:nvSpPr>
          <p:spPr>
            <a:xfrm>
              <a:off x="3582407" y="3798143"/>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25" name="正方形/長方形 24">
              <a:extLst>
                <a:ext uri="{FF2B5EF4-FFF2-40B4-BE49-F238E27FC236}">
                  <a16:creationId xmlns:a16="http://schemas.microsoft.com/office/drawing/2014/main" id="{D22F02C8-E733-CF28-6810-29670EDD5E51}"/>
                </a:ext>
              </a:extLst>
            </p:cNvPr>
            <p:cNvSpPr/>
            <p:nvPr/>
          </p:nvSpPr>
          <p:spPr>
            <a:xfrm>
              <a:off x="4195605" y="3798143"/>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26" name="正方形/長方形 25">
              <a:extLst>
                <a:ext uri="{FF2B5EF4-FFF2-40B4-BE49-F238E27FC236}">
                  <a16:creationId xmlns:a16="http://schemas.microsoft.com/office/drawing/2014/main" id="{8BCA2245-82F7-282E-45AD-A5166BF43079}"/>
                </a:ext>
              </a:extLst>
            </p:cNvPr>
            <p:cNvSpPr/>
            <p:nvPr/>
          </p:nvSpPr>
          <p:spPr>
            <a:xfrm>
              <a:off x="4808803" y="3798143"/>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27" name="正方形/長方形 26">
              <a:extLst>
                <a:ext uri="{FF2B5EF4-FFF2-40B4-BE49-F238E27FC236}">
                  <a16:creationId xmlns:a16="http://schemas.microsoft.com/office/drawing/2014/main" id="{C7F476E1-C9F6-0A4E-995F-9BC4BD796FB5}"/>
                </a:ext>
              </a:extLst>
            </p:cNvPr>
            <p:cNvSpPr/>
            <p:nvPr/>
          </p:nvSpPr>
          <p:spPr>
            <a:xfrm>
              <a:off x="5422001" y="3798143"/>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28" name="正方形/長方形 27">
              <a:extLst>
                <a:ext uri="{FF2B5EF4-FFF2-40B4-BE49-F238E27FC236}">
                  <a16:creationId xmlns:a16="http://schemas.microsoft.com/office/drawing/2014/main" id="{2388E371-39D5-2501-F206-3620BBDC3FE0}"/>
                </a:ext>
              </a:extLst>
            </p:cNvPr>
            <p:cNvSpPr/>
            <p:nvPr/>
          </p:nvSpPr>
          <p:spPr>
            <a:xfrm>
              <a:off x="6035196" y="3798143"/>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30" name="正方形/長方形 29">
              <a:extLst>
                <a:ext uri="{FF2B5EF4-FFF2-40B4-BE49-F238E27FC236}">
                  <a16:creationId xmlns:a16="http://schemas.microsoft.com/office/drawing/2014/main" id="{5CB69BF9-6C1C-53F5-24FC-3149E5C626E7}"/>
                </a:ext>
              </a:extLst>
            </p:cNvPr>
            <p:cNvSpPr/>
            <p:nvPr/>
          </p:nvSpPr>
          <p:spPr>
            <a:xfrm>
              <a:off x="1129615" y="3798143"/>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31" name="正方形/長方形 30">
              <a:extLst>
                <a:ext uri="{FF2B5EF4-FFF2-40B4-BE49-F238E27FC236}">
                  <a16:creationId xmlns:a16="http://schemas.microsoft.com/office/drawing/2014/main" id="{D0AABB7C-BE60-7519-07CB-8E5647161849}"/>
                </a:ext>
              </a:extLst>
            </p:cNvPr>
            <p:cNvSpPr/>
            <p:nvPr/>
          </p:nvSpPr>
          <p:spPr>
            <a:xfrm>
              <a:off x="1742813" y="3798143"/>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32" name="正方形/長方形 31">
              <a:extLst>
                <a:ext uri="{FF2B5EF4-FFF2-40B4-BE49-F238E27FC236}">
                  <a16:creationId xmlns:a16="http://schemas.microsoft.com/office/drawing/2014/main" id="{C6BE5A0B-B2E7-0192-3457-25D08A4BA65C}"/>
                </a:ext>
              </a:extLst>
            </p:cNvPr>
            <p:cNvSpPr/>
            <p:nvPr/>
          </p:nvSpPr>
          <p:spPr>
            <a:xfrm>
              <a:off x="2356011" y="3798143"/>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35" name="正方形/長方形 34">
              <a:extLst>
                <a:ext uri="{FF2B5EF4-FFF2-40B4-BE49-F238E27FC236}">
                  <a16:creationId xmlns:a16="http://schemas.microsoft.com/office/drawing/2014/main" id="{5512E6D5-E0E9-A589-DA57-EDE5256FCAFA}"/>
                </a:ext>
              </a:extLst>
            </p:cNvPr>
            <p:cNvSpPr/>
            <p:nvPr/>
          </p:nvSpPr>
          <p:spPr>
            <a:xfrm>
              <a:off x="566629" y="3798143"/>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grpSp>
      <p:grpSp>
        <p:nvGrpSpPr>
          <p:cNvPr id="47" name="グループ化 46">
            <a:extLst>
              <a:ext uri="{FF2B5EF4-FFF2-40B4-BE49-F238E27FC236}">
                <a16:creationId xmlns:a16="http://schemas.microsoft.com/office/drawing/2014/main" id="{D3AF2F73-C378-A7A0-0415-A3B068F93384}"/>
              </a:ext>
            </a:extLst>
          </p:cNvPr>
          <p:cNvGrpSpPr/>
          <p:nvPr/>
        </p:nvGrpSpPr>
        <p:grpSpPr>
          <a:xfrm>
            <a:off x="579485" y="5083411"/>
            <a:ext cx="5892715" cy="496689"/>
            <a:chOff x="566629" y="5107821"/>
            <a:chExt cx="5892715" cy="496689"/>
          </a:xfrm>
        </p:grpSpPr>
        <p:sp>
          <p:nvSpPr>
            <p:cNvPr id="36" name="正方形/長方形 35">
              <a:extLst>
                <a:ext uri="{FF2B5EF4-FFF2-40B4-BE49-F238E27FC236}">
                  <a16:creationId xmlns:a16="http://schemas.microsoft.com/office/drawing/2014/main" id="{09306ECA-80BC-8533-001A-6E09C2AA6003}"/>
                </a:ext>
              </a:extLst>
            </p:cNvPr>
            <p:cNvSpPr/>
            <p:nvPr/>
          </p:nvSpPr>
          <p:spPr>
            <a:xfrm>
              <a:off x="2969209" y="5127512"/>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37" name="正方形/長方形 36">
              <a:extLst>
                <a:ext uri="{FF2B5EF4-FFF2-40B4-BE49-F238E27FC236}">
                  <a16:creationId xmlns:a16="http://schemas.microsoft.com/office/drawing/2014/main" id="{F18BBA6E-1D22-A15A-A6C2-B241C2571860}"/>
                </a:ext>
              </a:extLst>
            </p:cNvPr>
            <p:cNvSpPr/>
            <p:nvPr/>
          </p:nvSpPr>
          <p:spPr>
            <a:xfrm>
              <a:off x="3582407" y="5127512"/>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38" name="正方形/長方形 37">
              <a:extLst>
                <a:ext uri="{FF2B5EF4-FFF2-40B4-BE49-F238E27FC236}">
                  <a16:creationId xmlns:a16="http://schemas.microsoft.com/office/drawing/2014/main" id="{4D95EC74-A847-C77A-9A9F-F4B9A24ED45A}"/>
                </a:ext>
              </a:extLst>
            </p:cNvPr>
            <p:cNvSpPr/>
            <p:nvPr/>
          </p:nvSpPr>
          <p:spPr>
            <a:xfrm>
              <a:off x="4195605" y="5127512"/>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39" name="正方形/長方形 38">
              <a:extLst>
                <a:ext uri="{FF2B5EF4-FFF2-40B4-BE49-F238E27FC236}">
                  <a16:creationId xmlns:a16="http://schemas.microsoft.com/office/drawing/2014/main" id="{9A65A64B-1ABD-8DBE-7114-BC346A3421E0}"/>
                </a:ext>
              </a:extLst>
            </p:cNvPr>
            <p:cNvSpPr/>
            <p:nvPr/>
          </p:nvSpPr>
          <p:spPr>
            <a:xfrm>
              <a:off x="4808803" y="5127512"/>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40" name="正方形/長方形 39">
              <a:extLst>
                <a:ext uri="{FF2B5EF4-FFF2-40B4-BE49-F238E27FC236}">
                  <a16:creationId xmlns:a16="http://schemas.microsoft.com/office/drawing/2014/main" id="{EC6F485E-5C2A-C131-DF9D-767EB988195D}"/>
                </a:ext>
              </a:extLst>
            </p:cNvPr>
            <p:cNvSpPr/>
            <p:nvPr/>
          </p:nvSpPr>
          <p:spPr>
            <a:xfrm>
              <a:off x="5422001" y="5127512"/>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41" name="正方形/長方形 40">
              <a:extLst>
                <a:ext uri="{FF2B5EF4-FFF2-40B4-BE49-F238E27FC236}">
                  <a16:creationId xmlns:a16="http://schemas.microsoft.com/office/drawing/2014/main" id="{0F50D927-C16E-933B-AAA9-548B7F7FFD38}"/>
                </a:ext>
              </a:extLst>
            </p:cNvPr>
            <p:cNvSpPr/>
            <p:nvPr/>
          </p:nvSpPr>
          <p:spPr>
            <a:xfrm>
              <a:off x="6035196" y="5127512"/>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42" name="正方形/長方形 41">
              <a:extLst>
                <a:ext uri="{FF2B5EF4-FFF2-40B4-BE49-F238E27FC236}">
                  <a16:creationId xmlns:a16="http://schemas.microsoft.com/office/drawing/2014/main" id="{E0AE6A86-ECB5-8F8E-3599-1EAEBD8454C8}"/>
                </a:ext>
              </a:extLst>
            </p:cNvPr>
            <p:cNvSpPr/>
            <p:nvPr/>
          </p:nvSpPr>
          <p:spPr>
            <a:xfrm>
              <a:off x="1171031" y="510782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43" name="正方形/長方形 42">
              <a:extLst>
                <a:ext uri="{FF2B5EF4-FFF2-40B4-BE49-F238E27FC236}">
                  <a16:creationId xmlns:a16="http://schemas.microsoft.com/office/drawing/2014/main" id="{48DC6A01-4047-2968-E3D9-73CB7C652205}"/>
                </a:ext>
              </a:extLst>
            </p:cNvPr>
            <p:cNvSpPr/>
            <p:nvPr/>
          </p:nvSpPr>
          <p:spPr>
            <a:xfrm>
              <a:off x="1742813" y="5127512"/>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44" name="正方形/長方形 43">
              <a:extLst>
                <a:ext uri="{FF2B5EF4-FFF2-40B4-BE49-F238E27FC236}">
                  <a16:creationId xmlns:a16="http://schemas.microsoft.com/office/drawing/2014/main" id="{ECA0B21D-AEF7-DA92-AB44-6F18F0D7144A}"/>
                </a:ext>
              </a:extLst>
            </p:cNvPr>
            <p:cNvSpPr/>
            <p:nvPr/>
          </p:nvSpPr>
          <p:spPr>
            <a:xfrm>
              <a:off x="2356011" y="5127512"/>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45" name="正方形/長方形 44">
              <a:extLst>
                <a:ext uri="{FF2B5EF4-FFF2-40B4-BE49-F238E27FC236}">
                  <a16:creationId xmlns:a16="http://schemas.microsoft.com/office/drawing/2014/main" id="{0FA06AA0-DE59-285D-9A82-8BF124867629}"/>
                </a:ext>
              </a:extLst>
            </p:cNvPr>
            <p:cNvSpPr/>
            <p:nvPr/>
          </p:nvSpPr>
          <p:spPr>
            <a:xfrm>
              <a:off x="566629" y="5127512"/>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grpSp>
      <p:grpSp>
        <p:nvGrpSpPr>
          <p:cNvPr id="51" name="グループ化 50">
            <a:extLst>
              <a:ext uri="{FF2B5EF4-FFF2-40B4-BE49-F238E27FC236}">
                <a16:creationId xmlns:a16="http://schemas.microsoft.com/office/drawing/2014/main" id="{F32CB450-3614-3D22-8A87-BD5A12C90268}"/>
              </a:ext>
            </a:extLst>
          </p:cNvPr>
          <p:cNvGrpSpPr/>
          <p:nvPr/>
        </p:nvGrpSpPr>
        <p:grpSpPr>
          <a:xfrm>
            <a:off x="566629" y="2309970"/>
            <a:ext cx="5905571" cy="516108"/>
            <a:chOff x="516417" y="2285561"/>
            <a:chExt cx="5905571" cy="516108"/>
          </a:xfrm>
        </p:grpSpPr>
        <p:sp>
          <p:nvSpPr>
            <p:cNvPr id="10" name="正方形/長方形 9">
              <a:extLst>
                <a:ext uri="{FF2B5EF4-FFF2-40B4-BE49-F238E27FC236}">
                  <a16:creationId xmlns:a16="http://schemas.microsoft.com/office/drawing/2014/main" id="{C0DE44A9-3F83-787F-E01E-5998518DA94C}"/>
                </a:ext>
              </a:extLst>
            </p:cNvPr>
            <p:cNvSpPr/>
            <p:nvPr/>
          </p:nvSpPr>
          <p:spPr>
            <a:xfrm>
              <a:off x="2969209" y="232467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11" name="正方形/長方形 10">
              <a:extLst>
                <a:ext uri="{FF2B5EF4-FFF2-40B4-BE49-F238E27FC236}">
                  <a16:creationId xmlns:a16="http://schemas.microsoft.com/office/drawing/2014/main" id="{41C9101D-5227-9743-9E96-633FDE2CA323}"/>
                </a:ext>
              </a:extLst>
            </p:cNvPr>
            <p:cNvSpPr/>
            <p:nvPr/>
          </p:nvSpPr>
          <p:spPr>
            <a:xfrm>
              <a:off x="3582407" y="2300262"/>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12" name="正方形/長方形 11">
              <a:extLst>
                <a:ext uri="{FF2B5EF4-FFF2-40B4-BE49-F238E27FC236}">
                  <a16:creationId xmlns:a16="http://schemas.microsoft.com/office/drawing/2014/main" id="{947D3C5A-52BE-5A82-6DCD-54FAD619B2DD}"/>
                </a:ext>
              </a:extLst>
            </p:cNvPr>
            <p:cNvSpPr/>
            <p:nvPr/>
          </p:nvSpPr>
          <p:spPr>
            <a:xfrm>
              <a:off x="4195605" y="232467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13" name="正方形/長方形 12">
              <a:extLst>
                <a:ext uri="{FF2B5EF4-FFF2-40B4-BE49-F238E27FC236}">
                  <a16:creationId xmlns:a16="http://schemas.microsoft.com/office/drawing/2014/main" id="{2927D085-7023-1E83-C804-FAA94438FE63}"/>
                </a:ext>
              </a:extLst>
            </p:cNvPr>
            <p:cNvSpPr/>
            <p:nvPr/>
          </p:nvSpPr>
          <p:spPr>
            <a:xfrm>
              <a:off x="4783697" y="2319952"/>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19" name="正方形/長方形 18">
              <a:extLst>
                <a:ext uri="{FF2B5EF4-FFF2-40B4-BE49-F238E27FC236}">
                  <a16:creationId xmlns:a16="http://schemas.microsoft.com/office/drawing/2014/main" id="{AE609E2D-449B-2948-DA75-FB00BEBE3464}"/>
                </a:ext>
              </a:extLst>
            </p:cNvPr>
            <p:cNvSpPr/>
            <p:nvPr/>
          </p:nvSpPr>
          <p:spPr>
            <a:xfrm>
              <a:off x="516417" y="228556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20" name="正方形/長方形 19">
              <a:extLst>
                <a:ext uri="{FF2B5EF4-FFF2-40B4-BE49-F238E27FC236}">
                  <a16:creationId xmlns:a16="http://schemas.microsoft.com/office/drawing/2014/main" id="{29754AEE-D0C3-37CD-B5C7-33055E4CDEC3}"/>
                </a:ext>
              </a:extLst>
            </p:cNvPr>
            <p:cNvSpPr/>
            <p:nvPr/>
          </p:nvSpPr>
          <p:spPr>
            <a:xfrm>
              <a:off x="1129615" y="232467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21" name="正方形/長方形 20">
              <a:extLst>
                <a:ext uri="{FF2B5EF4-FFF2-40B4-BE49-F238E27FC236}">
                  <a16:creationId xmlns:a16="http://schemas.microsoft.com/office/drawing/2014/main" id="{60612E75-0DCD-76E5-2A29-F88D144D0B83}"/>
                </a:ext>
              </a:extLst>
            </p:cNvPr>
            <p:cNvSpPr/>
            <p:nvPr/>
          </p:nvSpPr>
          <p:spPr>
            <a:xfrm>
              <a:off x="1742813" y="232467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22" name="正方形/長方形 21">
              <a:extLst>
                <a:ext uri="{FF2B5EF4-FFF2-40B4-BE49-F238E27FC236}">
                  <a16:creationId xmlns:a16="http://schemas.microsoft.com/office/drawing/2014/main" id="{F2C72567-5B70-5660-C0A0-12A47EA83E56}"/>
                </a:ext>
              </a:extLst>
            </p:cNvPr>
            <p:cNvSpPr/>
            <p:nvPr/>
          </p:nvSpPr>
          <p:spPr>
            <a:xfrm>
              <a:off x="2356011" y="232467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49" name="正方形/長方形 48">
              <a:extLst>
                <a:ext uri="{FF2B5EF4-FFF2-40B4-BE49-F238E27FC236}">
                  <a16:creationId xmlns:a16="http://schemas.microsoft.com/office/drawing/2014/main" id="{E5842D8B-3ABA-DCA0-2D49-693BE255943F}"/>
                </a:ext>
              </a:extLst>
            </p:cNvPr>
            <p:cNvSpPr/>
            <p:nvPr/>
          </p:nvSpPr>
          <p:spPr>
            <a:xfrm>
              <a:off x="5384645" y="232467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sp>
          <p:nvSpPr>
            <p:cNvPr id="50" name="正方形/長方形 49">
              <a:extLst>
                <a:ext uri="{FF2B5EF4-FFF2-40B4-BE49-F238E27FC236}">
                  <a16:creationId xmlns:a16="http://schemas.microsoft.com/office/drawing/2014/main" id="{A92ED74C-5830-584D-F893-8CD7A2AF1D1B}"/>
                </a:ext>
              </a:extLst>
            </p:cNvPr>
            <p:cNvSpPr/>
            <p:nvPr/>
          </p:nvSpPr>
          <p:spPr>
            <a:xfrm>
              <a:off x="5997840" y="2324671"/>
              <a:ext cx="424148" cy="4769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75000"/>
                  </a:schemeClr>
                </a:solidFill>
              </a:endParaRPr>
            </a:p>
          </p:txBody>
        </p:sp>
      </p:grpSp>
      <p:grpSp>
        <p:nvGrpSpPr>
          <p:cNvPr id="64" name="グループ化 63">
            <a:extLst>
              <a:ext uri="{FF2B5EF4-FFF2-40B4-BE49-F238E27FC236}">
                <a16:creationId xmlns:a16="http://schemas.microsoft.com/office/drawing/2014/main" id="{5115F088-A01B-FD86-D224-FB59CE5C5805}"/>
              </a:ext>
            </a:extLst>
          </p:cNvPr>
          <p:cNvGrpSpPr/>
          <p:nvPr/>
        </p:nvGrpSpPr>
        <p:grpSpPr>
          <a:xfrm>
            <a:off x="2968124" y="2826078"/>
            <a:ext cx="3292002" cy="924422"/>
            <a:chOff x="2968124" y="2826078"/>
            <a:chExt cx="3292002" cy="924422"/>
          </a:xfrm>
        </p:grpSpPr>
        <p:cxnSp>
          <p:nvCxnSpPr>
            <p:cNvPr id="16" name="直線矢印コネクタ 15">
              <a:extLst>
                <a:ext uri="{FF2B5EF4-FFF2-40B4-BE49-F238E27FC236}">
                  <a16:creationId xmlns:a16="http://schemas.microsoft.com/office/drawing/2014/main" id="{C626006E-32D4-C3B5-7059-92DC40F4FBBD}"/>
                </a:ext>
              </a:extLst>
            </p:cNvPr>
            <p:cNvCxnSpPr>
              <a:cxnSpLocks/>
              <a:stCxn id="50" idx="2"/>
              <a:endCxn id="28" idx="0"/>
            </p:cNvCxnSpPr>
            <p:nvPr/>
          </p:nvCxnSpPr>
          <p:spPr>
            <a:xfrm flipH="1">
              <a:off x="6228592" y="2826078"/>
              <a:ext cx="31534" cy="900013"/>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4" name="直線矢印コネクタ 53">
              <a:extLst>
                <a:ext uri="{FF2B5EF4-FFF2-40B4-BE49-F238E27FC236}">
                  <a16:creationId xmlns:a16="http://schemas.microsoft.com/office/drawing/2014/main" id="{C74F99B4-0CF3-F646-9A49-0F827BC51F1E}"/>
                </a:ext>
              </a:extLst>
            </p:cNvPr>
            <p:cNvCxnSpPr>
              <a:cxnSpLocks/>
              <a:stCxn id="50" idx="2"/>
            </p:cNvCxnSpPr>
            <p:nvPr/>
          </p:nvCxnSpPr>
          <p:spPr>
            <a:xfrm flipH="1">
              <a:off x="5674863" y="2826078"/>
              <a:ext cx="585263" cy="924422"/>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6" name="直線矢印コネクタ 55">
              <a:extLst>
                <a:ext uri="{FF2B5EF4-FFF2-40B4-BE49-F238E27FC236}">
                  <a16:creationId xmlns:a16="http://schemas.microsoft.com/office/drawing/2014/main" id="{758E032D-FB07-D798-29CE-04301BFA5400}"/>
                </a:ext>
              </a:extLst>
            </p:cNvPr>
            <p:cNvCxnSpPr>
              <a:cxnSpLocks/>
              <a:stCxn id="50" idx="2"/>
            </p:cNvCxnSpPr>
            <p:nvPr/>
          </p:nvCxnSpPr>
          <p:spPr>
            <a:xfrm flipH="1">
              <a:off x="5025617" y="2826078"/>
              <a:ext cx="1234509" cy="924422"/>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8" name="直線矢印コネクタ 57">
              <a:extLst>
                <a:ext uri="{FF2B5EF4-FFF2-40B4-BE49-F238E27FC236}">
                  <a16:creationId xmlns:a16="http://schemas.microsoft.com/office/drawing/2014/main" id="{0E37B629-F2FF-769D-78B9-1AD3F331D010}"/>
                </a:ext>
              </a:extLst>
            </p:cNvPr>
            <p:cNvCxnSpPr>
              <a:cxnSpLocks/>
              <a:stCxn id="50" idx="2"/>
            </p:cNvCxnSpPr>
            <p:nvPr/>
          </p:nvCxnSpPr>
          <p:spPr>
            <a:xfrm flipH="1">
              <a:off x="4397797" y="2826078"/>
              <a:ext cx="1862329" cy="924422"/>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0" name="直線矢印コネクタ 59">
              <a:extLst>
                <a:ext uri="{FF2B5EF4-FFF2-40B4-BE49-F238E27FC236}">
                  <a16:creationId xmlns:a16="http://schemas.microsoft.com/office/drawing/2014/main" id="{169AB63F-B9C2-0241-7923-3F3E7D178884}"/>
                </a:ext>
              </a:extLst>
            </p:cNvPr>
            <p:cNvCxnSpPr>
              <a:cxnSpLocks/>
              <a:stCxn id="50" idx="2"/>
            </p:cNvCxnSpPr>
            <p:nvPr/>
          </p:nvCxnSpPr>
          <p:spPr>
            <a:xfrm flipH="1">
              <a:off x="3617339" y="2826078"/>
              <a:ext cx="2642787" cy="924422"/>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2" name="直線矢印コネクタ 61">
              <a:extLst>
                <a:ext uri="{FF2B5EF4-FFF2-40B4-BE49-F238E27FC236}">
                  <a16:creationId xmlns:a16="http://schemas.microsoft.com/office/drawing/2014/main" id="{AA2D29C7-D4EF-20A0-7590-757DB450CCE9}"/>
                </a:ext>
              </a:extLst>
            </p:cNvPr>
            <p:cNvCxnSpPr>
              <a:cxnSpLocks/>
              <a:stCxn id="50" idx="2"/>
            </p:cNvCxnSpPr>
            <p:nvPr/>
          </p:nvCxnSpPr>
          <p:spPr>
            <a:xfrm flipH="1">
              <a:off x="2968124" y="2826078"/>
              <a:ext cx="3292002" cy="924422"/>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5" name="グループ化 64">
            <a:extLst>
              <a:ext uri="{FF2B5EF4-FFF2-40B4-BE49-F238E27FC236}">
                <a16:creationId xmlns:a16="http://schemas.microsoft.com/office/drawing/2014/main" id="{03BFA8CE-9D7E-9790-C682-74FC2199D423}"/>
              </a:ext>
            </a:extLst>
          </p:cNvPr>
          <p:cNvGrpSpPr/>
          <p:nvPr/>
        </p:nvGrpSpPr>
        <p:grpSpPr>
          <a:xfrm>
            <a:off x="2917912" y="4203089"/>
            <a:ext cx="3310680" cy="924422"/>
            <a:chOff x="2917912" y="2801669"/>
            <a:chExt cx="3310680" cy="924422"/>
          </a:xfrm>
        </p:grpSpPr>
        <p:cxnSp>
          <p:nvCxnSpPr>
            <p:cNvPr id="66" name="直線矢印コネクタ 65">
              <a:extLst>
                <a:ext uri="{FF2B5EF4-FFF2-40B4-BE49-F238E27FC236}">
                  <a16:creationId xmlns:a16="http://schemas.microsoft.com/office/drawing/2014/main" id="{57D7FD95-6C40-0D2F-3B68-FA73CBB142DE}"/>
                </a:ext>
              </a:extLst>
            </p:cNvPr>
            <p:cNvCxnSpPr>
              <a:cxnSpLocks/>
            </p:cNvCxnSpPr>
            <p:nvPr/>
          </p:nvCxnSpPr>
          <p:spPr>
            <a:xfrm>
              <a:off x="6209914" y="2801669"/>
              <a:ext cx="18678" cy="924422"/>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7" name="直線矢印コネクタ 66">
              <a:extLst>
                <a:ext uri="{FF2B5EF4-FFF2-40B4-BE49-F238E27FC236}">
                  <a16:creationId xmlns:a16="http://schemas.microsoft.com/office/drawing/2014/main" id="{12EC9E50-5470-0E2F-4CF1-B3B602FA1BB5}"/>
                </a:ext>
              </a:extLst>
            </p:cNvPr>
            <p:cNvCxnSpPr>
              <a:cxnSpLocks/>
            </p:cNvCxnSpPr>
            <p:nvPr/>
          </p:nvCxnSpPr>
          <p:spPr>
            <a:xfrm flipH="1">
              <a:off x="5624651" y="2801669"/>
              <a:ext cx="585263" cy="924422"/>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8" name="直線矢印コネクタ 67">
              <a:extLst>
                <a:ext uri="{FF2B5EF4-FFF2-40B4-BE49-F238E27FC236}">
                  <a16:creationId xmlns:a16="http://schemas.microsoft.com/office/drawing/2014/main" id="{5645C000-FEBE-0BC5-F0BE-CD5AB582F5D4}"/>
                </a:ext>
              </a:extLst>
            </p:cNvPr>
            <p:cNvCxnSpPr>
              <a:cxnSpLocks/>
            </p:cNvCxnSpPr>
            <p:nvPr/>
          </p:nvCxnSpPr>
          <p:spPr>
            <a:xfrm flipH="1">
              <a:off x="4975405" y="2801669"/>
              <a:ext cx="1234509" cy="924422"/>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9" name="直線矢印コネクタ 68">
              <a:extLst>
                <a:ext uri="{FF2B5EF4-FFF2-40B4-BE49-F238E27FC236}">
                  <a16:creationId xmlns:a16="http://schemas.microsoft.com/office/drawing/2014/main" id="{1DD4A55B-EB29-EB88-BD88-F624CA12B458}"/>
                </a:ext>
              </a:extLst>
            </p:cNvPr>
            <p:cNvCxnSpPr>
              <a:cxnSpLocks/>
            </p:cNvCxnSpPr>
            <p:nvPr/>
          </p:nvCxnSpPr>
          <p:spPr>
            <a:xfrm flipH="1">
              <a:off x="4347585" y="2801669"/>
              <a:ext cx="1862329" cy="924422"/>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0" name="直線矢印コネクタ 69">
              <a:extLst>
                <a:ext uri="{FF2B5EF4-FFF2-40B4-BE49-F238E27FC236}">
                  <a16:creationId xmlns:a16="http://schemas.microsoft.com/office/drawing/2014/main" id="{1638C286-B64E-0022-5FF1-ACC889B4B37E}"/>
                </a:ext>
              </a:extLst>
            </p:cNvPr>
            <p:cNvCxnSpPr>
              <a:cxnSpLocks/>
            </p:cNvCxnSpPr>
            <p:nvPr/>
          </p:nvCxnSpPr>
          <p:spPr>
            <a:xfrm flipH="1">
              <a:off x="3567127" y="2801669"/>
              <a:ext cx="2642787" cy="924422"/>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1" name="直線矢印コネクタ 70">
              <a:extLst>
                <a:ext uri="{FF2B5EF4-FFF2-40B4-BE49-F238E27FC236}">
                  <a16:creationId xmlns:a16="http://schemas.microsoft.com/office/drawing/2014/main" id="{113EDB03-E763-1513-C97B-729021741801}"/>
                </a:ext>
              </a:extLst>
            </p:cNvPr>
            <p:cNvCxnSpPr>
              <a:cxnSpLocks/>
            </p:cNvCxnSpPr>
            <p:nvPr/>
          </p:nvCxnSpPr>
          <p:spPr>
            <a:xfrm flipH="1">
              <a:off x="2917912" y="2801669"/>
              <a:ext cx="3292002" cy="924422"/>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411077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F5DD9-8EFC-5E37-8C4D-5142783B9D73}"/>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6581F050-FB74-1E0F-8F63-ED4E86395DE8}"/>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544339F2-0425-DDA3-7AB2-222B7B42AA7F}"/>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2800" dirty="0"/>
              <a:t>Index</a:t>
            </a:r>
            <a:r>
              <a:rPr lang="ja-JP" altLang="en-US" sz="2800" dirty="0"/>
              <a:t>の特徴から</a:t>
            </a:r>
            <a:r>
              <a:rPr lang="en-US" altLang="ja-JP" sz="2800" dirty="0"/>
              <a:t>Index</a:t>
            </a:r>
            <a:r>
              <a:rPr lang="ja-JP" altLang="en-US" sz="2800" dirty="0"/>
              <a:t>が効かないアンチパターンが存在することを理解する</a:t>
            </a:r>
            <a:endParaRPr lang="en-US" altLang="ja-JP" sz="2800" dirty="0"/>
          </a:p>
        </p:txBody>
      </p:sp>
      <p:sp>
        <p:nvSpPr>
          <p:cNvPr id="4" name="タイトル プレースホルダー 1">
            <a:extLst>
              <a:ext uri="{FF2B5EF4-FFF2-40B4-BE49-F238E27FC236}">
                <a16:creationId xmlns:a16="http://schemas.microsoft.com/office/drawing/2014/main" id="{CECD54B3-BDFD-93FE-EB99-E878ADB722E1}"/>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Index</a:t>
            </a:r>
            <a:r>
              <a:rPr lang="ja-JP" altLang="en-US" dirty="0"/>
              <a:t>の仕組み</a:t>
            </a:r>
            <a:endParaRPr lang="en-US" altLang="ja-JP" dirty="0"/>
          </a:p>
        </p:txBody>
      </p:sp>
      <p:graphicFrame>
        <p:nvGraphicFramePr>
          <p:cNvPr id="17" name="表 16">
            <a:extLst>
              <a:ext uri="{FF2B5EF4-FFF2-40B4-BE49-F238E27FC236}">
                <a16:creationId xmlns:a16="http://schemas.microsoft.com/office/drawing/2014/main" id="{AD8B021B-D170-234E-2AEA-B045781A1F98}"/>
              </a:ext>
            </a:extLst>
          </p:cNvPr>
          <p:cNvGraphicFramePr>
            <a:graphicFrameLocks noGrp="1"/>
          </p:cNvGraphicFramePr>
          <p:nvPr/>
        </p:nvGraphicFramePr>
        <p:xfrm>
          <a:off x="355600" y="2238142"/>
          <a:ext cx="11530057" cy="3890578"/>
        </p:xfrm>
        <a:graphic>
          <a:graphicData uri="http://schemas.openxmlformats.org/drawingml/2006/table">
            <a:tbl>
              <a:tblPr firstRow="1" bandRow="1">
                <a:tableStyleId>{F5AB1C69-6EDB-4FF4-983F-18BD219EF322}</a:tableStyleId>
              </a:tblPr>
              <a:tblGrid>
                <a:gridCol w="743113">
                  <a:extLst>
                    <a:ext uri="{9D8B030D-6E8A-4147-A177-3AD203B41FA5}">
                      <a16:colId xmlns:a16="http://schemas.microsoft.com/office/drawing/2014/main" val="851819213"/>
                    </a:ext>
                  </a:extLst>
                </a:gridCol>
                <a:gridCol w="2726888">
                  <a:extLst>
                    <a:ext uri="{9D8B030D-6E8A-4147-A177-3AD203B41FA5}">
                      <a16:colId xmlns:a16="http://schemas.microsoft.com/office/drawing/2014/main" val="618744104"/>
                    </a:ext>
                  </a:extLst>
                </a:gridCol>
                <a:gridCol w="5177542">
                  <a:extLst>
                    <a:ext uri="{9D8B030D-6E8A-4147-A177-3AD203B41FA5}">
                      <a16:colId xmlns:a16="http://schemas.microsoft.com/office/drawing/2014/main" val="952234859"/>
                    </a:ext>
                  </a:extLst>
                </a:gridCol>
                <a:gridCol w="2882514">
                  <a:extLst>
                    <a:ext uri="{9D8B030D-6E8A-4147-A177-3AD203B41FA5}">
                      <a16:colId xmlns:a16="http://schemas.microsoft.com/office/drawing/2014/main" val="2162630281"/>
                    </a:ext>
                  </a:extLst>
                </a:gridCol>
              </a:tblGrid>
              <a:tr h="507298">
                <a:tc>
                  <a:txBody>
                    <a:bodyPr/>
                    <a:lstStyle/>
                    <a:p>
                      <a:r>
                        <a:rPr kumimoji="1" lang="ja-JP" altLang="en-US" dirty="0"/>
                        <a:t>項番</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タイトル</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概要</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備考</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4021886788"/>
                  </a:ext>
                </a:extLst>
              </a:tr>
              <a:tr h="507298">
                <a:tc>
                  <a:txBody>
                    <a:bodyPr/>
                    <a:lstStyle/>
                    <a:p>
                      <a:r>
                        <a:rPr kumimoji="1" lang="en-US" altLang="ja-JP" dirty="0"/>
                        <a:t>1</a:t>
                      </a:r>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検索結果が多い、全体の件数が少ない</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ja-JP" altLang="en-US" dirty="0"/>
                        <a:t>検索結果のコントロールが必要</a:t>
                      </a:r>
                      <a:endParaRPr kumimoji="1" lang="en-US" altLang="ja-JP" dirty="0"/>
                    </a:p>
                    <a:p>
                      <a:pPr marL="285750" indent="-285750">
                        <a:buFont typeface="Arial" panose="020B0604020202020204" pitchFamily="34" charset="0"/>
                        <a:buChar char="•"/>
                      </a:pPr>
                      <a:r>
                        <a:rPr kumimoji="1" lang="ja-JP" altLang="en-US" dirty="0"/>
                        <a:t>検索対象のテーブルが十分に大きい必要がある</a:t>
                      </a:r>
                      <a:endParaRPr kumimoji="1" lang="en-US" altLang="ja-JP" dirty="0"/>
                    </a:p>
                    <a:p>
                      <a:pPr marL="285750" indent="-285750">
                        <a:buFont typeface="Arial" panose="020B0604020202020204" pitchFamily="34" charset="0"/>
                        <a:buChar char="•"/>
                      </a:pPr>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5794718"/>
                  </a:ext>
                </a:extLst>
              </a:tr>
              <a:tr h="507298">
                <a:tc>
                  <a:txBody>
                    <a:bodyPr/>
                    <a:lstStyle/>
                    <a:p>
                      <a:r>
                        <a:rPr kumimoji="1" lang="en-US" altLang="ja-JP" dirty="0"/>
                        <a:t>2</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条件にその列を使っていない</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ja-JP" altLang="en-US" dirty="0"/>
                        <a:t>検索対象の列が</a:t>
                      </a:r>
                      <a:r>
                        <a:rPr kumimoji="1" lang="en-US" altLang="ja-JP" dirty="0"/>
                        <a:t>WHERE</a:t>
                      </a:r>
                      <a:r>
                        <a:rPr kumimoji="1" lang="ja-JP" altLang="en-US" dirty="0"/>
                        <a:t>句や</a:t>
                      </a:r>
                      <a:r>
                        <a:rPr kumimoji="1" lang="en-US" altLang="ja-JP" dirty="0"/>
                        <a:t>JOIN</a:t>
                      </a:r>
                      <a:r>
                        <a:rPr kumimoji="1" lang="ja-JP" altLang="en-US" dirty="0"/>
                        <a:t>の際の</a:t>
                      </a:r>
                      <a:r>
                        <a:rPr kumimoji="1" lang="en-US" altLang="ja-JP" dirty="0"/>
                        <a:t>ON</a:t>
                      </a:r>
                      <a:r>
                        <a:rPr kumimoji="1" lang="ja-JP" altLang="en-US" dirty="0"/>
                        <a:t>句で利用されている必要がある</a:t>
                      </a:r>
                      <a:endParaRPr kumimoji="1" lang="en-US" altLang="ja-JP" dirty="0"/>
                    </a:p>
                    <a:p>
                      <a:pPr marL="285750" indent="-285750">
                        <a:buFont typeface="Arial" panose="020B0604020202020204" pitchFamily="34" charset="0"/>
                        <a:buChar char="•"/>
                      </a:pP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7024123"/>
                  </a:ext>
                </a:extLst>
              </a:tr>
              <a:tr h="507298">
                <a:tc>
                  <a:txBody>
                    <a:bodyPr/>
                    <a:lstStyle/>
                    <a:p>
                      <a:r>
                        <a:rPr kumimoji="1" lang="en-US" altLang="ja-JP" dirty="0"/>
                        <a:t>3</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カーディナリティが低い列への検索</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ja-JP" altLang="en-US" dirty="0"/>
                        <a:t>列に格納されるデータの値に十分な種類がある必要がある</a:t>
                      </a:r>
                      <a:endParaRPr kumimoji="1" lang="en-US" altLang="ja-JP" dirty="0"/>
                    </a:p>
                    <a:p>
                      <a:pPr marL="285750" indent="-285750">
                        <a:buFont typeface="Arial" panose="020B0604020202020204" pitchFamily="34" charset="0"/>
                        <a:buChar char="•"/>
                      </a:pP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98956711"/>
                  </a:ext>
                </a:extLst>
              </a:tr>
              <a:tr h="507298">
                <a:tc>
                  <a:txBody>
                    <a:bodyPr/>
                    <a:lstStyle/>
                    <a:p>
                      <a:r>
                        <a:rPr kumimoji="1" lang="en-US" altLang="ja-JP" dirty="0"/>
                        <a:t>4</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あいまいな検索</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en-US" altLang="ja-JP" dirty="0"/>
                        <a:t>LIKE</a:t>
                      </a:r>
                      <a:r>
                        <a:rPr kumimoji="1" lang="ja-JP" altLang="en-US" dirty="0"/>
                        <a:t>検索の際の注意</a:t>
                      </a:r>
                      <a:endParaRPr kumimoji="1" lang="en-US" altLang="ja-JP" dirty="0"/>
                    </a:p>
                    <a:p>
                      <a:pPr marL="285750" indent="-285750">
                        <a:buFont typeface="Arial" panose="020B0604020202020204" pitchFamily="34" charset="0"/>
                        <a:buChar char="•"/>
                      </a:pP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2696075"/>
                  </a:ext>
                </a:extLst>
              </a:tr>
            </a:tbl>
          </a:graphicData>
        </a:graphic>
      </p:graphicFrame>
    </p:spTree>
    <p:extLst>
      <p:ext uri="{BB962C8B-B14F-4D97-AF65-F5344CB8AC3E}">
        <p14:creationId xmlns:p14="http://schemas.microsoft.com/office/powerpoint/2010/main" val="3792384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197FC-9627-527B-6C68-A1FB26E532C8}"/>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2E1D7C15-16FE-55BC-AD0B-1CE35F016FEF}"/>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895B193D-73E6-1090-94A4-F7D140771DBC}"/>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検索結果と検索対象のテーブルの大きさに注意する必要がある</a:t>
            </a:r>
            <a:endParaRPr lang="en-US" altLang="ja-JP" sz="2800" dirty="0"/>
          </a:p>
        </p:txBody>
      </p:sp>
      <p:sp>
        <p:nvSpPr>
          <p:cNvPr id="4" name="タイトル プレースホルダー 1">
            <a:extLst>
              <a:ext uri="{FF2B5EF4-FFF2-40B4-BE49-F238E27FC236}">
                <a16:creationId xmlns:a16="http://schemas.microsoft.com/office/drawing/2014/main" id="{E6DCFDE6-C049-6AE7-67C3-7BE51B4E3E47}"/>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Index</a:t>
            </a:r>
            <a:r>
              <a:rPr lang="ja-JP" altLang="en-US" dirty="0"/>
              <a:t>の仕組み</a:t>
            </a:r>
            <a:endParaRPr lang="en-US" altLang="ja-JP" dirty="0"/>
          </a:p>
        </p:txBody>
      </p:sp>
      <p:sp>
        <p:nvSpPr>
          <p:cNvPr id="5" name="タイトル プレースホルダー 1">
            <a:extLst>
              <a:ext uri="{FF2B5EF4-FFF2-40B4-BE49-F238E27FC236}">
                <a16:creationId xmlns:a16="http://schemas.microsoft.com/office/drawing/2014/main" id="{DABBC452-3456-4FED-9305-B68F489CB832}"/>
              </a:ext>
            </a:extLst>
          </p:cNvPr>
          <p:cNvSpPr txBox="1">
            <a:spLocks/>
          </p:cNvSpPr>
          <p:nvPr/>
        </p:nvSpPr>
        <p:spPr>
          <a:xfrm>
            <a:off x="342900" y="2730501"/>
            <a:ext cx="5448300" cy="87383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検索結果が検索対象のテーブルのなかで、一般的なレベルでは</a:t>
            </a:r>
            <a:r>
              <a:rPr lang="en-US" altLang="ja-JP" sz="1800" dirty="0"/>
              <a:t>10%</a:t>
            </a:r>
            <a:r>
              <a:rPr lang="ja-JP" altLang="en-US" sz="1800" dirty="0"/>
              <a:t>未満を指標にするのが良い</a:t>
            </a:r>
            <a:endParaRPr lang="en-US" altLang="ja-JP" sz="1800" dirty="0"/>
          </a:p>
        </p:txBody>
      </p:sp>
      <p:sp>
        <p:nvSpPr>
          <p:cNvPr id="7" name="正方形/長方形 6">
            <a:extLst>
              <a:ext uri="{FF2B5EF4-FFF2-40B4-BE49-F238E27FC236}">
                <a16:creationId xmlns:a16="http://schemas.microsoft.com/office/drawing/2014/main" id="{84184210-936D-EF23-7D1C-16291A7B9A70}"/>
              </a:ext>
            </a:extLst>
          </p:cNvPr>
          <p:cNvSpPr/>
          <p:nvPr/>
        </p:nvSpPr>
        <p:spPr>
          <a:xfrm>
            <a:off x="3429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rPr>
              <a:t>検索結果の数量</a:t>
            </a:r>
          </a:p>
        </p:txBody>
      </p:sp>
      <p:sp>
        <p:nvSpPr>
          <p:cNvPr id="8" name="正方形/長方形 7">
            <a:extLst>
              <a:ext uri="{FF2B5EF4-FFF2-40B4-BE49-F238E27FC236}">
                <a16:creationId xmlns:a16="http://schemas.microsoft.com/office/drawing/2014/main" id="{BAEB22F2-1A00-552A-2A94-0623E914DEC9}"/>
              </a:ext>
            </a:extLst>
          </p:cNvPr>
          <p:cNvSpPr/>
          <p:nvPr/>
        </p:nvSpPr>
        <p:spPr>
          <a:xfrm>
            <a:off x="64135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rPr>
              <a:t>検索対象のテーブルの大きさ</a:t>
            </a:r>
          </a:p>
        </p:txBody>
      </p:sp>
      <p:cxnSp>
        <p:nvCxnSpPr>
          <p:cNvPr id="11" name="直線コネクタ 10">
            <a:extLst>
              <a:ext uri="{FF2B5EF4-FFF2-40B4-BE49-F238E27FC236}">
                <a16:creationId xmlns:a16="http://schemas.microsoft.com/office/drawing/2014/main" id="{524755CE-817B-CC3E-5281-4EF4983E2652}"/>
              </a:ext>
            </a:extLst>
          </p:cNvPr>
          <p:cNvCxnSpPr>
            <a:cxnSpLocks/>
          </p:cNvCxnSpPr>
          <p:nvPr/>
        </p:nvCxnSpPr>
        <p:spPr>
          <a:xfrm>
            <a:off x="6096000" y="2184400"/>
            <a:ext cx="0" cy="4421026"/>
          </a:xfrm>
          <a:prstGeom prst="line">
            <a:avLst/>
          </a:prstGeom>
          <a:ln>
            <a:solidFill>
              <a:schemeClr val="tx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6" name="タイトル プレースホルダー 1">
            <a:extLst>
              <a:ext uri="{FF2B5EF4-FFF2-40B4-BE49-F238E27FC236}">
                <a16:creationId xmlns:a16="http://schemas.microsoft.com/office/drawing/2014/main" id="{DB1230CB-F3EF-F103-391A-CDA6CA5698EB}"/>
              </a:ext>
            </a:extLst>
          </p:cNvPr>
          <p:cNvSpPr txBox="1">
            <a:spLocks/>
          </p:cNvSpPr>
          <p:nvPr/>
        </p:nvSpPr>
        <p:spPr>
          <a:xfrm>
            <a:off x="6413500" y="2730501"/>
            <a:ext cx="5448300" cy="87383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数万～数十万行が目安になる</a:t>
            </a:r>
            <a:endParaRPr lang="en-US" altLang="ja-JP" sz="1800" dirty="0"/>
          </a:p>
          <a:p>
            <a:r>
              <a:rPr lang="en-US" altLang="ja-JP" sz="1800" dirty="0"/>
              <a:t>1000</a:t>
            </a:r>
            <a:r>
              <a:rPr lang="ja-JP" altLang="en-US" sz="1800" dirty="0"/>
              <a:t>行程度テーブルであれば</a:t>
            </a:r>
            <a:r>
              <a:rPr lang="en-US" altLang="ja-JP" sz="1800" dirty="0"/>
              <a:t>Index</a:t>
            </a:r>
            <a:r>
              <a:rPr lang="ja-JP" altLang="en-US" sz="1800" dirty="0"/>
              <a:t>を参照するよりもテーブルスキャンが効率的なことが多い</a:t>
            </a:r>
            <a:endParaRPr lang="en-US" altLang="ja-JP" sz="1800" dirty="0"/>
          </a:p>
        </p:txBody>
      </p:sp>
      <p:sp>
        <p:nvSpPr>
          <p:cNvPr id="9" name="楕円 8">
            <a:extLst>
              <a:ext uri="{FF2B5EF4-FFF2-40B4-BE49-F238E27FC236}">
                <a16:creationId xmlns:a16="http://schemas.microsoft.com/office/drawing/2014/main" id="{A041284C-6ABD-1CDF-29BC-DD37C657561E}"/>
              </a:ext>
            </a:extLst>
          </p:cNvPr>
          <p:cNvSpPr/>
          <p:nvPr/>
        </p:nvSpPr>
        <p:spPr>
          <a:xfrm>
            <a:off x="355600" y="3604335"/>
            <a:ext cx="1458000" cy="593728"/>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顧客</a:t>
            </a:r>
          </a:p>
        </p:txBody>
      </p:sp>
      <p:graphicFrame>
        <p:nvGraphicFramePr>
          <p:cNvPr id="12" name="表 11">
            <a:extLst>
              <a:ext uri="{FF2B5EF4-FFF2-40B4-BE49-F238E27FC236}">
                <a16:creationId xmlns:a16="http://schemas.microsoft.com/office/drawing/2014/main" id="{A7108997-218E-8517-F6CA-25CD6631BFD3}"/>
              </a:ext>
            </a:extLst>
          </p:cNvPr>
          <p:cNvGraphicFramePr>
            <a:graphicFrameLocks noGrp="1"/>
          </p:cNvGraphicFramePr>
          <p:nvPr>
            <p:extLst>
              <p:ext uri="{D42A27DB-BD31-4B8C-83A1-F6EECF244321}">
                <p14:modId xmlns:p14="http://schemas.microsoft.com/office/powerpoint/2010/main" val="437466299"/>
              </p:ext>
            </p:extLst>
          </p:nvPr>
        </p:nvGraphicFramePr>
        <p:xfrm>
          <a:off x="359998" y="4340935"/>
          <a:ext cx="2298699" cy="1854200"/>
        </p:xfrm>
        <a:graphic>
          <a:graphicData uri="http://schemas.openxmlformats.org/drawingml/2006/table">
            <a:tbl>
              <a:tblPr firstRow="1" bandRow="1">
                <a:tableStyleId>{5C22544A-7EE6-4342-B048-85BDC9FD1C3A}</a:tableStyleId>
              </a:tblPr>
              <a:tblGrid>
                <a:gridCol w="766233">
                  <a:extLst>
                    <a:ext uri="{9D8B030D-6E8A-4147-A177-3AD203B41FA5}">
                      <a16:colId xmlns:a16="http://schemas.microsoft.com/office/drawing/2014/main" val="1999541375"/>
                    </a:ext>
                  </a:extLst>
                </a:gridCol>
                <a:gridCol w="766233">
                  <a:extLst>
                    <a:ext uri="{9D8B030D-6E8A-4147-A177-3AD203B41FA5}">
                      <a16:colId xmlns:a16="http://schemas.microsoft.com/office/drawing/2014/main" val="3417578246"/>
                    </a:ext>
                  </a:extLst>
                </a:gridCol>
                <a:gridCol w="766233">
                  <a:extLst>
                    <a:ext uri="{9D8B030D-6E8A-4147-A177-3AD203B41FA5}">
                      <a16:colId xmlns:a16="http://schemas.microsoft.com/office/drawing/2014/main" val="1964487015"/>
                    </a:ext>
                  </a:extLst>
                </a:gridCol>
              </a:tblGrid>
              <a:tr h="370840">
                <a:tc>
                  <a:txBody>
                    <a:bodyPr/>
                    <a:lstStyle/>
                    <a:p>
                      <a:r>
                        <a:rPr kumimoji="1" lang="ja-JP" altLang="en-US" sz="1200" dirty="0"/>
                        <a:t>顧客</a:t>
                      </a:r>
                      <a:r>
                        <a:rPr kumimoji="1" lang="en-US" altLang="ja-JP" sz="1200" dirty="0"/>
                        <a:t>ID</a:t>
                      </a:r>
                      <a:endParaRPr kumimoji="1" lang="ja-JP" altLang="en-US" sz="1200" dirty="0"/>
                    </a:p>
                  </a:txBody>
                  <a:tcPr/>
                </a:tc>
                <a:tc>
                  <a:txBody>
                    <a:bodyPr/>
                    <a:lstStyle/>
                    <a:p>
                      <a:r>
                        <a:rPr kumimoji="1" lang="ja-JP" altLang="en-US" sz="1200" dirty="0"/>
                        <a:t>顧客名</a:t>
                      </a:r>
                    </a:p>
                  </a:txBody>
                  <a:tcPr/>
                </a:tc>
                <a:tc>
                  <a:txBody>
                    <a:bodyPr/>
                    <a:lstStyle/>
                    <a:p>
                      <a:r>
                        <a:rPr kumimoji="1" lang="ja-JP" altLang="en-US" sz="1200" b="1" dirty="0"/>
                        <a:t>住所</a:t>
                      </a:r>
                    </a:p>
                  </a:txBody>
                  <a:tcPr/>
                </a:tc>
                <a:extLst>
                  <a:ext uri="{0D108BD9-81ED-4DB2-BD59-A6C34878D82A}">
                    <a16:rowId xmlns:a16="http://schemas.microsoft.com/office/drawing/2014/main" val="1405846645"/>
                  </a:ext>
                </a:extLst>
              </a:tr>
              <a:tr h="370840">
                <a:tc>
                  <a:txBody>
                    <a:bodyPr/>
                    <a:lstStyle/>
                    <a:p>
                      <a:r>
                        <a:rPr kumimoji="1" lang="en-US" altLang="ja-JP" sz="1200" dirty="0"/>
                        <a:t>1</a:t>
                      </a:r>
                      <a:endParaRPr kumimoji="1" lang="ja-JP" altLang="en-US" sz="1200" dirty="0"/>
                    </a:p>
                  </a:txBody>
                  <a:tcPr/>
                </a:tc>
                <a:tc>
                  <a:txBody>
                    <a:bodyPr/>
                    <a:lstStyle/>
                    <a:p>
                      <a:r>
                        <a:rPr kumimoji="1" lang="ja-JP" altLang="en-US" sz="1200" dirty="0"/>
                        <a:t>たけ</a:t>
                      </a:r>
                    </a:p>
                  </a:txBody>
                  <a:tcPr/>
                </a:tc>
                <a:tc>
                  <a:txBody>
                    <a:bodyPr/>
                    <a:lstStyle/>
                    <a:p>
                      <a:r>
                        <a:rPr kumimoji="1" lang="ja-JP" altLang="en-US" sz="1200" b="1" dirty="0"/>
                        <a:t>川崎</a:t>
                      </a:r>
                    </a:p>
                  </a:txBody>
                  <a:tcPr/>
                </a:tc>
                <a:extLst>
                  <a:ext uri="{0D108BD9-81ED-4DB2-BD59-A6C34878D82A}">
                    <a16:rowId xmlns:a16="http://schemas.microsoft.com/office/drawing/2014/main" val="922876080"/>
                  </a:ext>
                </a:extLst>
              </a:tr>
              <a:tr h="370840">
                <a:tc>
                  <a:txBody>
                    <a:bodyPr/>
                    <a:lstStyle/>
                    <a:p>
                      <a:r>
                        <a:rPr kumimoji="1" lang="en-US" altLang="ja-JP" sz="1200" dirty="0"/>
                        <a:t>2</a:t>
                      </a:r>
                      <a:endParaRPr kumimoji="1" lang="ja-JP" altLang="en-US" sz="1200" dirty="0"/>
                    </a:p>
                  </a:txBody>
                  <a:tcPr/>
                </a:tc>
                <a:tc>
                  <a:txBody>
                    <a:bodyPr/>
                    <a:lstStyle/>
                    <a:p>
                      <a:r>
                        <a:rPr kumimoji="1" lang="ja-JP" altLang="en-US" sz="1200" dirty="0"/>
                        <a:t>ゆか</a:t>
                      </a:r>
                    </a:p>
                  </a:txBody>
                  <a:tcPr/>
                </a:tc>
                <a:tc>
                  <a:txBody>
                    <a:bodyPr/>
                    <a:lstStyle/>
                    <a:p>
                      <a:r>
                        <a:rPr kumimoji="1" lang="ja-JP" altLang="en-US" sz="1200" b="1" dirty="0"/>
                        <a:t>世田谷</a:t>
                      </a:r>
                    </a:p>
                  </a:txBody>
                  <a:tcPr/>
                </a:tc>
                <a:extLst>
                  <a:ext uri="{0D108BD9-81ED-4DB2-BD59-A6C34878D82A}">
                    <a16:rowId xmlns:a16="http://schemas.microsoft.com/office/drawing/2014/main" val="3889594002"/>
                  </a:ext>
                </a:extLst>
              </a:tr>
              <a:tr h="370840">
                <a:tc>
                  <a:txBody>
                    <a:bodyPr/>
                    <a:lstStyle/>
                    <a:p>
                      <a:r>
                        <a:rPr kumimoji="1" lang="ja-JP" altLang="en-US" sz="1200" dirty="0"/>
                        <a:t>・・・</a:t>
                      </a:r>
                    </a:p>
                  </a:txBody>
                  <a:tcPr/>
                </a:tc>
                <a:tc>
                  <a:txBody>
                    <a:bodyPr/>
                    <a:lstStyle/>
                    <a:p>
                      <a:endParaRPr kumimoji="1" lang="ja-JP" altLang="en-US" sz="1200" dirty="0"/>
                    </a:p>
                  </a:txBody>
                  <a:tcPr/>
                </a:tc>
                <a:tc>
                  <a:txBody>
                    <a:bodyPr/>
                    <a:lstStyle/>
                    <a:p>
                      <a:endParaRPr kumimoji="1" lang="ja-JP" altLang="en-US" sz="1200" b="1" dirty="0"/>
                    </a:p>
                  </a:txBody>
                  <a:tcPr/>
                </a:tc>
                <a:extLst>
                  <a:ext uri="{0D108BD9-81ED-4DB2-BD59-A6C34878D82A}">
                    <a16:rowId xmlns:a16="http://schemas.microsoft.com/office/drawing/2014/main" val="4144588307"/>
                  </a:ext>
                </a:extLst>
              </a:tr>
              <a:tr h="370840">
                <a:tc>
                  <a:txBody>
                    <a:bodyPr/>
                    <a:lstStyle/>
                    <a:p>
                      <a:r>
                        <a:rPr kumimoji="1" lang="en-US" altLang="ja-JP" sz="1200" dirty="0"/>
                        <a:t>1000</a:t>
                      </a:r>
                      <a:endParaRPr kumimoji="1" lang="ja-JP" altLang="en-US" sz="1200" dirty="0"/>
                    </a:p>
                  </a:txBody>
                  <a:tcPr/>
                </a:tc>
                <a:tc>
                  <a:txBody>
                    <a:bodyPr/>
                    <a:lstStyle/>
                    <a:p>
                      <a:r>
                        <a:rPr kumimoji="1" lang="ja-JP" altLang="en-US" sz="1200" dirty="0"/>
                        <a:t>ジェーン</a:t>
                      </a:r>
                    </a:p>
                  </a:txBody>
                  <a:tcPr/>
                </a:tc>
                <a:tc>
                  <a:txBody>
                    <a:bodyPr/>
                    <a:lstStyle/>
                    <a:p>
                      <a:r>
                        <a:rPr kumimoji="1" lang="ja-JP" altLang="en-US" sz="1200" b="1" dirty="0"/>
                        <a:t>カナダ</a:t>
                      </a:r>
                    </a:p>
                  </a:txBody>
                  <a:tcPr/>
                </a:tc>
                <a:extLst>
                  <a:ext uri="{0D108BD9-81ED-4DB2-BD59-A6C34878D82A}">
                    <a16:rowId xmlns:a16="http://schemas.microsoft.com/office/drawing/2014/main" val="2961385483"/>
                  </a:ext>
                </a:extLst>
              </a:tr>
            </a:tbl>
          </a:graphicData>
        </a:graphic>
      </p:graphicFrame>
      <p:sp>
        <p:nvSpPr>
          <p:cNvPr id="29" name="楕円 28">
            <a:extLst>
              <a:ext uri="{FF2B5EF4-FFF2-40B4-BE49-F238E27FC236}">
                <a16:creationId xmlns:a16="http://schemas.microsoft.com/office/drawing/2014/main" id="{04B216E6-A593-4BD4-58BB-85DF9F04F577}"/>
              </a:ext>
            </a:extLst>
          </p:cNvPr>
          <p:cNvSpPr/>
          <p:nvPr/>
        </p:nvSpPr>
        <p:spPr>
          <a:xfrm>
            <a:off x="6426200" y="3604335"/>
            <a:ext cx="1458000" cy="593728"/>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都道府県</a:t>
            </a:r>
          </a:p>
        </p:txBody>
      </p:sp>
      <p:graphicFrame>
        <p:nvGraphicFramePr>
          <p:cNvPr id="30" name="表 29">
            <a:extLst>
              <a:ext uri="{FF2B5EF4-FFF2-40B4-BE49-F238E27FC236}">
                <a16:creationId xmlns:a16="http://schemas.microsoft.com/office/drawing/2014/main" id="{0B9015B1-7A57-4351-D189-154866C7F392}"/>
              </a:ext>
            </a:extLst>
          </p:cNvPr>
          <p:cNvGraphicFramePr>
            <a:graphicFrameLocks noGrp="1"/>
          </p:cNvGraphicFramePr>
          <p:nvPr>
            <p:extLst>
              <p:ext uri="{D42A27DB-BD31-4B8C-83A1-F6EECF244321}">
                <p14:modId xmlns:p14="http://schemas.microsoft.com/office/powerpoint/2010/main" val="739464509"/>
              </p:ext>
            </p:extLst>
          </p:nvPr>
        </p:nvGraphicFramePr>
        <p:xfrm>
          <a:off x="6430597" y="4340935"/>
          <a:ext cx="2072378" cy="1854200"/>
        </p:xfrm>
        <a:graphic>
          <a:graphicData uri="http://schemas.openxmlformats.org/drawingml/2006/table">
            <a:tbl>
              <a:tblPr firstRow="1" bandRow="1">
                <a:tableStyleId>{5C22544A-7EE6-4342-B048-85BDC9FD1C3A}</a:tableStyleId>
              </a:tblPr>
              <a:tblGrid>
                <a:gridCol w="1036189">
                  <a:extLst>
                    <a:ext uri="{9D8B030D-6E8A-4147-A177-3AD203B41FA5}">
                      <a16:colId xmlns:a16="http://schemas.microsoft.com/office/drawing/2014/main" val="1999541375"/>
                    </a:ext>
                  </a:extLst>
                </a:gridCol>
                <a:gridCol w="1036189">
                  <a:extLst>
                    <a:ext uri="{9D8B030D-6E8A-4147-A177-3AD203B41FA5}">
                      <a16:colId xmlns:a16="http://schemas.microsoft.com/office/drawing/2014/main" val="3417578246"/>
                    </a:ext>
                  </a:extLst>
                </a:gridCol>
              </a:tblGrid>
              <a:tr h="370840">
                <a:tc>
                  <a:txBody>
                    <a:bodyPr/>
                    <a:lstStyle/>
                    <a:p>
                      <a:r>
                        <a:rPr kumimoji="1" lang="ja-JP" altLang="en-US" sz="1200" dirty="0"/>
                        <a:t>都道府県</a:t>
                      </a:r>
                      <a:r>
                        <a:rPr kumimoji="1" lang="en-US" altLang="ja-JP" sz="1200" dirty="0"/>
                        <a:t>ID</a:t>
                      </a:r>
                      <a:endParaRPr kumimoji="1" lang="ja-JP" altLang="en-US" sz="1200" dirty="0"/>
                    </a:p>
                  </a:txBody>
                  <a:tcPr/>
                </a:tc>
                <a:tc>
                  <a:txBody>
                    <a:bodyPr/>
                    <a:lstStyle/>
                    <a:p>
                      <a:r>
                        <a:rPr kumimoji="1" lang="ja-JP" altLang="en-US" sz="1200" dirty="0"/>
                        <a:t>都道府県</a:t>
                      </a:r>
                    </a:p>
                  </a:txBody>
                  <a:tcPr/>
                </a:tc>
                <a:extLst>
                  <a:ext uri="{0D108BD9-81ED-4DB2-BD59-A6C34878D82A}">
                    <a16:rowId xmlns:a16="http://schemas.microsoft.com/office/drawing/2014/main" val="1405846645"/>
                  </a:ext>
                </a:extLst>
              </a:tr>
              <a:tr h="370840">
                <a:tc>
                  <a:txBody>
                    <a:bodyPr/>
                    <a:lstStyle/>
                    <a:p>
                      <a:r>
                        <a:rPr kumimoji="1" lang="en-US" altLang="ja-JP" sz="1200" dirty="0"/>
                        <a:t>1</a:t>
                      </a:r>
                      <a:endParaRPr kumimoji="1" lang="ja-JP" altLang="en-US" sz="1200" dirty="0"/>
                    </a:p>
                  </a:txBody>
                  <a:tcPr/>
                </a:tc>
                <a:tc>
                  <a:txBody>
                    <a:bodyPr/>
                    <a:lstStyle/>
                    <a:p>
                      <a:r>
                        <a:rPr kumimoji="1" lang="ja-JP" altLang="en-US" sz="1200" dirty="0"/>
                        <a:t>北海道</a:t>
                      </a:r>
                    </a:p>
                  </a:txBody>
                  <a:tcPr/>
                </a:tc>
                <a:extLst>
                  <a:ext uri="{0D108BD9-81ED-4DB2-BD59-A6C34878D82A}">
                    <a16:rowId xmlns:a16="http://schemas.microsoft.com/office/drawing/2014/main" val="922876080"/>
                  </a:ext>
                </a:extLst>
              </a:tr>
              <a:tr h="370840">
                <a:tc>
                  <a:txBody>
                    <a:bodyPr/>
                    <a:lstStyle/>
                    <a:p>
                      <a:r>
                        <a:rPr kumimoji="1" lang="en-US" altLang="ja-JP" sz="1200" dirty="0"/>
                        <a:t>2</a:t>
                      </a:r>
                      <a:endParaRPr kumimoji="1" lang="ja-JP" altLang="en-US" sz="1200" dirty="0"/>
                    </a:p>
                  </a:txBody>
                  <a:tcPr/>
                </a:tc>
                <a:tc>
                  <a:txBody>
                    <a:bodyPr/>
                    <a:lstStyle/>
                    <a:p>
                      <a:r>
                        <a:rPr kumimoji="1" lang="ja-JP" altLang="en-US" sz="1200" dirty="0"/>
                        <a:t>青森</a:t>
                      </a:r>
                    </a:p>
                  </a:txBody>
                  <a:tcPr/>
                </a:tc>
                <a:extLst>
                  <a:ext uri="{0D108BD9-81ED-4DB2-BD59-A6C34878D82A}">
                    <a16:rowId xmlns:a16="http://schemas.microsoft.com/office/drawing/2014/main" val="3889594002"/>
                  </a:ext>
                </a:extLst>
              </a:tr>
              <a:tr h="370840">
                <a:tc>
                  <a:txBody>
                    <a:bodyPr/>
                    <a:lstStyle/>
                    <a:p>
                      <a:r>
                        <a:rPr kumimoji="1" lang="ja-JP" altLang="en-US" sz="1200" dirty="0"/>
                        <a:t>・・・</a:t>
                      </a:r>
                    </a:p>
                  </a:txBody>
                  <a:tcPr/>
                </a:tc>
                <a:tc>
                  <a:txBody>
                    <a:bodyPr/>
                    <a:lstStyle/>
                    <a:p>
                      <a:endParaRPr kumimoji="1" lang="ja-JP" altLang="en-US" sz="1200" dirty="0"/>
                    </a:p>
                  </a:txBody>
                  <a:tcPr/>
                </a:tc>
                <a:extLst>
                  <a:ext uri="{0D108BD9-81ED-4DB2-BD59-A6C34878D82A}">
                    <a16:rowId xmlns:a16="http://schemas.microsoft.com/office/drawing/2014/main" val="705834097"/>
                  </a:ext>
                </a:extLst>
              </a:tr>
              <a:tr h="370840">
                <a:tc>
                  <a:txBody>
                    <a:bodyPr/>
                    <a:lstStyle/>
                    <a:p>
                      <a:r>
                        <a:rPr kumimoji="1" lang="en-US" altLang="ja-JP" sz="1200" dirty="0"/>
                        <a:t>47</a:t>
                      </a:r>
                      <a:endParaRPr kumimoji="1" lang="ja-JP" altLang="en-US" sz="1200" dirty="0"/>
                    </a:p>
                  </a:txBody>
                  <a:tcPr/>
                </a:tc>
                <a:tc>
                  <a:txBody>
                    <a:bodyPr/>
                    <a:lstStyle/>
                    <a:p>
                      <a:r>
                        <a:rPr kumimoji="1" lang="ja-JP" altLang="en-US" sz="1200" dirty="0"/>
                        <a:t>沖縄</a:t>
                      </a:r>
                    </a:p>
                  </a:txBody>
                  <a:tcPr/>
                </a:tc>
                <a:extLst>
                  <a:ext uri="{0D108BD9-81ED-4DB2-BD59-A6C34878D82A}">
                    <a16:rowId xmlns:a16="http://schemas.microsoft.com/office/drawing/2014/main" val="2677571624"/>
                  </a:ext>
                </a:extLst>
              </a:tr>
            </a:tbl>
          </a:graphicData>
        </a:graphic>
      </p:graphicFrame>
      <p:sp>
        <p:nvSpPr>
          <p:cNvPr id="10" name="正方形/長方形 9">
            <a:extLst>
              <a:ext uri="{FF2B5EF4-FFF2-40B4-BE49-F238E27FC236}">
                <a16:creationId xmlns:a16="http://schemas.microsoft.com/office/drawing/2014/main" id="{F6AD025B-06C1-1593-ADF7-847EEF1AE0A8}"/>
              </a:ext>
            </a:extLst>
          </p:cNvPr>
          <p:cNvSpPr/>
          <p:nvPr/>
        </p:nvSpPr>
        <p:spPr>
          <a:xfrm>
            <a:off x="2369389" y="3717091"/>
            <a:ext cx="3421809" cy="23272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en-US" altLang="ja-JP" sz="1400" dirty="0">
                <a:solidFill>
                  <a:schemeClr val="tx1">
                    <a:lumMod val="75000"/>
                  </a:schemeClr>
                </a:solidFill>
              </a:rPr>
              <a:t>p10</a:t>
            </a:r>
            <a:r>
              <a:rPr lang="ja-JP" altLang="en-US" sz="1400" dirty="0">
                <a:solidFill>
                  <a:schemeClr val="tx1">
                    <a:lumMod val="75000"/>
                  </a:schemeClr>
                </a:solidFill>
              </a:rPr>
              <a:t>の例では</a:t>
            </a:r>
            <a:r>
              <a:rPr lang="en-US" altLang="ja-JP" sz="1400" dirty="0">
                <a:solidFill>
                  <a:schemeClr val="tx1">
                    <a:lumMod val="75000"/>
                  </a:schemeClr>
                </a:solidFill>
              </a:rPr>
              <a:t>1</a:t>
            </a:r>
            <a:r>
              <a:rPr lang="ja-JP" altLang="en-US" sz="1400" dirty="0">
                <a:solidFill>
                  <a:schemeClr val="tx1">
                    <a:lumMod val="75000"/>
                  </a:schemeClr>
                </a:solidFill>
              </a:rPr>
              <a:t>行を取り出すものなので</a:t>
            </a:r>
            <a:br>
              <a:rPr lang="en-US" altLang="ja-JP" sz="1400" dirty="0">
                <a:solidFill>
                  <a:schemeClr val="tx1">
                    <a:lumMod val="75000"/>
                  </a:schemeClr>
                </a:solidFill>
              </a:rPr>
            </a:br>
            <a:r>
              <a:rPr lang="ja-JP" altLang="en-US" sz="1400" dirty="0">
                <a:solidFill>
                  <a:schemeClr val="tx1">
                    <a:lumMod val="75000"/>
                  </a:schemeClr>
                </a:solidFill>
              </a:rPr>
              <a:t>「</a:t>
            </a:r>
            <a:r>
              <a:rPr lang="en-US" altLang="ja-JP" sz="1400" dirty="0">
                <a:solidFill>
                  <a:schemeClr val="tx1">
                    <a:lumMod val="75000"/>
                  </a:schemeClr>
                </a:solidFill>
              </a:rPr>
              <a:t>1</a:t>
            </a:r>
            <a:r>
              <a:rPr lang="ja-JP" altLang="en-US" sz="1400" dirty="0">
                <a:solidFill>
                  <a:schemeClr val="tx1">
                    <a:lumMod val="75000"/>
                  </a:schemeClr>
                </a:solidFill>
              </a:rPr>
              <a:t>行</a:t>
            </a:r>
            <a:r>
              <a:rPr lang="en-US" altLang="ja-JP" sz="1400" dirty="0">
                <a:solidFill>
                  <a:schemeClr val="tx1">
                    <a:lumMod val="75000"/>
                  </a:schemeClr>
                </a:solidFill>
              </a:rPr>
              <a:t>×3</a:t>
            </a:r>
            <a:r>
              <a:rPr lang="ja-JP" altLang="en-US" sz="1400" dirty="0">
                <a:solidFill>
                  <a:schemeClr val="tx1">
                    <a:lumMod val="75000"/>
                  </a:schemeClr>
                </a:solidFill>
              </a:rPr>
              <a:t>ブロック」でコストは</a:t>
            </a:r>
            <a:r>
              <a:rPr lang="en-US" altLang="ja-JP" sz="1400" dirty="0">
                <a:solidFill>
                  <a:schemeClr val="tx1">
                    <a:lumMod val="75000"/>
                  </a:schemeClr>
                </a:solidFill>
              </a:rPr>
              <a:t>3</a:t>
            </a:r>
          </a:p>
          <a:p>
            <a:pPr marL="285750" indent="-285750">
              <a:buFont typeface="Arial" panose="020B0604020202020204" pitchFamily="34" charset="0"/>
              <a:buChar char="•"/>
            </a:pPr>
            <a:r>
              <a:rPr lang="en-US" altLang="ja-JP" sz="1400" dirty="0">
                <a:solidFill>
                  <a:schemeClr val="tx1">
                    <a:lumMod val="75000"/>
                  </a:schemeClr>
                </a:solidFill>
              </a:rPr>
              <a:t>100</a:t>
            </a:r>
            <a:r>
              <a:rPr lang="ja-JP" altLang="en-US" sz="1400" dirty="0">
                <a:solidFill>
                  <a:schemeClr val="tx1">
                    <a:lumMod val="75000"/>
                  </a:schemeClr>
                </a:solidFill>
              </a:rPr>
              <a:t>行取り出すのであれば、「</a:t>
            </a:r>
            <a:r>
              <a:rPr lang="en-US" altLang="ja-JP" sz="1400" dirty="0">
                <a:solidFill>
                  <a:schemeClr val="tx1">
                    <a:lumMod val="75000"/>
                  </a:schemeClr>
                </a:solidFill>
              </a:rPr>
              <a:t>100</a:t>
            </a:r>
            <a:r>
              <a:rPr lang="ja-JP" altLang="en-US" sz="1400" dirty="0">
                <a:solidFill>
                  <a:schemeClr val="tx1">
                    <a:lumMod val="75000"/>
                  </a:schemeClr>
                </a:solidFill>
              </a:rPr>
              <a:t>行</a:t>
            </a:r>
            <a:r>
              <a:rPr lang="en-US" altLang="ja-JP" sz="1400" dirty="0">
                <a:solidFill>
                  <a:schemeClr val="tx1">
                    <a:lumMod val="75000"/>
                  </a:schemeClr>
                </a:solidFill>
              </a:rPr>
              <a:t>×3</a:t>
            </a:r>
            <a:r>
              <a:rPr lang="ja-JP" altLang="en-US" sz="1400" dirty="0">
                <a:solidFill>
                  <a:schemeClr val="tx1">
                    <a:lumMod val="75000"/>
                  </a:schemeClr>
                </a:solidFill>
              </a:rPr>
              <a:t>ブロック」でコストは</a:t>
            </a:r>
            <a:r>
              <a:rPr lang="en-US" altLang="ja-JP" sz="1400" dirty="0">
                <a:solidFill>
                  <a:schemeClr val="tx1">
                    <a:lumMod val="75000"/>
                  </a:schemeClr>
                </a:solidFill>
              </a:rPr>
              <a:t>300</a:t>
            </a:r>
            <a:r>
              <a:rPr lang="ja-JP" altLang="en-US" sz="1400" dirty="0">
                <a:solidFill>
                  <a:schemeClr val="tx1">
                    <a:lumMod val="75000"/>
                  </a:schemeClr>
                </a:solidFill>
              </a:rPr>
              <a:t>になる</a:t>
            </a:r>
            <a:endParaRPr lang="en-US" altLang="ja-JP" sz="1400" dirty="0">
              <a:solidFill>
                <a:schemeClr val="tx1">
                  <a:lumMod val="75000"/>
                </a:schemeClr>
              </a:solidFill>
            </a:endParaRPr>
          </a:p>
          <a:p>
            <a:pPr marL="285750" indent="-285750">
              <a:buFont typeface="Arial" panose="020B0604020202020204" pitchFamily="34" charset="0"/>
              <a:buChar char="•"/>
            </a:pPr>
            <a:r>
              <a:rPr lang="ja-JP" altLang="en-US" sz="1400" b="1" dirty="0">
                <a:solidFill>
                  <a:schemeClr val="tx1">
                    <a:lumMod val="75000"/>
                  </a:schemeClr>
                </a:solidFill>
              </a:rPr>
              <a:t>フルスキャンをするのであれば「テーブルの行数</a:t>
            </a:r>
            <a:r>
              <a:rPr lang="en-US" altLang="ja-JP" sz="1400" b="1" dirty="0">
                <a:solidFill>
                  <a:schemeClr val="tx1">
                    <a:lumMod val="75000"/>
                  </a:schemeClr>
                </a:solidFill>
              </a:rPr>
              <a:t>×1</a:t>
            </a:r>
            <a:r>
              <a:rPr lang="ja-JP" altLang="en-US" sz="1400" b="1" dirty="0">
                <a:solidFill>
                  <a:schemeClr val="tx1">
                    <a:lumMod val="75000"/>
                  </a:schemeClr>
                </a:solidFill>
              </a:rPr>
              <a:t>ブロック」なのでコストは</a:t>
            </a:r>
            <a:r>
              <a:rPr lang="en-US" altLang="ja-JP" sz="1400" b="1" dirty="0">
                <a:solidFill>
                  <a:schemeClr val="tx1">
                    <a:lumMod val="75000"/>
                  </a:schemeClr>
                </a:solidFill>
              </a:rPr>
              <a:t>1000</a:t>
            </a:r>
          </a:p>
          <a:p>
            <a:pPr marL="285750" indent="-285750">
              <a:buFont typeface="Arial" panose="020B0604020202020204" pitchFamily="34" charset="0"/>
              <a:buChar char="•"/>
            </a:pPr>
            <a:r>
              <a:rPr lang="en-US" altLang="ja-JP" sz="1400" b="1" dirty="0">
                <a:solidFill>
                  <a:schemeClr val="tx1">
                    <a:lumMod val="75000"/>
                  </a:schemeClr>
                </a:solidFill>
              </a:rPr>
              <a:t>Index</a:t>
            </a:r>
            <a:r>
              <a:rPr lang="ja-JP" altLang="en-US" sz="1400" b="1" dirty="0">
                <a:solidFill>
                  <a:schemeClr val="tx1">
                    <a:lumMod val="75000"/>
                  </a:schemeClr>
                </a:solidFill>
              </a:rPr>
              <a:t>が使うとしても、</a:t>
            </a:r>
            <a:r>
              <a:rPr lang="en-US" altLang="ja-JP" sz="1400" b="1" dirty="0">
                <a:solidFill>
                  <a:schemeClr val="tx1">
                    <a:lumMod val="75000"/>
                  </a:schemeClr>
                </a:solidFill>
              </a:rPr>
              <a:t>700</a:t>
            </a:r>
            <a:r>
              <a:rPr lang="ja-JP" altLang="en-US" sz="1400" b="1" dirty="0">
                <a:solidFill>
                  <a:schemeClr val="tx1">
                    <a:lumMod val="75000"/>
                  </a:schemeClr>
                </a:solidFill>
              </a:rPr>
              <a:t>行取り出したい場合は、「</a:t>
            </a:r>
            <a:r>
              <a:rPr lang="en-US" altLang="ja-JP" sz="1400" b="1" dirty="0">
                <a:solidFill>
                  <a:schemeClr val="tx1">
                    <a:lumMod val="75000"/>
                  </a:schemeClr>
                </a:solidFill>
              </a:rPr>
              <a:t>700×3</a:t>
            </a:r>
            <a:r>
              <a:rPr lang="ja-JP" altLang="en-US" sz="1400" b="1" dirty="0">
                <a:solidFill>
                  <a:schemeClr val="tx1">
                    <a:lumMod val="75000"/>
                  </a:schemeClr>
                </a:solidFill>
              </a:rPr>
              <a:t>ブロック」でコストが</a:t>
            </a:r>
            <a:r>
              <a:rPr lang="en-US" altLang="ja-JP" sz="1400" b="1" dirty="0">
                <a:solidFill>
                  <a:schemeClr val="tx1">
                    <a:lumMod val="75000"/>
                  </a:schemeClr>
                </a:solidFill>
              </a:rPr>
              <a:t>2100</a:t>
            </a:r>
            <a:r>
              <a:rPr lang="ja-JP" altLang="en-US" sz="1400" b="1" dirty="0">
                <a:solidFill>
                  <a:schemeClr val="tx1">
                    <a:lumMod val="75000"/>
                  </a:schemeClr>
                </a:solidFill>
              </a:rPr>
              <a:t>になってしまう</a:t>
            </a:r>
            <a:endParaRPr lang="en-US" altLang="ja-JP" sz="1400" b="1" dirty="0">
              <a:solidFill>
                <a:schemeClr val="tx1">
                  <a:lumMod val="75000"/>
                </a:schemeClr>
              </a:solidFill>
            </a:endParaRPr>
          </a:p>
          <a:p>
            <a:pPr marL="285750" indent="-285750">
              <a:buFont typeface="Arial" panose="020B0604020202020204" pitchFamily="34" charset="0"/>
              <a:buChar char="•"/>
            </a:pPr>
            <a:endParaRPr lang="en-US" altLang="ja-JP" sz="1400" dirty="0">
              <a:solidFill>
                <a:schemeClr val="tx1">
                  <a:lumMod val="75000"/>
                </a:schemeClr>
              </a:solidFill>
            </a:endParaRPr>
          </a:p>
        </p:txBody>
      </p:sp>
    </p:spTree>
    <p:extLst>
      <p:ext uri="{BB962C8B-B14F-4D97-AF65-F5344CB8AC3E}">
        <p14:creationId xmlns:p14="http://schemas.microsoft.com/office/powerpoint/2010/main" val="561509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7D39D-E3F1-8806-5EE8-F2B293FD0805}"/>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1C09D395-95ED-6F64-5070-AF5238299744}"/>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0728B812-7E10-B568-0223-B4417255584B}"/>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条件にその列を「使っている」か注意する</a:t>
            </a:r>
            <a:endParaRPr lang="en-US" altLang="ja-JP" sz="2800" dirty="0"/>
          </a:p>
        </p:txBody>
      </p:sp>
      <p:sp>
        <p:nvSpPr>
          <p:cNvPr id="4" name="タイトル プレースホルダー 1">
            <a:extLst>
              <a:ext uri="{FF2B5EF4-FFF2-40B4-BE49-F238E27FC236}">
                <a16:creationId xmlns:a16="http://schemas.microsoft.com/office/drawing/2014/main" id="{B46F760E-E670-3474-CB35-5E4D8BDF7FC5}"/>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Index</a:t>
            </a:r>
            <a:r>
              <a:rPr lang="ja-JP" altLang="en-US" dirty="0"/>
              <a:t>の仕組み</a:t>
            </a:r>
            <a:endParaRPr lang="en-US" altLang="ja-JP" dirty="0"/>
          </a:p>
        </p:txBody>
      </p:sp>
      <p:sp>
        <p:nvSpPr>
          <p:cNvPr id="5" name="タイトル プレースホルダー 1">
            <a:extLst>
              <a:ext uri="{FF2B5EF4-FFF2-40B4-BE49-F238E27FC236}">
                <a16:creationId xmlns:a16="http://schemas.microsoft.com/office/drawing/2014/main" id="{EDCED66F-55E0-00F7-03CA-7B8DCC284F9E}"/>
              </a:ext>
            </a:extLst>
          </p:cNvPr>
          <p:cNvSpPr txBox="1">
            <a:spLocks/>
          </p:cNvSpPr>
          <p:nvPr/>
        </p:nvSpPr>
        <p:spPr>
          <a:xfrm>
            <a:off x="342900" y="2730501"/>
            <a:ext cx="5448300" cy="87383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1800" dirty="0"/>
              <a:t>Index</a:t>
            </a:r>
            <a:r>
              <a:rPr lang="ja-JP" altLang="en-US" sz="1800" dirty="0"/>
              <a:t>に使用した列を使うことは当たり前に思えるが、直感的には使っていると思い込んでしまうパターンもある</a:t>
            </a:r>
            <a:endParaRPr lang="en-US" altLang="ja-JP" sz="1800" dirty="0"/>
          </a:p>
        </p:txBody>
      </p:sp>
      <p:sp>
        <p:nvSpPr>
          <p:cNvPr id="7" name="正方形/長方形 6">
            <a:extLst>
              <a:ext uri="{FF2B5EF4-FFF2-40B4-BE49-F238E27FC236}">
                <a16:creationId xmlns:a16="http://schemas.microsoft.com/office/drawing/2014/main" id="{F1276AC5-D52F-0747-E16F-F60AF9260A28}"/>
              </a:ext>
            </a:extLst>
          </p:cNvPr>
          <p:cNvSpPr/>
          <p:nvPr/>
        </p:nvSpPr>
        <p:spPr>
          <a:xfrm>
            <a:off x="3429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bg1"/>
                </a:solidFill>
              </a:rPr>
              <a:t>Index</a:t>
            </a:r>
            <a:r>
              <a:rPr lang="ja-JP" altLang="en-US" sz="2400" b="1" dirty="0">
                <a:solidFill>
                  <a:schemeClr val="bg1"/>
                </a:solidFill>
              </a:rPr>
              <a:t>が利用されないクエリ</a:t>
            </a:r>
            <a:endParaRPr kumimoji="1" lang="ja-JP" altLang="en-US" sz="2400" b="1" dirty="0">
              <a:solidFill>
                <a:schemeClr val="bg1"/>
              </a:solidFill>
            </a:endParaRPr>
          </a:p>
        </p:txBody>
      </p:sp>
      <p:sp>
        <p:nvSpPr>
          <p:cNvPr id="8" name="正方形/長方形 7">
            <a:extLst>
              <a:ext uri="{FF2B5EF4-FFF2-40B4-BE49-F238E27FC236}">
                <a16:creationId xmlns:a16="http://schemas.microsoft.com/office/drawing/2014/main" id="{C840A114-46AE-9257-0754-00AF28770E8B}"/>
              </a:ext>
            </a:extLst>
          </p:cNvPr>
          <p:cNvSpPr/>
          <p:nvPr/>
        </p:nvSpPr>
        <p:spPr>
          <a:xfrm>
            <a:off x="64135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bg1"/>
                </a:solidFill>
              </a:rPr>
              <a:t>Index</a:t>
            </a:r>
            <a:r>
              <a:rPr kumimoji="1" lang="ja-JP" altLang="en-US" sz="2400" b="1" dirty="0">
                <a:solidFill>
                  <a:schemeClr val="bg1"/>
                </a:solidFill>
              </a:rPr>
              <a:t>が利用されるクエリ</a:t>
            </a:r>
          </a:p>
        </p:txBody>
      </p:sp>
      <p:cxnSp>
        <p:nvCxnSpPr>
          <p:cNvPr id="11" name="直線コネクタ 10">
            <a:extLst>
              <a:ext uri="{FF2B5EF4-FFF2-40B4-BE49-F238E27FC236}">
                <a16:creationId xmlns:a16="http://schemas.microsoft.com/office/drawing/2014/main" id="{3E322B5F-EE2F-2793-BBF2-A190910A4092}"/>
              </a:ext>
            </a:extLst>
          </p:cNvPr>
          <p:cNvCxnSpPr>
            <a:cxnSpLocks/>
          </p:cNvCxnSpPr>
          <p:nvPr/>
        </p:nvCxnSpPr>
        <p:spPr>
          <a:xfrm>
            <a:off x="6096000" y="2184400"/>
            <a:ext cx="0" cy="4421026"/>
          </a:xfrm>
          <a:prstGeom prst="line">
            <a:avLst/>
          </a:prstGeom>
          <a:ln>
            <a:solidFill>
              <a:schemeClr val="tx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6" name="タイトル プレースホルダー 1">
            <a:extLst>
              <a:ext uri="{FF2B5EF4-FFF2-40B4-BE49-F238E27FC236}">
                <a16:creationId xmlns:a16="http://schemas.microsoft.com/office/drawing/2014/main" id="{DF5575F5-2F40-3383-45BA-3F5F49B5BFF7}"/>
              </a:ext>
            </a:extLst>
          </p:cNvPr>
          <p:cNvSpPr txBox="1">
            <a:spLocks/>
          </p:cNvSpPr>
          <p:nvPr/>
        </p:nvSpPr>
        <p:spPr>
          <a:xfrm>
            <a:off x="6413500" y="2730501"/>
            <a:ext cx="5448300" cy="87383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1800" dirty="0"/>
              <a:t>Index</a:t>
            </a:r>
            <a:r>
              <a:rPr lang="ja-JP" altLang="en-US" sz="1800" dirty="0"/>
              <a:t>を設定した列に算術を使わないようにクエリを工夫したり、式</a:t>
            </a:r>
            <a:r>
              <a:rPr lang="en-US" altLang="ja-JP" sz="1800" dirty="0"/>
              <a:t>Index</a:t>
            </a:r>
            <a:r>
              <a:rPr lang="ja-JP" altLang="en-US" sz="1800" dirty="0"/>
              <a:t>を設定する</a:t>
            </a:r>
            <a:endParaRPr lang="en-US" altLang="ja-JP" sz="1800" dirty="0"/>
          </a:p>
        </p:txBody>
      </p:sp>
      <p:pic>
        <p:nvPicPr>
          <p:cNvPr id="14" name="図 13" descr="背景パターン が含まれている画像&#10;&#10;AI 生成コンテンツは誤りを含む可能性があります。">
            <a:extLst>
              <a:ext uri="{FF2B5EF4-FFF2-40B4-BE49-F238E27FC236}">
                <a16:creationId xmlns:a16="http://schemas.microsoft.com/office/drawing/2014/main" id="{72C1874E-79C5-3B03-E409-80CAF85A28DB}"/>
              </a:ext>
            </a:extLst>
          </p:cNvPr>
          <p:cNvPicPr>
            <a:picLocks noChangeAspect="1"/>
          </p:cNvPicPr>
          <p:nvPr/>
        </p:nvPicPr>
        <p:blipFill>
          <a:blip r:embed="rId2"/>
          <a:stretch>
            <a:fillRect/>
          </a:stretch>
        </p:blipFill>
        <p:spPr>
          <a:xfrm>
            <a:off x="319641" y="3465513"/>
            <a:ext cx="4086796" cy="1271765"/>
          </a:xfrm>
          <a:prstGeom prst="rect">
            <a:avLst/>
          </a:prstGeom>
        </p:spPr>
      </p:pic>
      <p:sp>
        <p:nvSpPr>
          <p:cNvPr id="15" name="正方形/長方形 14">
            <a:extLst>
              <a:ext uri="{FF2B5EF4-FFF2-40B4-BE49-F238E27FC236}">
                <a16:creationId xmlns:a16="http://schemas.microsoft.com/office/drawing/2014/main" id="{2E8AEFD2-DD27-97B5-2F7B-8BEEE6C57691}"/>
              </a:ext>
            </a:extLst>
          </p:cNvPr>
          <p:cNvSpPr/>
          <p:nvPr/>
        </p:nvSpPr>
        <p:spPr>
          <a:xfrm>
            <a:off x="327319" y="4396075"/>
            <a:ext cx="813324" cy="166498"/>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descr="テキスト&#10;&#10;AI 生成コンテンツは誤りを含む可能性があります。">
            <a:extLst>
              <a:ext uri="{FF2B5EF4-FFF2-40B4-BE49-F238E27FC236}">
                <a16:creationId xmlns:a16="http://schemas.microsoft.com/office/drawing/2014/main" id="{459A2C55-6742-90D2-9FEA-98E5AFC2F69D}"/>
              </a:ext>
            </a:extLst>
          </p:cNvPr>
          <p:cNvPicPr>
            <a:picLocks noChangeAspect="1"/>
          </p:cNvPicPr>
          <p:nvPr/>
        </p:nvPicPr>
        <p:blipFill>
          <a:blip r:embed="rId3"/>
          <a:stretch>
            <a:fillRect/>
          </a:stretch>
        </p:blipFill>
        <p:spPr>
          <a:xfrm>
            <a:off x="355600" y="5111896"/>
            <a:ext cx="3788599" cy="1276055"/>
          </a:xfrm>
          <a:prstGeom prst="rect">
            <a:avLst/>
          </a:prstGeom>
        </p:spPr>
      </p:pic>
      <p:sp>
        <p:nvSpPr>
          <p:cNvPr id="10" name="正方形/長方形 9">
            <a:extLst>
              <a:ext uri="{FF2B5EF4-FFF2-40B4-BE49-F238E27FC236}">
                <a16:creationId xmlns:a16="http://schemas.microsoft.com/office/drawing/2014/main" id="{4F7F44D7-7E6C-6E24-36F5-865AC7460452}"/>
              </a:ext>
            </a:extLst>
          </p:cNvPr>
          <p:cNvSpPr/>
          <p:nvPr/>
        </p:nvSpPr>
        <p:spPr>
          <a:xfrm>
            <a:off x="2369389" y="3717091"/>
            <a:ext cx="3421809" cy="203283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ja-JP" altLang="en-US" sz="1400" dirty="0">
                <a:solidFill>
                  <a:schemeClr val="tx1">
                    <a:lumMod val="75000"/>
                  </a:schemeClr>
                </a:solidFill>
              </a:rPr>
              <a:t>この列では、</a:t>
            </a:r>
            <a:r>
              <a:rPr lang="en-US" altLang="ja-JP" sz="1400" dirty="0">
                <a:solidFill>
                  <a:schemeClr val="tx1">
                    <a:lumMod val="75000"/>
                  </a:schemeClr>
                </a:solidFill>
              </a:rPr>
              <a:t>Index</a:t>
            </a:r>
            <a:r>
              <a:rPr lang="ja-JP" altLang="en-US" sz="1400" dirty="0">
                <a:solidFill>
                  <a:schemeClr val="tx1">
                    <a:lumMod val="75000"/>
                  </a:schemeClr>
                </a:solidFill>
              </a:rPr>
              <a:t>を</a:t>
            </a:r>
            <a:r>
              <a:rPr lang="en-US" altLang="ja-JP" sz="1400" dirty="0">
                <a:solidFill>
                  <a:schemeClr val="tx1">
                    <a:lumMod val="75000"/>
                  </a:schemeClr>
                </a:solidFill>
              </a:rPr>
              <a:t>age</a:t>
            </a:r>
            <a:r>
              <a:rPr lang="ja-JP" altLang="en-US" sz="1400" dirty="0">
                <a:solidFill>
                  <a:schemeClr val="tx1">
                    <a:lumMod val="75000"/>
                  </a:schemeClr>
                </a:solidFill>
              </a:rPr>
              <a:t>列に対して設定している場合でも</a:t>
            </a:r>
            <a:r>
              <a:rPr lang="en-US" altLang="ja-JP" sz="1400" dirty="0">
                <a:solidFill>
                  <a:schemeClr val="tx1">
                    <a:lumMod val="75000"/>
                  </a:schemeClr>
                </a:solidFill>
              </a:rPr>
              <a:t>Index</a:t>
            </a:r>
            <a:r>
              <a:rPr lang="ja-JP" altLang="en-US" sz="1400" dirty="0">
                <a:solidFill>
                  <a:schemeClr val="tx1">
                    <a:lumMod val="75000"/>
                  </a:schemeClr>
                </a:solidFill>
              </a:rPr>
              <a:t>は使われない</a:t>
            </a:r>
            <a:endParaRPr lang="en-US" altLang="ja-JP" sz="1400" dirty="0">
              <a:solidFill>
                <a:schemeClr val="tx1">
                  <a:lumMod val="75000"/>
                </a:schemeClr>
              </a:solidFill>
            </a:endParaRPr>
          </a:p>
          <a:p>
            <a:pPr marL="285750" indent="-285750">
              <a:buFont typeface="Arial" panose="020B0604020202020204" pitchFamily="34" charset="0"/>
              <a:buChar char="•"/>
            </a:pPr>
            <a:r>
              <a:rPr lang="ja-JP" altLang="en-US" sz="1400" dirty="0">
                <a:solidFill>
                  <a:schemeClr val="tx1">
                    <a:lumMod val="75000"/>
                  </a:schemeClr>
                </a:solidFill>
              </a:rPr>
              <a:t>検索の対象は</a:t>
            </a:r>
            <a:r>
              <a:rPr lang="ja-JP" altLang="en-US" sz="1400" b="1" dirty="0">
                <a:solidFill>
                  <a:schemeClr val="tx1">
                    <a:lumMod val="75000"/>
                  </a:schemeClr>
                </a:solidFill>
              </a:rPr>
              <a:t>「</a:t>
            </a:r>
            <a:r>
              <a:rPr lang="en-US" altLang="ja-JP" sz="1400" b="1" dirty="0">
                <a:solidFill>
                  <a:schemeClr val="tx1">
                    <a:lumMod val="75000"/>
                  </a:schemeClr>
                </a:solidFill>
              </a:rPr>
              <a:t>age * 10</a:t>
            </a:r>
            <a:r>
              <a:rPr lang="ja-JP" altLang="en-US" sz="1400" b="1" dirty="0">
                <a:solidFill>
                  <a:schemeClr val="tx1">
                    <a:lumMod val="75000"/>
                  </a:schemeClr>
                </a:solidFill>
              </a:rPr>
              <a:t>」の検索結果</a:t>
            </a:r>
            <a:r>
              <a:rPr lang="ja-JP" altLang="en-US" sz="1400" dirty="0">
                <a:solidFill>
                  <a:schemeClr val="tx1">
                    <a:lumMod val="75000"/>
                  </a:schemeClr>
                </a:solidFill>
              </a:rPr>
              <a:t>となるため、すべての行に対して計算・比較する必要が出てくるため</a:t>
            </a:r>
            <a:endParaRPr lang="en-US" altLang="ja-JP" sz="1400" dirty="0">
              <a:solidFill>
                <a:schemeClr val="tx1">
                  <a:lumMod val="75000"/>
                </a:schemeClr>
              </a:solidFill>
            </a:endParaRPr>
          </a:p>
          <a:p>
            <a:pPr marL="285750" indent="-285750">
              <a:buFont typeface="Arial" panose="020B0604020202020204" pitchFamily="34" charset="0"/>
              <a:buChar char="•"/>
            </a:pPr>
            <a:r>
              <a:rPr lang="ja-JP" altLang="en-US" sz="1400" b="1" dirty="0">
                <a:solidFill>
                  <a:schemeClr val="tx1">
                    <a:lumMod val="75000"/>
                  </a:schemeClr>
                </a:solidFill>
              </a:rPr>
              <a:t>対象の列を関数の引数にしている場合も</a:t>
            </a:r>
            <a:r>
              <a:rPr lang="ja-JP" altLang="en-US" sz="1400" dirty="0">
                <a:solidFill>
                  <a:schemeClr val="tx1">
                    <a:lumMod val="75000"/>
                  </a:schemeClr>
                </a:solidFill>
              </a:rPr>
              <a:t>同様に、</a:t>
            </a:r>
            <a:r>
              <a:rPr lang="en-US" altLang="ja-JP" sz="1400" dirty="0">
                <a:solidFill>
                  <a:schemeClr val="tx1">
                    <a:lumMod val="75000"/>
                  </a:schemeClr>
                </a:solidFill>
              </a:rPr>
              <a:t>Index</a:t>
            </a:r>
            <a:r>
              <a:rPr lang="ja-JP" altLang="en-US" sz="1400" dirty="0">
                <a:solidFill>
                  <a:schemeClr val="tx1">
                    <a:lumMod val="75000"/>
                  </a:schemeClr>
                </a:solidFill>
              </a:rPr>
              <a:t>は関数の結果を持っていないので</a:t>
            </a:r>
            <a:r>
              <a:rPr lang="en-US" altLang="ja-JP" sz="1400" dirty="0">
                <a:solidFill>
                  <a:schemeClr val="tx1">
                    <a:lumMod val="75000"/>
                  </a:schemeClr>
                </a:solidFill>
              </a:rPr>
              <a:t>Index</a:t>
            </a:r>
            <a:r>
              <a:rPr lang="ja-JP" altLang="en-US" sz="1400" dirty="0">
                <a:solidFill>
                  <a:schemeClr val="tx1">
                    <a:lumMod val="75000"/>
                  </a:schemeClr>
                </a:solidFill>
              </a:rPr>
              <a:t>は使用されない</a:t>
            </a:r>
            <a:endParaRPr lang="en-US" altLang="ja-JP" sz="1400" b="1" dirty="0">
              <a:solidFill>
                <a:schemeClr val="tx1">
                  <a:lumMod val="75000"/>
                </a:schemeClr>
              </a:solidFill>
            </a:endParaRPr>
          </a:p>
        </p:txBody>
      </p:sp>
      <p:sp>
        <p:nvSpPr>
          <p:cNvPr id="18" name="正方形/長方形 17">
            <a:extLst>
              <a:ext uri="{FF2B5EF4-FFF2-40B4-BE49-F238E27FC236}">
                <a16:creationId xmlns:a16="http://schemas.microsoft.com/office/drawing/2014/main" id="{E2286E92-AF2B-F53C-63CD-331DC34B4CAE}"/>
              </a:ext>
            </a:extLst>
          </p:cNvPr>
          <p:cNvSpPr/>
          <p:nvPr/>
        </p:nvSpPr>
        <p:spPr>
          <a:xfrm>
            <a:off x="423158" y="6000355"/>
            <a:ext cx="2065518" cy="208535"/>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図 19" descr="背景パターン が含まれている画像&#10;&#10;AI 生成コンテンツは誤りを含む可能性があります。">
            <a:extLst>
              <a:ext uri="{FF2B5EF4-FFF2-40B4-BE49-F238E27FC236}">
                <a16:creationId xmlns:a16="http://schemas.microsoft.com/office/drawing/2014/main" id="{169D1C5A-3103-7FC6-7842-DE841572046E}"/>
              </a:ext>
            </a:extLst>
          </p:cNvPr>
          <p:cNvPicPr>
            <a:picLocks noChangeAspect="1"/>
          </p:cNvPicPr>
          <p:nvPr/>
        </p:nvPicPr>
        <p:blipFill>
          <a:blip r:embed="rId4"/>
          <a:stretch>
            <a:fillRect/>
          </a:stretch>
        </p:blipFill>
        <p:spPr>
          <a:xfrm>
            <a:off x="6479813" y="3465513"/>
            <a:ext cx="3135978" cy="1115109"/>
          </a:xfrm>
          <a:prstGeom prst="rect">
            <a:avLst/>
          </a:prstGeom>
        </p:spPr>
      </p:pic>
      <p:sp>
        <p:nvSpPr>
          <p:cNvPr id="21" name="正方形/長方形 20">
            <a:extLst>
              <a:ext uri="{FF2B5EF4-FFF2-40B4-BE49-F238E27FC236}">
                <a16:creationId xmlns:a16="http://schemas.microsoft.com/office/drawing/2014/main" id="{53854FD5-825F-B3BC-7419-F5399388FF49}"/>
              </a:ext>
            </a:extLst>
          </p:cNvPr>
          <p:cNvSpPr/>
          <p:nvPr/>
        </p:nvSpPr>
        <p:spPr>
          <a:xfrm>
            <a:off x="6490731" y="4198113"/>
            <a:ext cx="990029" cy="19796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3" name="図 22" descr="テキスト が含まれている画像&#10;&#10;AI 生成コンテンツは誤りを含む可能性があります。">
            <a:extLst>
              <a:ext uri="{FF2B5EF4-FFF2-40B4-BE49-F238E27FC236}">
                <a16:creationId xmlns:a16="http://schemas.microsoft.com/office/drawing/2014/main" id="{4CB8653C-51DE-DBA9-8CA9-8BE1A0A69B07}"/>
              </a:ext>
            </a:extLst>
          </p:cNvPr>
          <p:cNvPicPr>
            <a:picLocks noChangeAspect="1"/>
          </p:cNvPicPr>
          <p:nvPr/>
        </p:nvPicPr>
        <p:blipFill>
          <a:blip r:embed="rId5"/>
          <a:stretch>
            <a:fillRect/>
          </a:stretch>
        </p:blipFill>
        <p:spPr>
          <a:xfrm>
            <a:off x="6413500" y="5111896"/>
            <a:ext cx="4257271" cy="1279701"/>
          </a:xfrm>
          <a:prstGeom prst="rect">
            <a:avLst/>
          </a:prstGeom>
        </p:spPr>
      </p:pic>
      <p:sp>
        <p:nvSpPr>
          <p:cNvPr id="24" name="正方形/長方形 23">
            <a:extLst>
              <a:ext uri="{FF2B5EF4-FFF2-40B4-BE49-F238E27FC236}">
                <a16:creationId xmlns:a16="http://schemas.microsoft.com/office/drawing/2014/main" id="{648A20EC-95DF-8AE9-8F1D-EE3501413E60}"/>
              </a:ext>
            </a:extLst>
          </p:cNvPr>
          <p:cNvSpPr/>
          <p:nvPr/>
        </p:nvSpPr>
        <p:spPr>
          <a:xfrm>
            <a:off x="7565385" y="6013873"/>
            <a:ext cx="3105386" cy="195017"/>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20B8B630-7618-2BC4-FA51-F6CAA180915B}"/>
              </a:ext>
            </a:extLst>
          </p:cNvPr>
          <p:cNvSpPr/>
          <p:nvPr/>
        </p:nvSpPr>
        <p:spPr>
          <a:xfrm>
            <a:off x="8288698" y="3726091"/>
            <a:ext cx="3421809" cy="203283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ja-JP" altLang="en-US" sz="1400" dirty="0">
                <a:solidFill>
                  <a:schemeClr val="tx1">
                    <a:lumMod val="75000"/>
                  </a:schemeClr>
                </a:solidFill>
              </a:rPr>
              <a:t>算術を列に対してではなく、比較対象の数字に対して使われるようにクエリを変更する</a:t>
            </a:r>
            <a:endParaRPr lang="en-US" altLang="ja-JP" sz="1400" dirty="0">
              <a:solidFill>
                <a:schemeClr val="tx1">
                  <a:lumMod val="75000"/>
                </a:schemeClr>
              </a:solidFill>
            </a:endParaRPr>
          </a:p>
          <a:p>
            <a:pPr marL="285750" indent="-285750">
              <a:buFont typeface="Arial" panose="020B0604020202020204" pitchFamily="34" charset="0"/>
              <a:buChar char="•"/>
            </a:pPr>
            <a:r>
              <a:rPr lang="ja-JP" altLang="en-US" sz="1400" dirty="0">
                <a:solidFill>
                  <a:schemeClr val="tx1">
                    <a:lumMod val="75000"/>
                  </a:schemeClr>
                </a:solidFill>
              </a:rPr>
              <a:t>関数などの式の結果を</a:t>
            </a:r>
            <a:r>
              <a:rPr lang="en-US" altLang="ja-JP" sz="1400" dirty="0">
                <a:solidFill>
                  <a:schemeClr val="tx1">
                    <a:lumMod val="75000"/>
                  </a:schemeClr>
                </a:solidFill>
              </a:rPr>
              <a:t>Index</a:t>
            </a:r>
            <a:r>
              <a:rPr lang="ja-JP" altLang="en-US" sz="1400" dirty="0">
                <a:solidFill>
                  <a:schemeClr val="tx1">
                    <a:lumMod val="75000"/>
                  </a:schemeClr>
                </a:solidFill>
              </a:rPr>
              <a:t>にする機能があるのでそれを使用する</a:t>
            </a:r>
            <a:endParaRPr lang="en-US" altLang="ja-JP" sz="1400" dirty="0">
              <a:solidFill>
                <a:schemeClr val="tx1">
                  <a:lumMod val="75000"/>
                </a:schemeClr>
              </a:solidFill>
            </a:endParaRPr>
          </a:p>
        </p:txBody>
      </p:sp>
    </p:spTree>
    <p:extLst>
      <p:ext uri="{BB962C8B-B14F-4D97-AF65-F5344CB8AC3E}">
        <p14:creationId xmlns:p14="http://schemas.microsoft.com/office/powerpoint/2010/main" val="1135929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2067C-D3B4-78F8-A989-198F0E5B9B71}"/>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C1B07285-ABD5-400E-3E7F-806226F4BA6B}"/>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28914F48-5233-D62E-3A23-6D1A6034DF4B}"/>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カーディナリティーの低い列に対する検索を行っていないか確認する</a:t>
            </a:r>
            <a:endParaRPr lang="en-US" altLang="ja-JP" sz="2800" dirty="0"/>
          </a:p>
        </p:txBody>
      </p:sp>
      <p:sp>
        <p:nvSpPr>
          <p:cNvPr id="4" name="タイトル プレースホルダー 1">
            <a:extLst>
              <a:ext uri="{FF2B5EF4-FFF2-40B4-BE49-F238E27FC236}">
                <a16:creationId xmlns:a16="http://schemas.microsoft.com/office/drawing/2014/main" id="{2381F32F-6B83-07CD-74E1-7DBEEFC5672A}"/>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Index</a:t>
            </a:r>
            <a:r>
              <a:rPr lang="ja-JP" altLang="en-US" dirty="0"/>
              <a:t>の仕組み</a:t>
            </a:r>
            <a:endParaRPr lang="en-US" altLang="ja-JP" dirty="0"/>
          </a:p>
        </p:txBody>
      </p:sp>
      <p:sp>
        <p:nvSpPr>
          <p:cNvPr id="5" name="タイトル プレースホルダー 1">
            <a:extLst>
              <a:ext uri="{FF2B5EF4-FFF2-40B4-BE49-F238E27FC236}">
                <a16:creationId xmlns:a16="http://schemas.microsoft.com/office/drawing/2014/main" id="{3DC5B150-1829-07F5-DCF3-3E7F162C0E2C}"/>
              </a:ext>
            </a:extLst>
          </p:cNvPr>
          <p:cNvSpPr txBox="1">
            <a:spLocks/>
          </p:cNvSpPr>
          <p:nvPr/>
        </p:nvSpPr>
        <p:spPr>
          <a:xfrm>
            <a:off x="355600" y="2146304"/>
            <a:ext cx="11506200" cy="118679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「列に格納されるデータの値にどのくらいの種類があるのか」をカーディナリティという</a:t>
            </a:r>
            <a:endParaRPr lang="en-US" altLang="ja-JP" sz="1800" dirty="0"/>
          </a:p>
          <a:p>
            <a:pPr marL="285750" indent="-285750">
              <a:buFont typeface="Arial" panose="020B0604020202020204" pitchFamily="34" charset="0"/>
              <a:buChar char="•"/>
            </a:pPr>
            <a:r>
              <a:rPr lang="ja-JP" altLang="en-US" sz="1800" dirty="0"/>
              <a:t>種類が多い、つまり重複が少ないデータはカーディナリティが高いことになる</a:t>
            </a:r>
            <a:endParaRPr lang="en-US" altLang="ja-JP" sz="1800" dirty="0"/>
          </a:p>
          <a:p>
            <a:pPr marL="285750" indent="-285750">
              <a:buFont typeface="Arial" panose="020B0604020202020204" pitchFamily="34" charset="0"/>
              <a:buChar char="•"/>
            </a:pPr>
            <a:r>
              <a:rPr lang="ja-JP" altLang="en-US" sz="1800" dirty="0"/>
              <a:t>シーケンシャルな</a:t>
            </a:r>
            <a:r>
              <a:rPr lang="en-US" altLang="ja-JP" sz="1800" dirty="0"/>
              <a:t>ID</a:t>
            </a:r>
            <a:r>
              <a:rPr lang="ja-JP" altLang="en-US" sz="1800" dirty="0"/>
              <a:t>や日時はシーケンシャルが高くなりがち</a:t>
            </a:r>
            <a:endParaRPr lang="en-US" altLang="ja-JP" sz="1800" dirty="0"/>
          </a:p>
          <a:p>
            <a:pPr marL="285750" indent="-285750">
              <a:buFont typeface="Arial" panose="020B0604020202020204" pitchFamily="34" charset="0"/>
              <a:buChar char="•"/>
            </a:pPr>
            <a:r>
              <a:rPr lang="ja-JP" altLang="en-US" sz="1800" dirty="0"/>
              <a:t>反対に性別、などはカーディナリティが低くなる</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graphicFrame>
        <p:nvGraphicFramePr>
          <p:cNvPr id="10" name="表 9">
            <a:extLst>
              <a:ext uri="{FF2B5EF4-FFF2-40B4-BE49-F238E27FC236}">
                <a16:creationId xmlns:a16="http://schemas.microsoft.com/office/drawing/2014/main" id="{80402C6B-1688-57E4-8122-CDDA119C3CC1}"/>
              </a:ext>
            </a:extLst>
          </p:cNvPr>
          <p:cNvGraphicFramePr>
            <a:graphicFrameLocks noGrp="1"/>
          </p:cNvGraphicFramePr>
          <p:nvPr>
            <p:extLst>
              <p:ext uri="{D42A27DB-BD31-4B8C-83A1-F6EECF244321}">
                <p14:modId xmlns:p14="http://schemas.microsoft.com/office/powerpoint/2010/main" val="1866115676"/>
              </p:ext>
            </p:extLst>
          </p:nvPr>
        </p:nvGraphicFramePr>
        <p:xfrm>
          <a:off x="591270" y="3942903"/>
          <a:ext cx="5236940" cy="2681924"/>
        </p:xfrm>
        <a:graphic>
          <a:graphicData uri="http://schemas.openxmlformats.org/drawingml/2006/table">
            <a:tbl>
              <a:tblPr firstRow="1" bandRow="1">
                <a:tableStyleId>{5C22544A-7EE6-4342-B048-85BDC9FD1C3A}</a:tableStyleId>
              </a:tblPr>
              <a:tblGrid>
                <a:gridCol w="1309235">
                  <a:extLst>
                    <a:ext uri="{9D8B030D-6E8A-4147-A177-3AD203B41FA5}">
                      <a16:colId xmlns:a16="http://schemas.microsoft.com/office/drawing/2014/main" val="632589234"/>
                    </a:ext>
                  </a:extLst>
                </a:gridCol>
                <a:gridCol w="1309235">
                  <a:extLst>
                    <a:ext uri="{9D8B030D-6E8A-4147-A177-3AD203B41FA5}">
                      <a16:colId xmlns:a16="http://schemas.microsoft.com/office/drawing/2014/main" val="2478904765"/>
                    </a:ext>
                  </a:extLst>
                </a:gridCol>
                <a:gridCol w="1309235">
                  <a:extLst>
                    <a:ext uri="{9D8B030D-6E8A-4147-A177-3AD203B41FA5}">
                      <a16:colId xmlns:a16="http://schemas.microsoft.com/office/drawing/2014/main" val="2103884576"/>
                    </a:ext>
                  </a:extLst>
                </a:gridCol>
                <a:gridCol w="1309235">
                  <a:extLst>
                    <a:ext uri="{9D8B030D-6E8A-4147-A177-3AD203B41FA5}">
                      <a16:colId xmlns:a16="http://schemas.microsoft.com/office/drawing/2014/main" val="484499221"/>
                    </a:ext>
                  </a:extLst>
                </a:gridCol>
              </a:tblGrid>
              <a:tr h="263382">
                <a:tc>
                  <a:txBody>
                    <a:bodyPr/>
                    <a:lstStyle/>
                    <a:p>
                      <a:r>
                        <a:rPr kumimoji="1" lang="ja-JP" altLang="en-US" sz="1900" dirty="0">
                          <a:solidFill>
                            <a:schemeClr val="tx1">
                              <a:lumMod val="75000"/>
                            </a:schemeClr>
                          </a:solidFill>
                        </a:rPr>
                        <a:t>契約</a:t>
                      </a:r>
                      <a:r>
                        <a:rPr kumimoji="1" lang="en-US" altLang="ja-JP" sz="1900" dirty="0">
                          <a:solidFill>
                            <a:schemeClr val="tx1">
                              <a:lumMod val="75000"/>
                            </a:schemeClr>
                          </a:solidFill>
                        </a:rPr>
                        <a:t>ID</a:t>
                      </a:r>
                      <a:endParaRPr kumimoji="1" lang="ja-JP" altLang="en-US" sz="1900" dirty="0">
                        <a:solidFill>
                          <a:schemeClr val="tx1">
                            <a:lumMod val="75000"/>
                          </a:schemeClr>
                        </a:solidFill>
                      </a:endParaRPr>
                    </a:p>
                  </a:txBody>
                  <a:tcPr marL="93569" marR="93569" marT="46786" marB="46786"/>
                </a:tc>
                <a:tc>
                  <a:txBody>
                    <a:bodyPr/>
                    <a:lstStyle/>
                    <a:p>
                      <a:r>
                        <a:rPr kumimoji="1" lang="ja-JP" altLang="en-US" sz="1900" dirty="0">
                          <a:solidFill>
                            <a:schemeClr val="tx1">
                              <a:lumMod val="75000"/>
                            </a:schemeClr>
                          </a:solidFill>
                        </a:rPr>
                        <a:t>電話番号</a:t>
                      </a:r>
                    </a:p>
                  </a:txBody>
                  <a:tcPr marL="93569" marR="93569" marT="46786" marB="46786"/>
                </a:tc>
                <a:tc>
                  <a:txBody>
                    <a:bodyPr/>
                    <a:lstStyle/>
                    <a:p>
                      <a:r>
                        <a:rPr kumimoji="1" lang="ja-JP" altLang="en-US" sz="1900" dirty="0">
                          <a:solidFill>
                            <a:srgbClr val="FF0000"/>
                          </a:solidFill>
                        </a:rPr>
                        <a:t>性別</a:t>
                      </a:r>
                    </a:p>
                  </a:txBody>
                  <a:tcPr marL="93569" marR="93569" marT="46786" marB="46786"/>
                </a:tc>
                <a:tc>
                  <a:txBody>
                    <a:bodyPr/>
                    <a:lstStyle/>
                    <a:p>
                      <a:r>
                        <a:rPr kumimoji="1" lang="ja-JP" altLang="en-US" sz="1900" dirty="0">
                          <a:solidFill>
                            <a:schemeClr val="tx1">
                              <a:lumMod val="75000"/>
                            </a:schemeClr>
                          </a:solidFill>
                        </a:rPr>
                        <a:t>なまえ</a:t>
                      </a:r>
                    </a:p>
                  </a:txBody>
                  <a:tcPr marL="93569" marR="93569" marT="46786" marB="46786"/>
                </a:tc>
                <a:extLst>
                  <a:ext uri="{0D108BD9-81ED-4DB2-BD59-A6C34878D82A}">
                    <a16:rowId xmlns:a16="http://schemas.microsoft.com/office/drawing/2014/main" val="3721538852"/>
                  </a:ext>
                </a:extLst>
              </a:tr>
              <a:tr h="263382">
                <a:tc>
                  <a:txBody>
                    <a:bodyPr/>
                    <a:lstStyle/>
                    <a:p>
                      <a:r>
                        <a:rPr kumimoji="1" lang="en-US" altLang="ja-JP" sz="1900" dirty="0"/>
                        <a:t>001</a:t>
                      </a:r>
                      <a:endParaRPr kumimoji="1" lang="ja-JP" altLang="en-US" sz="1900" dirty="0"/>
                    </a:p>
                  </a:txBody>
                  <a:tcPr marL="93569" marR="93569" marT="46786" marB="46786"/>
                </a:tc>
                <a:tc>
                  <a:txBody>
                    <a:bodyPr/>
                    <a:lstStyle/>
                    <a:p>
                      <a:r>
                        <a:rPr kumimoji="1" lang="en-US" altLang="ja-JP" sz="1900" dirty="0"/>
                        <a:t>000</a:t>
                      </a:r>
                      <a:endParaRPr kumimoji="1" lang="ja-JP" altLang="en-US" sz="1900" dirty="0"/>
                    </a:p>
                  </a:txBody>
                  <a:tcPr marL="93569" marR="93569" marT="46786" marB="46786"/>
                </a:tc>
                <a:tc>
                  <a:txBody>
                    <a:bodyPr/>
                    <a:lstStyle/>
                    <a:p>
                      <a:r>
                        <a:rPr kumimoji="1" lang="ja-JP" altLang="en-US" sz="1900" dirty="0">
                          <a:solidFill>
                            <a:srgbClr val="FF0000"/>
                          </a:solidFill>
                        </a:rPr>
                        <a:t>男</a:t>
                      </a:r>
                    </a:p>
                  </a:txBody>
                  <a:tcPr marL="93569" marR="93569" marT="46786" marB="46786"/>
                </a:tc>
                <a:tc>
                  <a:txBody>
                    <a:bodyPr/>
                    <a:lstStyle/>
                    <a:p>
                      <a:r>
                        <a:rPr kumimoji="1" lang="ja-JP" altLang="en-US" sz="1900" dirty="0"/>
                        <a:t>たけし</a:t>
                      </a:r>
                    </a:p>
                  </a:txBody>
                  <a:tcPr marL="93569" marR="93569" marT="46786" marB="46786"/>
                </a:tc>
                <a:extLst>
                  <a:ext uri="{0D108BD9-81ED-4DB2-BD59-A6C34878D82A}">
                    <a16:rowId xmlns:a16="http://schemas.microsoft.com/office/drawing/2014/main" val="2677277498"/>
                  </a:ext>
                </a:extLst>
              </a:tr>
              <a:tr h="263382">
                <a:tc>
                  <a:txBody>
                    <a:bodyPr/>
                    <a:lstStyle/>
                    <a:p>
                      <a:r>
                        <a:rPr kumimoji="1" lang="en-US" altLang="ja-JP" sz="1900" dirty="0"/>
                        <a:t>002</a:t>
                      </a:r>
                      <a:endParaRPr kumimoji="1" lang="ja-JP" altLang="en-US" sz="1900" dirty="0"/>
                    </a:p>
                  </a:txBody>
                  <a:tcPr marL="93569" marR="93569" marT="46786" marB="46786"/>
                </a:tc>
                <a:tc>
                  <a:txBody>
                    <a:bodyPr/>
                    <a:lstStyle/>
                    <a:p>
                      <a:r>
                        <a:rPr kumimoji="1" lang="en-US" altLang="ja-JP" sz="1900" dirty="0"/>
                        <a:t>111</a:t>
                      </a:r>
                      <a:endParaRPr kumimoji="1" lang="ja-JP" altLang="en-US" sz="1900" dirty="0"/>
                    </a:p>
                  </a:txBody>
                  <a:tcPr marL="93569" marR="93569" marT="46786" marB="46786"/>
                </a:tc>
                <a:tc>
                  <a:txBody>
                    <a:bodyPr/>
                    <a:lstStyle/>
                    <a:p>
                      <a:r>
                        <a:rPr kumimoji="1" lang="ja-JP" altLang="en-US" sz="1900" dirty="0">
                          <a:solidFill>
                            <a:srgbClr val="FF0000"/>
                          </a:solidFill>
                        </a:rPr>
                        <a:t>女</a:t>
                      </a:r>
                    </a:p>
                  </a:txBody>
                  <a:tcPr marL="93569" marR="93569" marT="46786" marB="46786"/>
                </a:tc>
                <a:tc>
                  <a:txBody>
                    <a:bodyPr/>
                    <a:lstStyle/>
                    <a:p>
                      <a:r>
                        <a:rPr kumimoji="1" lang="ja-JP" altLang="en-US" sz="1900" dirty="0"/>
                        <a:t>はなこ</a:t>
                      </a:r>
                    </a:p>
                  </a:txBody>
                  <a:tcPr marL="93569" marR="93569" marT="46786" marB="46786"/>
                </a:tc>
                <a:extLst>
                  <a:ext uri="{0D108BD9-81ED-4DB2-BD59-A6C34878D82A}">
                    <a16:rowId xmlns:a16="http://schemas.microsoft.com/office/drawing/2014/main" val="246849539"/>
                  </a:ext>
                </a:extLst>
              </a:tr>
              <a:tr h="263382">
                <a:tc>
                  <a:txBody>
                    <a:bodyPr/>
                    <a:lstStyle/>
                    <a:p>
                      <a:r>
                        <a:rPr kumimoji="1" lang="en-US" altLang="ja-JP" sz="1900" dirty="0"/>
                        <a:t>003</a:t>
                      </a:r>
                      <a:endParaRPr kumimoji="1" lang="ja-JP" altLang="en-US" sz="1900" dirty="0"/>
                    </a:p>
                  </a:txBody>
                  <a:tcPr marL="93569" marR="93569" marT="46786" marB="46786"/>
                </a:tc>
                <a:tc>
                  <a:txBody>
                    <a:bodyPr/>
                    <a:lstStyle/>
                    <a:p>
                      <a:r>
                        <a:rPr kumimoji="1" lang="en-US" altLang="ja-JP" sz="1900" dirty="0"/>
                        <a:t>222</a:t>
                      </a:r>
                      <a:endParaRPr kumimoji="1" lang="ja-JP" altLang="en-US" sz="1900" dirty="0"/>
                    </a:p>
                  </a:txBody>
                  <a:tcPr marL="93569" marR="93569" marT="46786" marB="46786"/>
                </a:tc>
                <a:tc>
                  <a:txBody>
                    <a:bodyPr/>
                    <a:lstStyle/>
                    <a:p>
                      <a:r>
                        <a:rPr kumimoji="1" lang="ja-JP" altLang="en-US" sz="1900" dirty="0">
                          <a:solidFill>
                            <a:srgbClr val="FF0000"/>
                          </a:solidFill>
                        </a:rPr>
                        <a:t>男</a:t>
                      </a:r>
                    </a:p>
                  </a:txBody>
                  <a:tcPr marL="93569" marR="93569" marT="46786" marB="46786"/>
                </a:tc>
                <a:tc>
                  <a:txBody>
                    <a:bodyPr/>
                    <a:lstStyle/>
                    <a:p>
                      <a:r>
                        <a:rPr kumimoji="1" lang="ja-JP" altLang="en-US" sz="1900" dirty="0"/>
                        <a:t>さとる</a:t>
                      </a:r>
                    </a:p>
                  </a:txBody>
                  <a:tcPr marL="93569" marR="93569" marT="46786" marB="46786"/>
                </a:tc>
                <a:extLst>
                  <a:ext uri="{0D108BD9-81ED-4DB2-BD59-A6C34878D82A}">
                    <a16:rowId xmlns:a16="http://schemas.microsoft.com/office/drawing/2014/main" val="1979457983"/>
                  </a:ext>
                </a:extLst>
              </a:tr>
              <a:tr h="263382">
                <a:tc>
                  <a:txBody>
                    <a:bodyPr/>
                    <a:lstStyle/>
                    <a:p>
                      <a:r>
                        <a:rPr kumimoji="1" lang="en-US" altLang="ja-JP" sz="1900" dirty="0"/>
                        <a:t>004</a:t>
                      </a:r>
                      <a:endParaRPr kumimoji="1" lang="ja-JP" altLang="en-US" sz="1900" dirty="0"/>
                    </a:p>
                  </a:txBody>
                  <a:tcPr marL="93569" marR="93569" marT="46786" marB="46786"/>
                </a:tc>
                <a:tc>
                  <a:txBody>
                    <a:bodyPr/>
                    <a:lstStyle/>
                    <a:p>
                      <a:r>
                        <a:rPr kumimoji="1" lang="en-US" altLang="ja-JP" sz="1900" dirty="0"/>
                        <a:t>333</a:t>
                      </a:r>
                      <a:endParaRPr kumimoji="1" lang="ja-JP" altLang="en-US" sz="1900" dirty="0"/>
                    </a:p>
                  </a:txBody>
                  <a:tcPr marL="93569" marR="93569" marT="46786" marB="46786"/>
                </a:tc>
                <a:tc>
                  <a:txBody>
                    <a:bodyPr/>
                    <a:lstStyle/>
                    <a:p>
                      <a:r>
                        <a:rPr kumimoji="1" lang="ja-JP" altLang="en-US" sz="1900" dirty="0">
                          <a:solidFill>
                            <a:srgbClr val="FF0000"/>
                          </a:solidFill>
                        </a:rPr>
                        <a:t>男</a:t>
                      </a:r>
                    </a:p>
                  </a:txBody>
                  <a:tcPr marL="93569" marR="93569" marT="46786" marB="46786"/>
                </a:tc>
                <a:tc>
                  <a:txBody>
                    <a:bodyPr/>
                    <a:lstStyle/>
                    <a:p>
                      <a:r>
                        <a:rPr kumimoji="1" lang="ja-JP" altLang="en-US" sz="1900" dirty="0"/>
                        <a:t>きょうすけ</a:t>
                      </a:r>
                    </a:p>
                  </a:txBody>
                  <a:tcPr marL="93569" marR="93569" marT="46786" marB="46786"/>
                </a:tc>
                <a:extLst>
                  <a:ext uri="{0D108BD9-81ED-4DB2-BD59-A6C34878D82A}">
                    <a16:rowId xmlns:a16="http://schemas.microsoft.com/office/drawing/2014/main" val="1199552400"/>
                  </a:ext>
                </a:extLst>
              </a:tr>
              <a:tr h="263382">
                <a:tc>
                  <a:txBody>
                    <a:bodyPr/>
                    <a:lstStyle/>
                    <a:p>
                      <a:r>
                        <a:rPr kumimoji="1" lang="en-US" altLang="ja-JP" sz="1900" dirty="0"/>
                        <a:t>005</a:t>
                      </a:r>
                      <a:endParaRPr kumimoji="1" lang="ja-JP" altLang="en-US" sz="1900" dirty="0"/>
                    </a:p>
                  </a:txBody>
                  <a:tcPr marL="93569" marR="93569" marT="46786" marB="46786"/>
                </a:tc>
                <a:tc>
                  <a:txBody>
                    <a:bodyPr/>
                    <a:lstStyle/>
                    <a:p>
                      <a:r>
                        <a:rPr kumimoji="1" lang="en-US" altLang="ja-JP" sz="1900" dirty="0"/>
                        <a:t>444</a:t>
                      </a:r>
                      <a:endParaRPr kumimoji="1" lang="ja-JP" altLang="en-US" sz="1900" dirty="0"/>
                    </a:p>
                  </a:txBody>
                  <a:tcPr marL="93569" marR="93569" marT="46786" marB="46786"/>
                </a:tc>
                <a:tc>
                  <a:txBody>
                    <a:bodyPr/>
                    <a:lstStyle/>
                    <a:p>
                      <a:r>
                        <a:rPr kumimoji="1" lang="ja-JP" altLang="en-US" sz="1900" dirty="0">
                          <a:solidFill>
                            <a:srgbClr val="FF0000"/>
                          </a:solidFill>
                        </a:rPr>
                        <a:t>女</a:t>
                      </a:r>
                    </a:p>
                  </a:txBody>
                  <a:tcPr marL="93569" marR="93569" marT="46786" marB="46786"/>
                </a:tc>
                <a:tc>
                  <a:txBody>
                    <a:bodyPr/>
                    <a:lstStyle/>
                    <a:p>
                      <a:r>
                        <a:rPr kumimoji="1" lang="ja-JP" altLang="en-US" sz="1900" dirty="0"/>
                        <a:t>あつし</a:t>
                      </a:r>
                    </a:p>
                  </a:txBody>
                  <a:tcPr marL="93569" marR="93569" marT="46786" marB="46786"/>
                </a:tc>
                <a:extLst>
                  <a:ext uri="{0D108BD9-81ED-4DB2-BD59-A6C34878D82A}">
                    <a16:rowId xmlns:a16="http://schemas.microsoft.com/office/drawing/2014/main" val="2539358533"/>
                  </a:ext>
                </a:extLst>
              </a:tr>
              <a:tr h="263382">
                <a:tc>
                  <a:txBody>
                    <a:bodyPr/>
                    <a:lstStyle/>
                    <a:p>
                      <a:r>
                        <a:rPr kumimoji="1" lang="ja-JP" altLang="en-US" sz="1900" dirty="0"/>
                        <a:t>・・・</a:t>
                      </a:r>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tc>
                  <a:txBody>
                    <a:bodyPr/>
                    <a:lstStyle/>
                    <a:p>
                      <a:endParaRPr kumimoji="1" lang="ja-JP" altLang="en-US" sz="1900" dirty="0"/>
                    </a:p>
                  </a:txBody>
                  <a:tcPr marL="93569" marR="93569" marT="46786" marB="46786"/>
                </a:tc>
                <a:extLst>
                  <a:ext uri="{0D108BD9-81ED-4DB2-BD59-A6C34878D82A}">
                    <a16:rowId xmlns:a16="http://schemas.microsoft.com/office/drawing/2014/main" val="557733666"/>
                  </a:ext>
                </a:extLst>
              </a:tr>
            </a:tbl>
          </a:graphicData>
        </a:graphic>
      </p:graphicFrame>
      <p:sp>
        <p:nvSpPr>
          <p:cNvPr id="11" name="楕円 10">
            <a:extLst>
              <a:ext uri="{FF2B5EF4-FFF2-40B4-BE49-F238E27FC236}">
                <a16:creationId xmlns:a16="http://schemas.microsoft.com/office/drawing/2014/main" id="{4E030699-D73B-F83A-B876-D645CE180CC0}"/>
              </a:ext>
            </a:extLst>
          </p:cNvPr>
          <p:cNvSpPr/>
          <p:nvPr/>
        </p:nvSpPr>
        <p:spPr>
          <a:xfrm>
            <a:off x="515856" y="3333100"/>
            <a:ext cx="1458000" cy="593728"/>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契約者</a:t>
            </a:r>
          </a:p>
        </p:txBody>
      </p:sp>
      <p:sp>
        <p:nvSpPr>
          <p:cNvPr id="12" name="吹き出し: 折線 (枠付き、強調線付き) 11">
            <a:extLst>
              <a:ext uri="{FF2B5EF4-FFF2-40B4-BE49-F238E27FC236}">
                <a16:creationId xmlns:a16="http://schemas.microsoft.com/office/drawing/2014/main" id="{5FC3A516-4957-3FD6-093A-B491025598EA}"/>
              </a:ext>
            </a:extLst>
          </p:cNvPr>
          <p:cNvSpPr/>
          <p:nvPr/>
        </p:nvSpPr>
        <p:spPr>
          <a:xfrm>
            <a:off x="6875363" y="3097430"/>
            <a:ext cx="4725367" cy="1522520"/>
          </a:xfrm>
          <a:prstGeom prst="accentBorderCallout2">
            <a:avLst>
              <a:gd name="adj1" fmla="val 18750"/>
              <a:gd name="adj2" fmla="val -8333"/>
              <a:gd name="adj3" fmla="val 18750"/>
              <a:gd name="adj4" fmla="val -16667"/>
              <a:gd name="adj5" fmla="val 64262"/>
              <a:gd name="adj6" fmla="val -66221"/>
            </a:avLst>
          </a:prstGeom>
          <a:solidFill>
            <a:schemeClr val="accent1">
              <a:lumMod val="20000"/>
              <a:lumOff val="80000"/>
            </a:schemeClr>
          </a:solidFill>
          <a:ln>
            <a:solidFill>
              <a:schemeClr val="tx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ja-JP" altLang="ja-JP" b="1" dirty="0">
                <a:solidFill>
                  <a:schemeClr val="tx1">
                    <a:lumMod val="75000"/>
                  </a:schemeClr>
                </a:solidFill>
              </a:rPr>
              <a:t>カーディナリティ</a:t>
            </a:r>
            <a:r>
              <a:rPr lang="ja-JP" altLang="en-US" b="1" dirty="0">
                <a:solidFill>
                  <a:schemeClr val="tx1">
                    <a:lumMod val="75000"/>
                  </a:schemeClr>
                </a:solidFill>
              </a:rPr>
              <a:t>が低い列</a:t>
            </a:r>
            <a:r>
              <a:rPr lang="ja-JP" altLang="en-US" dirty="0">
                <a:solidFill>
                  <a:schemeClr val="tx1">
                    <a:lumMod val="75000"/>
                  </a:schemeClr>
                </a:solidFill>
              </a:rPr>
              <a:t>に対して絞り込む場合は</a:t>
            </a:r>
            <a:r>
              <a:rPr lang="ja-JP" altLang="en-US" b="1" dirty="0">
                <a:solidFill>
                  <a:schemeClr val="tx1">
                    <a:lumMod val="75000"/>
                  </a:schemeClr>
                </a:solidFill>
              </a:rPr>
              <a:t>検索結果が多くなりやすい</a:t>
            </a:r>
            <a:r>
              <a:rPr lang="ja-JP" altLang="en-US" dirty="0">
                <a:solidFill>
                  <a:schemeClr val="tx1">
                    <a:lumMod val="75000"/>
                  </a:schemeClr>
                </a:solidFill>
              </a:rPr>
              <a:t>ため、</a:t>
            </a:r>
            <a:r>
              <a:rPr lang="en-US" altLang="ja-JP" dirty="0">
                <a:solidFill>
                  <a:schemeClr val="tx1">
                    <a:lumMod val="75000"/>
                  </a:schemeClr>
                </a:solidFill>
              </a:rPr>
              <a:t>Index</a:t>
            </a:r>
            <a:r>
              <a:rPr lang="ja-JP" altLang="en-US" dirty="0">
                <a:solidFill>
                  <a:schemeClr val="tx1">
                    <a:lumMod val="75000"/>
                  </a:schemeClr>
                </a:solidFill>
              </a:rPr>
              <a:t>をうまく利用することが難しい</a:t>
            </a:r>
            <a:endParaRPr lang="en-US" altLang="ja-JP" dirty="0">
              <a:solidFill>
                <a:schemeClr val="tx1">
                  <a:lumMod val="75000"/>
                </a:schemeClr>
              </a:solidFill>
            </a:endParaRPr>
          </a:p>
          <a:p>
            <a:pPr marL="285750" indent="-285750">
              <a:buFont typeface="Arial" panose="020B0604020202020204" pitchFamily="34" charset="0"/>
              <a:buChar char="•"/>
            </a:pPr>
            <a:endParaRPr kumimoji="1" lang="ja-JP" altLang="en-US" dirty="0">
              <a:solidFill>
                <a:schemeClr val="tx1">
                  <a:lumMod val="75000"/>
                </a:schemeClr>
              </a:solidFill>
            </a:endParaRPr>
          </a:p>
        </p:txBody>
      </p:sp>
    </p:spTree>
    <p:extLst>
      <p:ext uri="{BB962C8B-B14F-4D97-AF65-F5344CB8AC3E}">
        <p14:creationId xmlns:p14="http://schemas.microsoft.com/office/powerpoint/2010/main" val="3785583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C215C-AB02-EA34-B589-2C78072399A3}"/>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8666614F-458F-70B2-D6BE-BBA7FFFE5555}"/>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7B197687-B1F2-6A79-6027-847AD7309E79}"/>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あいまいな検索をしている場合に注意する</a:t>
            </a:r>
            <a:endParaRPr lang="en-US" altLang="ja-JP" sz="2800" dirty="0"/>
          </a:p>
        </p:txBody>
      </p:sp>
      <p:sp>
        <p:nvSpPr>
          <p:cNvPr id="4" name="タイトル プレースホルダー 1">
            <a:extLst>
              <a:ext uri="{FF2B5EF4-FFF2-40B4-BE49-F238E27FC236}">
                <a16:creationId xmlns:a16="http://schemas.microsoft.com/office/drawing/2014/main" id="{5F66A1EE-E944-322C-8B8A-070BD76B667A}"/>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Index</a:t>
            </a:r>
            <a:r>
              <a:rPr lang="ja-JP" altLang="en-US" dirty="0"/>
              <a:t>の仕組み</a:t>
            </a:r>
            <a:endParaRPr lang="en-US" altLang="ja-JP" dirty="0"/>
          </a:p>
        </p:txBody>
      </p:sp>
      <p:graphicFrame>
        <p:nvGraphicFramePr>
          <p:cNvPr id="17" name="表 16">
            <a:extLst>
              <a:ext uri="{FF2B5EF4-FFF2-40B4-BE49-F238E27FC236}">
                <a16:creationId xmlns:a16="http://schemas.microsoft.com/office/drawing/2014/main" id="{2307DDA8-10DB-F2D9-2DEE-2924E0E32ABD}"/>
              </a:ext>
            </a:extLst>
          </p:cNvPr>
          <p:cNvGraphicFramePr>
            <a:graphicFrameLocks noGrp="1"/>
          </p:cNvGraphicFramePr>
          <p:nvPr>
            <p:extLst>
              <p:ext uri="{D42A27DB-BD31-4B8C-83A1-F6EECF244321}">
                <p14:modId xmlns:p14="http://schemas.microsoft.com/office/powerpoint/2010/main" val="3101484782"/>
              </p:ext>
            </p:extLst>
          </p:nvPr>
        </p:nvGraphicFramePr>
        <p:xfrm>
          <a:off x="342899" y="3176108"/>
          <a:ext cx="11506201" cy="3383280"/>
        </p:xfrm>
        <a:graphic>
          <a:graphicData uri="http://schemas.openxmlformats.org/drawingml/2006/table">
            <a:tbl>
              <a:tblPr firstRow="1" bandRow="1">
                <a:tableStyleId>{F5AB1C69-6EDB-4FF4-983F-18BD219EF322}</a:tableStyleId>
              </a:tblPr>
              <a:tblGrid>
                <a:gridCol w="611586">
                  <a:extLst>
                    <a:ext uri="{9D8B030D-6E8A-4147-A177-3AD203B41FA5}">
                      <a16:colId xmlns:a16="http://schemas.microsoft.com/office/drawing/2014/main" val="851819213"/>
                    </a:ext>
                  </a:extLst>
                </a:gridCol>
                <a:gridCol w="1232534">
                  <a:extLst>
                    <a:ext uri="{9D8B030D-6E8A-4147-A177-3AD203B41FA5}">
                      <a16:colId xmlns:a16="http://schemas.microsoft.com/office/drawing/2014/main" val="2142686686"/>
                    </a:ext>
                  </a:extLst>
                </a:gridCol>
                <a:gridCol w="5599521">
                  <a:extLst>
                    <a:ext uri="{9D8B030D-6E8A-4147-A177-3AD203B41FA5}">
                      <a16:colId xmlns:a16="http://schemas.microsoft.com/office/drawing/2014/main" val="952234859"/>
                    </a:ext>
                  </a:extLst>
                </a:gridCol>
                <a:gridCol w="4062560">
                  <a:extLst>
                    <a:ext uri="{9D8B030D-6E8A-4147-A177-3AD203B41FA5}">
                      <a16:colId xmlns:a16="http://schemas.microsoft.com/office/drawing/2014/main" val="2162630281"/>
                    </a:ext>
                  </a:extLst>
                </a:gridCol>
              </a:tblGrid>
              <a:tr h="507298">
                <a:tc>
                  <a:txBody>
                    <a:bodyPr/>
                    <a:lstStyle/>
                    <a:p>
                      <a:r>
                        <a:rPr kumimoji="1" lang="ja-JP" altLang="en-US" dirty="0"/>
                        <a:t>項番</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種類</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概要</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4021886788"/>
                  </a:ext>
                </a:extLst>
              </a:tr>
              <a:tr h="507298">
                <a:tc>
                  <a:txBody>
                    <a:bodyPr/>
                    <a:lstStyle/>
                    <a:p>
                      <a:r>
                        <a:rPr kumimoji="1" lang="en-US" altLang="ja-JP" dirty="0"/>
                        <a:t>1</a:t>
                      </a:r>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indent="0">
                        <a:buFont typeface="Arial" panose="020B0604020202020204" pitchFamily="34" charset="0"/>
                        <a:buNone/>
                      </a:pPr>
                      <a:r>
                        <a:rPr kumimoji="1" lang="ja-JP" altLang="en-US" dirty="0"/>
                        <a:t>前方一致</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ja-JP" altLang="en-US" dirty="0"/>
                        <a:t>検索対象の中で指定した文字列から始まる単語に一致</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WHERE LIKE `TEST%`</a:t>
                      </a:r>
                    </a:p>
                    <a:p>
                      <a:r>
                        <a:rPr kumimoji="1" lang="ja-JP" altLang="en-US" dirty="0"/>
                        <a:t>検索結果は</a:t>
                      </a:r>
                      <a:r>
                        <a:rPr kumimoji="1" lang="en-US" altLang="ja-JP" dirty="0"/>
                        <a:t>TEST01</a:t>
                      </a:r>
                      <a:r>
                        <a:rPr kumimoji="1" lang="ja-JP" altLang="en-US" dirty="0"/>
                        <a:t>など</a:t>
                      </a:r>
                      <a:endParaRPr kumimoji="1" lang="en-US" altLang="ja-JP" dirty="0"/>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5794718"/>
                  </a:ext>
                </a:extLst>
              </a:tr>
              <a:tr h="507298">
                <a:tc>
                  <a:txBody>
                    <a:bodyPr/>
                    <a:lstStyle/>
                    <a:p>
                      <a:r>
                        <a:rPr kumimoji="1" lang="en-US" altLang="ja-JP" dirty="0"/>
                        <a:t>2</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indent="0">
                        <a:buFont typeface="Arial" panose="020B0604020202020204" pitchFamily="34" charset="0"/>
                        <a:buNone/>
                      </a:pPr>
                      <a:r>
                        <a:rPr kumimoji="1" lang="ja-JP" altLang="en-US" dirty="0"/>
                        <a:t>後方一致</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ja-JP" altLang="en-US" dirty="0"/>
                        <a:t>検索対象の中で指定した文字列で終わる単語に一致</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WHERE LIKE `%TEST`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検索結果は</a:t>
                      </a:r>
                      <a:r>
                        <a:rPr kumimoji="1" lang="en-US" altLang="ja-JP" dirty="0"/>
                        <a:t>01TEST</a:t>
                      </a:r>
                      <a:r>
                        <a:rPr kumimoji="1" lang="ja-JP" altLang="en-US" dirty="0"/>
                        <a:t>など</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7024123"/>
                  </a:ext>
                </a:extLst>
              </a:tr>
              <a:tr h="507298">
                <a:tc>
                  <a:txBody>
                    <a:bodyPr/>
                    <a:lstStyle/>
                    <a:p>
                      <a:r>
                        <a:rPr kumimoji="1" lang="en-US" altLang="ja-JP" dirty="0"/>
                        <a:t>3</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indent="0">
                        <a:buFont typeface="Arial" panose="020B0604020202020204" pitchFamily="34" charset="0"/>
                        <a:buNone/>
                      </a:pPr>
                      <a:r>
                        <a:rPr kumimoji="1" lang="ja-JP" altLang="en-US" dirty="0"/>
                        <a:t>部分一致</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kumimoji="1" lang="ja-JP" altLang="en-US" dirty="0"/>
                        <a:t>検索対象の中で指定した文字列が含まれる単語に一致</a:t>
                      </a:r>
                      <a:endParaRPr kumimoji="1" lang="en-US" altLang="ja-JP" dirty="0"/>
                    </a:p>
                    <a:p>
                      <a:pPr marL="285750" indent="-285750">
                        <a:buFont typeface="Arial" panose="020B0604020202020204" pitchFamily="34" charset="0"/>
                        <a:buChar char="•"/>
                      </a:pP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WHERE LIKE `%TEST%`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検索結果は</a:t>
                      </a:r>
                      <a:r>
                        <a:rPr kumimoji="1" lang="en-US" altLang="ja-JP" dirty="0"/>
                        <a:t>0TEST1</a:t>
                      </a:r>
                      <a:r>
                        <a:rPr kumimoji="1" lang="ja-JP" altLang="en-US" dirty="0"/>
                        <a:t>など</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98956711"/>
                  </a:ext>
                </a:extLst>
              </a:tr>
            </a:tbl>
          </a:graphicData>
        </a:graphic>
      </p:graphicFrame>
      <p:sp>
        <p:nvSpPr>
          <p:cNvPr id="18" name="タイトル プレースホルダー 1">
            <a:extLst>
              <a:ext uri="{FF2B5EF4-FFF2-40B4-BE49-F238E27FC236}">
                <a16:creationId xmlns:a16="http://schemas.microsoft.com/office/drawing/2014/main" id="{EE09E2BE-21BA-C730-68F6-976E6F07699A}"/>
              </a:ext>
            </a:extLst>
          </p:cNvPr>
          <p:cNvSpPr txBox="1">
            <a:spLocks/>
          </p:cNvSpPr>
          <p:nvPr/>
        </p:nvSpPr>
        <p:spPr>
          <a:xfrm>
            <a:off x="355600" y="2146304"/>
            <a:ext cx="11506200" cy="118679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en-US" altLang="ja-JP" sz="1800" dirty="0"/>
              <a:t>RDBMS</a:t>
            </a:r>
            <a:r>
              <a:rPr lang="ja-JP" altLang="en-US" sz="1800" dirty="0"/>
              <a:t>の検索に</a:t>
            </a:r>
            <a:r>
              <a:rPr lang="en-US" altLang="ja-JP" sz="1800" dirty="0"/>
              <a:t>LIKE</a:t>
            </a:r>
            <a:r>
              <a:rPr lang="ja-JP" altLang="en-US" sz="1800" dirty="0"/>
              <a:t>検索がある</a:t>
            </a:r>
            <a:endParaRPr lang="en-US" altLang="ja-JP" sz="1800" dirty="0"/>
          </a:p>
          <a:p>
            <a:pPr marL="285750" indent="-285750">
              <a:buFont typeface="Arial" panose="020B0604020202020204" pitchFamily="34" charset="0"/>
              <a:buChar char="•"/>
            </a:pPr>
            <a:r>
              <a:rPr lang="en-US" altLang="ja-JP" sz="1800" dirty="0"/>
              <a:t>LIKE</a:t>
            </a:r>
            <a:r>
              <a:rPr lang="ja-JP" altLang="en-US" sz="1800" dirty="0"/>
              <a:t>検索のパターンは下表</a:t>
            </a:r>
            <a:endParaRPr lang="en-US" altLang="ja-JP" sz="1800" dirty="0"/>
          </a:p>
          <a:p>
            <a:pPr marL="285750" indent="-285750">
              <a:buFont typeface="Arial" panose="020B0604020202020204" pitchFamily="34" charset="0"/>
              <a:buChar char="•"/>
            </a:pPr>
            <a:r>
              <a:rPr lang="ja-JP" altLang="en-US" sz="1800" b="1" dirty="0"/>
              <a:t>標準で</a:t>
            </a:r>
            <a:r>
              <a:rPr lang="en-US" altLang="ja-JP" sz="1800" b="1" dirty="0"/>
              <a:t>Index</a:t>
            </a:r>
            <a:r>
              <a:rPr lang="ja-JP" altLang="en-US" sz="1800" b="1" dirty="0"/>
              <a:t>を利用するケースは前方一致のみ</a:t>
            </a:r>
            <a:endParaRPr lang="en-US" altLang="ja-JP" sz="1800" b="1" dirty="0"/>
          </a:p>
          <a:p>
            <a:endParaRPr lang="en-US" altLang="ja-JP" sz="1800" dirty="0"/>
          </a:p>
        </p:txBody>
      </p:sp>
    </p:spTree>
    <p:extLst>
      <p:ext uri="{BB962C8B-B14F-4D97-AF65-F5344CB8AC3E}">
        <p14:creationId xmlns:p14="http://schemas.microsoft.com/office/powerpoint/2010/main" val="3432430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8F37E-2720-C4C5-7191-8B7C83921BE6}"/>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68A2ECC0-C9A5-B5C2-049F-EEF29AFC25AF}"/>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36967CA4-7516-EDA2-13D9-297271F618F5}"/>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「テーブルの設計」は、カオスな世界を分節し人間（システム）が扱えるよう名づけ、意味を持った「集合」にするという哲学的な営み、な気がしてカッコイイから。</a:t>
            </a:r>
            <a:endParaRPr lang="en-US" altLang="ja-JP" sz="2800" dirty="0"/>
          </a:p>
        </p:txBody>
      </p:sp>
      <p:sp>
        <p:nvSpPr>
          <p:cNvPr id="4" name="タイトル プレースホルダー 1">
            <a:extLst>
              <a:ext uri="{FF2B5EF4-FFF2-40B4-BE49-F238E27FC236}">
                <a16:creationId xmlns:a16="http://schemas.microsoft.com/office/drawing/2014/main" id="{2C10C011-E2C2-7503-9F86-8E7622580407}"/>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DB</a:t>
            </a:r>
            <a:r>
              <a:rPr lang="ja-JP" altLang="en-US" dirty="0"/>
              <a:t>設計がなぜ面白いか</a:t>
            </a:r>
            <a:endParaRPr lang="en-US" altLang="ja-JP" dirty="0"/>
          </a:p>
        </p:txBody>
      </p:sp>
      <p:sp>
        <p:nvSpPr>
          <p:cNvPr id="6" name="正方形/長方形 5">
            <a:extLst>
              <a:ext uri="{FF2B5EF4-FFF2-40B4-BE49-F238E27FC236}">
                <a16:creationId xmlns:a16="http://schemas.microsoft.com/office/drawing/2014/main" id="{5DA94B41-54F8-7066-7603-CFB5E621A725}"/>
              </a:ext>
            </a:extLst>
          </p:cNvPr>
          <p:cNvSpPr/>
          <p:nvPr/>
        </p:nvSpPr>
        <p:spPr>
          <a:xfrm>
            <a:off x="342900" y="2796959"/>
            <a:ext cx="3589908"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rPr>
              <a:t>事実</a:t>
            </a:r>
          </a:p>
        </p:txBody>
      </p:sp>
      <p:sp>
        <p:nvSpPr>
          <p:cNvPr id="7" name="正方形/長方形 6">
            <a:extLst>
              <a:ext uri="{FF2B5EF4-FFF2-40B4-BE49-F238E27FC236}">
                <a16:creationId xmlns:a16="http://schemas.microsoft.com/office/drawing/2014/main" id="{6C880A56-9F1B-5AE5-F8D1-CC898276CF39}"/>
              </a:ext>
            </a:extLst>
          </p:cNvPr>
          <p:cNvSpPr/>
          <p:nvPr/>
        </p:nvSpPr>
        <p:spPr>
          <a:xfrm>
            <a:off x="4212086" y="2796959"/>
            <a:ext cx="3589908"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rPr>
              <a:t>解釈</a:t>
            </a:r>
            <a:endParaRPr kumimoji="1" lang="ja-JP" altLang="en-US" sz="2400" b="1" dirty="0">
              <a:solidFill>
                <a:schemeClr val="bg1"/>
              </a:solidFill>
            </a:endParaRPr>
          </a:p>
        </p:txBody>
      </p:sp>
      <p:sp>
        <p:nvSpPr>
          <p:cNvPr id="8" name="正方形/長方形 7">
            <a:extLst>
              <a:ext uri="{FF2B5EF4-FFF2-40B4-BE49-F238E27FC236}">
                <a16:creationId xmlns:a16="http://schemas.microsoft.com/office/drawing/2014/main" id="{33F7F62A-2F29-FD7B-1D31-49C01CA9FED9}"/>
              </a:ext>
            </a:extLst>
          </p:cNvPr>
          <p:cNvSpPr/>
          <p:nvPr/>
        </p:nvSpPr>
        <p:spPr>
          <a:xfrm>
            <a:off x="8081272" y="2796959"/>
            <a:ext cx="3589908"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rPr>
              <a:t>解決策</a:t>
            </a:r>
            <a:endParaRPr kumimoji="1" lang="ja-JP" altLang="en-US" sz="2400" b="1" dirty="0">
              <a:solidFill>
                <a:schemeClr val="bg1"/>
              </a:solidFill>
            </a:endParaRPr>
          </a:p>
        </p:txBody>
      </p:sp>
      <p:cxnSp>
        <p:nvCxnSpPr>
          <p:cNvPr id="10" name="直線コネクタ 9">
            <a:extLst>
              <a:ext uri="{FF2B5EF4-FFF2-40B4-BE49-F238E27FC236}">
                <a16:creationId xmlns:a16="http://schemas.microsoft.com/office/drawing/2014/main" id="{D211F325-7621-8182-AF6F-0CF7B433D28B}"/>
              </a:ext>
            </a:extLst>
          </p:cNvPr>
          <p:cNvCxnSpPr>
            <a:cxnSpLocks/>
          </p:cNvCxnSpPr>
          <p:nvPr/>
        </p:nvCxnSpPr>
        <p:spPr>
          <a:xfrm>
            <a:off x="4057095" y="2707689"/>
            <a:ext cx="0" cy="4003829"/>
          </a:xfrm>
          <a:prstGeom prst="line">
            <a:avLst/>
          </a:prstGeom>
          <a:ln>
            <a:solidFill>
              <a:schemeClr val="tx1">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86E63EE5-9F40-7316-C246-1312271A9752}"/>
              </a:ext>
            </a:extLst>
          </p:cNvPr>
          <p:cNvCxnSpPr>
            <a:cxnSpLocks/>
          </p:cNvCxnSpPr>
          <p:nvPr/>
        </p:nvCxnSpPr>
        <p:spPr>
          <a:xfrm>
            <a:off x="7936637" y="2707689"/>
            <a:ext cx="0" cy="4003829"/>
          </a:xfrm>
          <a:prstGeom prst="line">
            <a:avLst/>
          </a:prstGeom>
          <a:ln>
            <a:solidFill>
              <a:schemeClr val="tx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BD7BA116-BEC1-F169-F75F-652777D7E313}"/>
              </a:ext>
            </a:extLst>
          </p:cNvPr>
          <p:cNvSpPr/>
          <p:nvPr/>
        </p:nvSpPr>
        <p:spPr>
          <a:xfrm>
            <a:off x="342900" y="3492282"/>
            <a:ext cx="3589908" cy="112410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kumimoji="1" lang="ja-JP" altLang="en-US" sz="1400" dirty="0">
                <a:solidFill>
                  <a:schemeClr val="tx1">
                    <a:lumMod val="75000"/>
                  </a:schemeClr>
                </a:solidFill>
              </a:rPr>
              <a:t>世界</a:t>
            </a:r>
            <a:r>
              <a:rPr lang="ja-JP" altLang="en-US" sz="1400" dirty="0">
                <a:solidFill>
                  <a:schemeClr val="tx1">
                    <a:lumMod val="75000"/>
                  </a:schemeClr>
                </a:solidFill>
              </a:rPr>
              <a:t>には従業員に関する無限の情報が浮遊している。</a:t>
            </a:r>
            <a:endParaRPr lang="en-US" altLang="ja-JP" sz="1400" dirty="0">
              <a:solidFill>
                <a:schemeClr val="tx1">
                  <a:lumMod val="75000"/>
                </a:schemeClr>
              </a:solidFill>
            </a:endParaRPr>
          </a:p>
          <a:p>
            <a:pPr marL="285750" indent="-285750">
              <a:buFont typeface="Arial" panose="020B0604020202020204" pitchFamily="34" charset="0"/>
              <a:buChar char="•"/>
            </a:pPr>
            <a:r>
              <a:rPr kumimoji="1" lang="ja-JP" altLang="en-US" sz="1400" dirty="0">
                <a:solidFill>
                  <a:schemeClr val="tx1">
                    <a:lumMod val="75000"/>
                  </a:schemeClr>
                </a:solidFill>
              </a:rPr>
              <a:t>現実に存在する従業員についての情報すべてを管理することに実現可能性はない</a:t>
            </a:r>
          </a:p>
        </p:txBody>
      </p:sp>
      <p:sp>
        <p:nvSpPr>
          <p:cNvPr id="12" name="正方形/長方形 11">
            <a:extLst>
              <a:ext uri="{FF2B5EF4-FFF2-40B4-BE49-F238E27FC236}">
                <a16:creationId xmlns:a16="http://schemas.microsoft.com/office/drawing/2014/main" id="{AD96654F-AD6E-4877-1105-582B14207BAB}"/>
              </a:ext>
            </a:extLst>
          </p:cNvPr>
          <p:cNvSpPr/>
          <p:nvPr/>
        </p:nvSpPr>
        <p:spPr>
          <a:xfrm>
            <a:off x="4217264" y="3492282"/>
            <a:ext cx="3589908" cy="112410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ja-JP" altLang="en-US" sz="1400" dirty="0">
                <a:solidFill>
                  <a:schemeClr val="tx1">
                    <a:lumMod val="75000"/>
                  </a:schemeClr>
                </a:solidFill>
              </a:rPr>
              <a:t>システムに必要な情報を取捨選択してテーブルに落とし込んでいく</a:t>
            </a:r>
            <a:endParaRPr lang="en-US" altLang="ja-JP" sz="1400" dirty="0">
              <a:solidFill>
                <a:schemeClr val="tx1">
                  <a:lumMod val="75000"/>
                </a:schemeClr>
              </a:solidFill>
            </a:endParaRPr>
          </a:p>
          <a:p>
            <a:pPr marL="285750" indent="-285750">
              <a:buFont typeface="Arial" panose="020B0604020202020204" pitchFamily="34" charset="0"/>
              <a:buChar char="•"/>
            </a:pPr>
            <a:r>
              <a:rPr lang="ja-JP" altLang="en-US" sz="1400" dirty="0">
                <a:solidFill>
                  <a:schemeClr val="tx1">
                    <a:lumMod val="75000"/>
                  </a:schemeClr>
                </a:solidFill>
              </a:rPr>
              <a:t>また、一つのテーブルで管理すべきでない情報についてはテーブルを複数に分割する</a:t>
            </a:r>
            <a:endParaRPr lang="en-US" altLang="ja-JP" sz="1400" dirty="0">
              <a:solidFill>
                <a:schemeClr val="tx1">
                  <a:lumMod val="75000"/>
                </a:schemeClr>
              </a:solidFill>
            </a:endParaRPr>
          </a:p>
          <a:p>
            <a:pPr marL="285750" indent="-285750">
              <a:buFont typeface="Arial" panose="020B0604020202020204" pitchFamily="34" charset="0"/>
              <a:buChar char="•"/>
            </a:pPr>
            <a:endParaRPr kumimoji="1" lang="ja-JP" altLang="en-US" sz="1400" dirty="0">
              <a:solidFill>
                <a:schemeClr val="tx1">
                  <a:lumMod val="75000"/>
                </a:schemeClr>
              </a:solidFill>
            </a:endParaRPr>
          </a:p>
        </p:txBody>
      </p:sp>
      <p:sp>
        <p:nvSpPr>
          <p:cNvPr id="14" name="正方形/長方形 13">
            <a:extLst>
              <a:ext uri="{FF2B5EF4-FFF2-40B4-BE49-F238E27FC236}">
                <a16:creationId xmlns:a16="http://schemas.microsoft.com/office/drawing/2014/main" id="{76468802-0C99-C52E-6CD5-D474E7024D90}"/>
              </a:ext>
            </a:extLst>
          </p:cNvPr>
          <p:cNvSpPr/>
          <p:nvPr/>
        </p:nvSpPr>
        <p:spPr>
          <a:xfrm>
            <a:off x="8091627" y="3492282"/>
            <a:ext cx="3589908" cy="112410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kumimoji="1" lang="ja-JP" altLang="en-US" sz="1400" dirty="0">
                <a:solidFill>
                  <a:schemeClr val="tx1">
                    <a:lumMod val="75000"/>
                  </a:schemeClr>
                </a:solidFill>
              </a:rPr>
              <a:t>分割したはよいが、「情報」としては両テーブルのものが欲しい→外部キーの活用</a:t>
            </a:r>
            <a:br>
              <a:rPr kumimoji="1" lang="en-US" altLang="ja-JP" sz="1400" dirty="0">
                <a:solidFill>
                  <a:schemeClr val="tx1">
                    <a:lumMod val="75000"/>
                  </a:schemeClr>
                </a:solidFill>
              </a:rPr>
            </a:br>
            <a:r>
              <a:rPr kumimoji="1" lang="ja-JP" altLang="en-US" sz="1400" dirty="0">
                <a:solidFill>
                  <a:schemeClr val="tx1">
                    <a:lumMod val="75000"/>
                  </a:schemeClr>
                </a:solidFill>
              </a:rPr>
              <a:t>（例</a:t>
            </a:r>
            <a:r>
              <a:rPr kumimoji="1" lang="en-US" altLang="ja-JP" sz="1400" dirty="0">
                <a:solidFill>
                  <a:schemeClr val="tx1">
                    <a:lumMod val="75000"/>
                  </a:schemeClr>
                </a:solidFill>
              </a:rPr>
              <a:t>.</a:t>
            </a:r>
            <a:r>
              <a:rPr kumimoji="1" lang="ja-JP" altLang="en-US" sz="1400" dirty="0">
                <a:solidFill>
                  <a:schemeClr val="tx1">
                    <a:lumMod val="75000"/>
                  </a:schemeClr>
                </a:solidFill>
              </a:rPr>
              <a:t>この給料額以上の社員の売上を知りたい）</a:t>
            </a:r>
            <a:endParaRPr kumimoji="1" lang="en-US" altLang="ja-JP" sz="1400" dirty="0">
              <a:solidFill>
                <a:schemeClr val="tx1">
                  <a:lumMod val="75000"/>
                </a:schemeClr>
              </a:solidFill>
            </a:endParaRPr>
          </a:p>
          <a:p>
            <a:pPr marL="285750" indent="-285750">
              <a:buFont typeface="Arial" panose="020B0604020202020204" pitchFamily="34" charset="0"/>
              <a:buChar char="•"/>
            </a:pPr>
            <a:r>
              <a:rPr lang="ja-JP" altLang="en-US" sz="1400" dirty="0">
                <a:solidFill>
                  <a:schemeClr val="tx1">
                    <a:lumMod val="75000"/>
                  </a:schemeClr>
                </a:solidFill>
              </a:rPr>
              <a:t>「正規化」</a:t>
            </a:r>
            <a:r>
              <a:rPr kumimoji="1" lang="ja-JP" altLang="en-US" sz="1400" dirty="0">
                <a:solidFill>
                  <a:schemeClr val="tx1">
                    <a:lumMod val="75000"/>
                  </a:schemeClr>
                </a:solidFill>
              </a:rPr>
              <a:t>を行って保守運用しやすくする</a:t>
            </a:r>
          </a:p>
        </p:txBody>
      </p:sp>
      <p:sp>
        <p:nvSpPr>
          <p:cNvPr id="17" name="テキスト ボックス 16">
            <a:extLst>
              <a:ext uri="{FF2B5EF4-FFF2-40B4-BE49-F238E27FC236}">
                <a16:creationId xmlns:a16="http://schemas.microsoft.com/office/drawing/2014/main" id="{883BEFDA-893E-B619-A4B3-0802915477FF}"/>
              </a:ext>
            </a:extLst>
          </p:cNvPr>
          <p:cNvSpPr txBox="1"/>
          <p:nvPr/>
        </p:nvSpPr>
        <p:spPr>
          <a:xfrm>
            <a:off x="393393" y="2102808"/>
            <a:ext cx="11405214" cy="369332"/>
          </a:xfrm>
          <a:prstGeom prst="rect">
            <a:avLst/>
          </a:prstGeom>
          <a:noFill/>
        </p:spPr>
        <p:txBody>
          <a:bodyPr wrap="square" rtlCol="0">
            <a:spAutoFit/>
          </a:bodyPr>
          <a:lstStyle/>
          <a:p>
            <a:r>
              <a:rPr kumimoji="1" lang="ja-JP" altLang="en-US" dirty="0"/>
              <a:t>例</a:t>
            </a:r>
            <a:r>
              <a:rPr kumimoji="1" lang="en-US" altLang="ja-JP" dirty="0"/>
              <a:t>.</a:t>
            </a:r>
            <a:r>
              <a:rPr kumimoji="1" lang="ja-JP" altLang="en-US" dirty="0"/>
              <a:t>従業員を管理するシステムを作るとする。</a:t>
            </a:r>
          </a:p>
        </p:txBody>
      </p:sp>
      <p:sp>
        <p:nvSpPr>
          <p:cNvPr id="20" name="楕円 19">
            <a:extLst>
              <a:ext uri="{FF2B5EF4-FFF2-40B4-BE49-F238E27FC236}">
                <a16:creationId xmlns:a16="http://schemas.microsoft.com/office/drawing/2014/main" id="{EB7FCE8E-157C-967E-ABDE-F530759746E5}"/>
              </a:ext>
            </a:extLst>
          </p:cNvPr>
          <p:cNvSpPr/>
          <p:nvPr/>
        </p:nvSpPr>
        <p:spPr>
          <a:xfrm>
            <a:off x="342900" y="5311787"/>
            <a:ext cx="1322771" cy="6036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社員</a:t>
            </a:r>
            <a:r>
              <a:rPr lang="en-US" altLang="ja-JP" sz="1400" dirty="0">
                <a:solidFill>
                  <a:schemeClr val="tx1">
                    <a:lumMod val="75000"/>
                  </a:schemeClr>
                </a:solidFill>
              </a:rPr>
              <a:t>ID</a:t>
            </a:r>
            <a:endParaRPr lang="ja-JP" altLang="en-US" sz="1400" dirty="0">
              <a:solidFill>
                <a:schemeClr val="tx1">
                  <a:lumMod val="75000"/>
                </a:schemeClr>
              </a:solidFill>
            </a:endParaRPr>
          </a:p>
        </p:txBody>
      </p:sp>
      <p:sp>
        <p:nvSpPr>
          <p:cNvPr id="21" name="楕円 20">
            <a:extLst>
              <a:ext uri="{FF2B5EF4-FFF2-40B4-BE49-F238E27FC236}">
                <a16:creationId xmlns:a16="http://schemas.microsoft.com/office/drawing/2014/main" id="{D3B325C5-8AF6-9849-E4A0-CC2ACF95C33C}"/>
              </a:ext>
            </a:extLst>
          </p:cNvPr>
          <p:cNvSpPr/>
          <p:nvPr/>
        </p:nvSpPr>
        <p:spPr>
          <a:xfrm>
            <a:off x="1298266" y="5167191"/>
            <a:ext cx="1322771" cy="6036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扶養家族</a:t>
            </a:r>
          </a:p>
        </p:txBody>
      </p:sp>
      <p:sp>
        <p:nvSpPr>
          <p:cNvPr id="22" name="楕円 21">
            <a:extLst>
              <a:ext uri="{FF2B5EF4-FFF2-40B4-BE49-F238E27FC236}">
                <a16:creationId xmlns:a16="http://schemas.microsoft.com/office/drawing/2014/main" id="{01C03B23-5D96-9757-BA3D-3B35E86180D3}"/>
              </a:ext>
            </a:extLst>
          </p:cNvPr>
          <p:cNvSpPr/>
          <p:nvPr/>
        </p:nvSpPr>
        <p:spPr>
          <a:xfrm>
            <a:off x="1147625" y="4721652"/>
            <a:ext cx="1322771" cy="6036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所属部署</a:t>
            </a:r>
          </a:p>
        </p:txBody>
      </p:sp>
      <p:sp>
        <p:nvSpPr>
          <p:cNvPr id="23" name="楕円 22">
            <a:extLst>
              <a:ext uri="{FF2B5EF4-FFF2-40B4-BE49-F238E27FC236}">
                <a16:creationId xmlns:a16="http://schemas.microsoft.com/office/drawing/2014/main" id="{35EF5E1B-E09C-2D04-D5E1-EA635DDC00E8}"/>
              </a:ext>
            </a:extLst>
          </p:cNvPr>
          <p:cNvSpPr/>
          <p:nvPr/>
        </p:nvSpPr>
        <p:spPr>
          <a:xfrm>
            <a:off x="2137854" y="4677473"/>
            <a:ext cx="1322771" cy="6036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直属上長</a:t>
            </a:r>
          </a:p>
        </p:txBody>
      </p:sp>
      <p:sp>
        <p:nvSpPr>
          <p:cNvPr id="24" name="楕円 23">
            <a:extLst>
              <a:ext uri="{FF2B5EF4-FFF2-40B4-BE49-F238E27FC236}">
                <a16:creationId xmlns:a16="http://schemas.microsoft.com/office/drawing/2014/main" id="{393F5BCC-9FA5-B09C-F608-0FF7734B4391}"/>
              </a:ext>
            </a:extLst>
          </p:cNvPr>
          <p:cNvSpPr/>
          <p:nvPr/>
        </p:nvSpPr>
        <p:spPr>
          <a:xfrm>
            <a:off x="2537718" y="5083106"/>
            <a:ext cx="1322771" cy="6036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給料</a:t>
            </a:r>
          </a:p>
        </p:txBody>
      </p:sp>
      <p:sp>
        <p:nvSpPr>
          <p:cNvPr id="25" name="楕円 24">
            <a:extLst>
              <a:ext uri="{FF2B5EF4-FFF2-40B4-BE49-F238E27FC236}">
                <a16:creationId xmlns:a16="http://schemas.microsoft.com/office/drawing/2014/main" id="{C0D40516-13FE-85BB-815A-E0B8CCCE6DE8}"/>
              </a:ext>
            </a:extLst>
          </p:cNvPr>
          <p:cNvSpPr/>
          <p:nvPr/>
        </p:nvSpPr>
        <p:spPr>
          <a:xfrm>
            <a:off x="917910" y="5661837"/>
            <a:ext cx="1322771" cy="6036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売上</a:t>
            </a:r>
          </a:p>
        </p:txBody>
      </p:sp>
      <p:sp>
        <p:nvSpPr>
          <p:cNvPr id="26" name="楕円 25">
            <a:extLst>
              <a:ext uri="{FF2B5EF4-FFF2-40B4-BE49-F238E27FC236}">
                <a16:creationId xmlns:a16="http://schemas.microsoft.com/office/drawing/2014/main" id="{AE94612C-A246-CAA7-FA67-F62F26DE8942}"/>
              </a:ext>
            </a:extLst>
          </p:cNvPr>
          <p:cNvSpPr/>
          <p:nvPr/>
        </p:nvSpPr>
        <p:spPr>
          <a:xfrm>
            <a:off x="2008206" y="5552268"/>
            <a:ext cx="1322771" cy="6036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従業員</a:t>
            </a:r>
            <a:endParaRPr lang="en-US" altLang="ja-JP" sz="1400" dirty="0">
              <a:solidFill>
                <a:schemeClr val="tx1">
                  <a:lumMod val="75000"/>
                </a:schemeClr>
              </a:solidFill>
            </a:endParaRPr>
          </a:p>
          <a:p>
            <a:pPr algn="ctr"/>
            <a:r>
              <a:rPr lang="ja-JP" altLang="en-US" sz="1400" dirty="0">
                <a:solidFill>
                  <a:schemeClr val="tx1">
                    <a:lumMod val="75000"/>
                  </a:schemeClr>
                </a:solidFill>
              </a:rPr>
              <a:t>住所</a:t>
            </a:r>
          </a:p>
        </p:txBody>
      </p:sp>
      <p:sp>
        <p:nvSpPr>
          <p:cNvPr id="27" name="楕円 26">
            <a:extLst>
              <a:ext uri="{FF2B5EF4-FFF2-40B4-BE49-F238E27FC236}">
                <a16:creationId xmlns:a16="http://schemas.microsoft.com/office/drawing/2014/main" id="{F8655AE7-AEA4-74C5-74B6-4936AC83BC8B}"/>
              </a:ext>
            </a:extLst>
          </p:cNvPr>
          <p:cNvSpPr/>
          <p:nvPr/>
        </p:nvSpPr>
        <p:spPr>
          <a:xfrm>
            <a:off x="322376" y="5943737"/>
            <a:ext cx="1322771" cy="6036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身長</a:t>
            </a:r>
          </a:p>
        </p:txBody>
      </p:sp>
      <p:sp>
        <p:nvSpPr>
          <p:cNvPr id="19" name="楕円 18">
            <a:extLst>
              <a:ext uri="{FF2B5EF4-FFF2-40B4-BE49-F238E27FC236}">
                <a16:creationId xmlns:a16="http://schemas.microsoft.com/office/drawing/2014/main" id="{1FDF2E1A-7EDE-9243-077D-CCA229811A35}"/>
              </a:ext>
            </a:extLst>
          </p:cNvPr>
          <p:cNvSpPr/>
          <p:nvPr/>
        </p:nvSpPr>
        <p:spPr>
          <a:xfrm>
            <a:off x="186435" y="4870022"/>
            <a:ext cx="1322771" cy="6036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社員名</a:t>
            </a:r>
          </a:p>
        </p:txBody>
      </p:sp>
      <p:sp>
        <p:nvSpPr>
          <p:cNvPr id="28" name="楕円 27">
            <a:extLst>
              <a:ext uri="{FF2B5EF4-FFF2-40B4-BE49-F238E27FC236}">
                <a16:creationId xmlns:a16="http://schemas.microsoft.com/office/drawing/2014/main" id="{BBC2F3E6-6DB4-7307-440B-8832017377FC}"/>
              </a:ext>
            </a:extLst>
          </p:cNvPr>
          <p:cNvSpPr/>
          <p:nvPr/>
        </p:nvSpPr>
        <p:spPr>
          <a:xfrm>
            <a:off x="1590770" y="6086376"/>
            <a:ext cx="1322771" cy="6036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給料</a:t>
            </a:r>
            <a:endParaRPr lang="en-US" altLang="ja-JP" sz="1400" dirty="0">
              <a:solidFill>
                <a:schemeClr val="tx1">
                  <a:lumMod val="75000"/>
                </a:schemeClr>
              </a:solidFill>
            </a:endParaRPr>
          </a:p>
          <a:p>
            <a:pPr algn="ctr"/>
            <a:r>
              <a:rPr lang="ja-JP" altLang="en-US" sz="1400" dirty="0">
                <a:solidFill>
                  <a:schemeClr val="tx1">
                    <a:lumMod val="75000"/>
                  </a:schemeClr>
                </a:solidFill>
              </a:rPr>
              <a:t>支払日</a:t>
            </a:r>
          </a:p>
        </p:txBody>
      </p:sp>
      <p:sp>
        <p:nvSpPr>
          <p:cNvPr id="29" name="楕円 28">
            <a:extLst>
              <a:ext uri="{FF2B5EF4-FFF2-40B4-BE49-F238E27FC236}">
                <a16:creationId xmlns:a16="http://schemas.microsoft.com/office/drawing/2014/main" id="{A78F6E5F-7F4E-DCBA-267C-BD61045F09EB}"/>
              </a:ext>
            </a:extLst>
          </p:cNvPr>
          <p:cNvSpPr/>
          <p:nvPr/>
        </p:nvSpPr>
        <p:spPr>
          <a:xfrm>
            <a:off x="2594690" y="5963072"/>
            <a:ext cx="1322771" cy="6036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従業員</a:t>
            </a:r>
            <a:endParaRPr lang="en-US" altLang="ja-JP" sz="1400" dirty="0">
              <a:solidFill>
                <a:schemeClr val="tx1">
                  <a:lumMod val="75000"/>
                </a:schemeClr>
              </a:solidFill>
            </a:endParaRPr>
          </a:p>
          <a:p>
            <a:pPr algn="ctr"/>
            <a:r>
              <a:rPr lang="ja-JP" altLang="en-US" sz="1400" dirty="0">
                <a:solidFill>
                  <a:schemeClr val="tx1">
                    <a:lumMod val="75000"/>
                  </a:schemeClr>
                </a:solidFill>
              </a:rPr>
              <a:t>出身地</a:t>
            </a:r>
          </a:p>
        </p:txBody>
      </p:sp>
      <p:sp>
        <p:nvSpPr>
          <p:cNvPr id="30" name="正方形/長方形 29">
            <a:extLst>
              <a:ext uri="{FF2B5EF4-FFF2-40B4-BE49-F238E27FC236}">
                <a16:creationId xmlns:a16="http://schemas.microsoft.com/office/drawing/2014/main" id="{340DAA79-4530-5951-86B5-026BEE441624}"/>
              </a:ext>
            </a:extLst>
          </p:cNvPr>
          <p:cNvSpPr/>
          <p:nvPr/>
        </p:nvSpPr>
        <p:spPr>
          <a:xfrm>
            <a:off x="4332672" y="4870022"/>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従業員テーブル</a:t>
            </a:r>
          </a:p>
        </p:txBody>
      </p:sp>
      <p:sp>
        <p:nvSpPr>
          <p:cNvPr id="31" name="正方形/長方形 30">
            <a:extLst>
              <a:ext uri="{FF2B5EF4-FFF2-40B4-BE49-F238E27FC236}">
                <a16:creationId xmlns:a16="http://schemas.microsoft.com/office/drawing/2014/main" id="{993E7133-57B9-0D04-BFCF-8D0DB35AC48A}"/>
              </a:ext>
            </a:extLst>
          </p:cNvPr>
          <p:cNvSpPr/>
          <p:nvPr/>
        </p:nvSpPr>
        <p:spPr>
          <a:xfrm>
            <a:off x="4332672" y="5789512"/>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給料テーブル</a:t>
            </a:r>
            <a:endParaRPr kumimoji="1" lang="ja-JP" altLang="en-US" sz="1400" dirty="0">
              <a:solidFill>
                <a:schemeClr val="tx1">
                  <a:lumMod val="75000"/>
                </a:schemeClr>
              </a:solidFill>
            </a:endParaRPr>
          </a:p>
        </p:txBody>
      </p:sp>
      <p:sp>
        <p:nvSpPr>
          <p:cNvPr id="32" name="正方形/長方形 31">
            <a:extLst>
              <a:ext uri="{FF2B5EF4-FFF2-40B4-BE49-F238E27FC236}">
                <a16:creationId xmlns:a16="http://schemas.microsoft.com/office/drawing/2014/main" id="{334AA336-3BA7-E0AB-8BE5-2C594803869B}"/>
              </a:ext>
            </a:extLst>
          </p:cNvPr>
          <p:cNvSpPr/>
          <p:nvPr/>
        </p:nvSpPr>
        <p:spPr>
          <a:xfrm>
            <a:off x="8087924" y="4870022"/>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従業員テーブル</a:t>
            </a:r>
          </a:p>
        </p:txBody>
      </p:sp>
      <p:sp>
        <p:nvSpPr>
          <p:cNvPr id="33" name="正方形/長方形 32">
            <a:extLst>
              <a:ext uri="{FF2B5EF4-FFF2-40B4-BE49-F238E27FC236}">
                <a16:creationId xmlns:a16="http://schemas.microsoft.com/office/drawing/2014/main" id="{B9B9D209-22B2-5581-B7EB-504BE5405180}"/>
              </a:ext>
            </a:extLst>
          </p:cNvPr>
          <p:cNvSpPr/>
          <p:nvPr/>
        </p:nvSpPr>
        <p:spPr>
          <a:xfrm>
            <a:off x="8087924" y="5789512"/>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給料テーブル</a:t>
            </a:r>
            <a:endParaRPr kumimoji="1" lang="ja-JP" altLang="en-US" sz="1400" dirty="0">
              <a:solidFill>
                <a:schemeClr val="tx1">
                  <a:lumMod val="75000"/>
                </a:schemeClr>
              </a:solidFill>
            </a:endParaRPr>
          </a:p>
        </p:txBody>
      </p:sp>
      <p:sp>
        <p:nvSpPr>
          <p:cNvPr id="35" name="楕円 34">
            <a:extLst>
              <a:ext uri="{FF2B5EF4-FFF2-40B4-BE49-F238E27FC236}">
                <a16:creationId xmlns:a16="http://schemas.microsoft.com/office/drawing/2014/main" id="{5EBE31B2-83B5-8472-E018-63E5E9BC74A1}"/>
              </a:ext>
            </a:extLst>
          </p:cNvPr>
          <p:cNvSpPr/>
          <p:nvPr/>
        </p:nvSpPr>
        <p:spPr>
          <a:xfrm>
            <a:off x="9529993" y="5541476"/>
            <a:ext cx="857777" cy="391469"/>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lumMod val="75000"/>
                  </a:schemeClr>
                </a:solidFill>
              </a:rPr>
              <a:t>社員</a:t>
            </a:r>
            <a:r>
              <a:rPr lang="en-US" altLang="ja-JP" sz="800" dirty="0">
                <a:solidFill>
                  <a:schemeClr val="tx1">
                    <a:lumMod val="75000"/>
                  </a:schemeClr>
                </a:solidFill>
              </a:rPr>
              <a:t>ID</a:t>
            </a:r>
            <a:endParaRPr lang="ja-JP" altLang="en-US" sz="800" dirty="0">
              <a:solidFill>
                <a:schemeClr val="tx1">
                  <a:lumMod val="75000"/>
                </a:schemeClr>
              </a:solidFill>
            </a:endParaRPr>
          </a:p>
        </p:txBody>
      </p:sp>
      <p:cxnSp>
        <p:nvCxnSpPr>
          <p:cNvPr id="37" name="直線矢印コネクタ 36">
            <a:extLst>
              <a:ext uri="{FF2B5EF4-FFF2-40B4-BE49-F238E27FC236}">
                <a16:creationId xmlns:a16="http://schemas.microsoft.com/office/drawing/2014/main" id="{F87BC8FF-7019-5795-F026-D8D4CC451852}"/>
              </a:ext>
            </a:extLst>
          </p:cNvPr>
          <p:cNvCxnSpPr>
            <a:cxnSpLocks/>
            <a:stCxn id="32" idx="3"/>
            <a:endCxn id="35" idx="0"/>
          </p:cNvCxnSpPr>
          <p:nvPr/>
        </p:nvCxnSpPr>
        <p:spPr>
          <a:xfrm>
            <a:off x="9545924" y="5166886"/>
            <a:ext cx="412958" cy="374590"/>
          </a:xfrm>
          <a:prstGeom prst="curvedConnector2">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8" name="直線矢印コネクタ 36">
            <a:extLst>
              <a:ext uri="{FF2B5EF4-FFF2-40B4-BE49-F238E27FC236}">
                <a16:creationId xmlns:a16="http://schemas.microsoft.com/office/drawing/2014/main" id="{9E50E598-1BB8-C811-8320-EC30E4DB2417}"/>
              </a:ext>
            </a:extLst>
          </p:cNvPr>
          <p:cNvCxnSpPr>
            <a:cxnSpLocks/>
            <a:stCxn id="33" idx="3"/>
            <a:endCxn id="35" idx="4"/>
          </p:cNvCxnSpPr>
          <p:nvPr/>
        </p:nvCxnSpPr>
        <p:spPr>
          <a:xfrm flipV="1">
            <a:off x="9545924" y="5932945"/>
            <a:ext cx="412958" cy="153431"/>
          </a:xfrm>
          <a:prstGeom prst="curvedConnector2">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6" name="楕円 45">
            <a:extLst>
              <a:ext uri="{FF2B5EF4-FFF2-40B4-BE49-F238E27FC236}">
                <a16:creationId xmlns:a16="http://schemas.microsoft.com/office/drawing/2014/main" id="{0AA95A84-7958-067B-5FB0-1763D93F0C8C}"/>
              </a:ext>
            </a:extLst>
          </p:cNvPr>
          <p:cNvSpPr/>
          <p:nvPr/>
        </p:nvSpPr>
        <p:spPr>
          <a:xfrm>
            <a:off x="10054146" y="5168157"/>
            <a:ext cx="857777" cy="391469"/>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lumMod val="75000"/>
                  </a:schemeClr>
                </a:solidFill>
              </a:rPr>
              <a:t>部署番号</a:t>
            </a:r>
          </a:p>
        </p:txBody>
      </p:sp>
      <p:sp>
        <p:nvSpPr>
          <p:cNvPr id="48" name="正方形/長方形 47">
            <a:extLst>
              <a:ext uri="{FF2B5EF4-FFF2-40B4-BE49-F238E27FC236}">
                <a16:creationId xmlns:a16="http://schemas.microsoft.com/office/drawing/2014/main" id="{437903E3-451D-4854-3BB5-0716B6943921}"/>
              </a:ext>
            </a:extLst>
          </p:cNvPr>
          <p:cNvSpPr/>
          <p:nvPr/>
        </p:nvSpPr>
        <p:spPr>
          <a:xfrm>
            <a:off x="10687882" y="5570039"/>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lumMod val="75000"/>
                  </a:schemeClr>
                </a:solidFill>
              </a:rPr>
              <a:t>部署テーブル</a:t>
            </a:r>
          </a:p>
        </p:txBody>
      </p:sp>
      <p:cxnSp>
        <p:nvCxnSpPr>
          <p:cNvPr id="49" name="直線矢印コネクタ 36">
            <a:extLst>
              <a:ext uri="{FF2B5EF4-FFF2-40B4-BE49-F238E27FC236}">
                <a16:creationId xmlns:a16="http://schemas.microsoft.com/office/drawing/2014/main" id="{E26432AA-46C5-E476-9E4C-B9F152A0E482}"/>
              </a:ext>
            </a:extLst>
          </p:cNvPr>
          <p:cNvCxnSpPr>
            <a:cxnSpLocks/>
            <a:stCxn id="46" idx="6"/>
            <a:endCxn id="48" idx="0"/>
          </p:cNvCxnSpPr>
          <p:nvPr/>
        </p:nvCxnSpPr>
        <p:spPr>
          <a:xfrm>
            <a:off x="10911923" y="5363892"/>
            <a:ext cx="504959" cy="206147"/>
          </a:xfrm>
          <a:prstGeom prst="curvedConnector2">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2" name="直線矢印コネクタ 36">
            <a:extLst>
              <a:ext uri="{FF2B5EF4-FFF2-40B4-BE49-F238E27FC236}">
                <a16:creationId xmlns:a16="http://schemas.microsoft.com/office/drawing/2014/main" id="{F4004FC9-859D-FBCA-3FB9-A76D7BA7CED2}"/>
              </a:ext>
            </a:extLst>
          </p:cNvPr>
          <p:cNvCxnSpPr>
            <a:cxnSpLocks/>
            <a:stCxn id="32" idx="3"/>
            <a:endCxn id="46" idx="6"/>
          </p:cNvCxnSpPr>
          <p:nvPr/>
        </p:nvCxnSpPr>
        <p:spPr>
          <a:xfrm>
            <a:off x="9545924" y="5166886"/>
            <a:ext cx="1365999" cy="197006"/>
          </a:xfrm>
          <a:prstGeom prst="curvedConnector3">
            <a:avLst>
              <a:gd name="adj1" fmla="val 116735"/>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59" name="テキスト ボックス 58">
            <a:extLst>
              <a:ext uri="{FF2B5EF4-FFF2-40B4-BE49-F238E27FC236}">
                <a16:creationId xmlns:a16="http://schemas.microsoft.com/office/drawing/2014/main" id="{2B7F2C3B-7EF3-2189-8BFF-D515E6609F1C}"/>
              </a:ext>
            </a:extLst>
          </p:cNvPr>
          <p:cNvSpPr txBox="1"/>
          <p:nvPr/>
        </p:nvSpPr>
        <p:spPr>
          <a:xfrm>
            <a:off x="5947315" y="4907253"/>
            <a:ext cx="1834333" cy="523220"/>
          </a:xfrm>
          <a:prstGeom prst="rect">
            <a:avLst/>
          </a:prstGeom>
          <a:noFill/>
        </p:spPr>
        <p:txBody>
          <a:bodyPr wrap="square" rtlCol="0">
            <a:spAutoFit/>
          </a:bodyPr>
          <a:lstStyle/>
          <a:p>
            <a:r>
              <a:rPr kumimoji="1" lang="ja-JP" altLang="en-US" sz="1400" dirty="0"/>
              <a:t>社員</a:t>
            </a:r>
            <a:r>
              <a:rPr kumimoji="1" lang="en-US" altLang="ja-JP" sz="1400" dirty="0"/>
              <a:t>ID</a:t>
            </a:r>
            <a:r>
              <a:rPr kumimoji="1" lang="ja-JP" altLang="en-US" sz="1400" dirty="0"/>
              <a:t>、社員名、</a:t>
            </a:r>
            <a:br>
              <a:rPr kumimoji="1" lang="en-US" altLang="ja-JP" sz="1400" dirty="0"/>
            </a:br>
            <a:r>
              <a:rPr kumimoji="1" lang="ja-JP" altLang="en-US" sz="1400" dirty="0"/>
              <a:t>売上、所属部署</a:t>
            </a:r>
            <a:r>
              <a:rPr kumimoji="1" lang="en-US" altLang="ja-JP" sz="1400" dirty="0"/>
              <a:t>…</a:t>
            </a:r>
            <a:endParaRPr kumimoji="1" lang="ja-JP" altLang="en-US" sz="1400" dirty="0"/>
          </a:p>
        </p:txBody>
      </p:sp>
      <p:sp>
        <p:nvSpPr>
          <p:cNvPr id="60" name="テキスト ボックス 59">
            <a:extLst>
              <a:ext uri="{FF2B5EF4-FFF2-40B4-BE49-F238E27FC236}">
                <a16:creationId xmlns:a16="http://schemas.microsoft.com/office/drawing/2014/main" id="{4120CC9B-954D-E278-69B8-34DC98932C35}"/>
              </a:ext>
            </a:extLst>
          </p:cNvPr>
          <p:cNvSpPr txBox="1"/>
          <p:nvPr/>
        </p:nvSpPr>
        <p:spPr>
          <a:xfrm>
            <a:off x="5947315" y="5837883"/>
            <a:ext cx="1834333" cy="523220"/>
          </a:xfrm>
          <a:prstGeom prst="rect">
            <a:avLst/>
          </a:prstGeom>
          <a:noFill/>
        </p:spPr>
        <p:txBody>
          <a:bodyPr wrap="square" rtlCol="0">
            <a:spAutoFit/>
          </a:bodyPr>
          <a:lstStyle/>
          <a:p>
            <a:r>
              <a:rPr kumimoji="1" lang="ja-JP" altLang="en-US" sz="1400" dirty="0"/>
              <a:t>社員</a:t>
            </a:r>
            <a:r>
              <a:rPr kumimoji="1" lang="en-US" altLang="ja-JP" sz="1400" dirty="0"/>
              <a:t>ID</a:t>
            </a:r>
            <a:r>
              <a:rPr kumimoji="1" lang="ja-JP" altLang="en-US" sz="1400" dirty="0"/>
              <a:t>、給料</a:t>
            </a:r>
            <a:r>
              <a:rPr kumimoji="1" lang="en-US" altLang="ja-JP" sz="1400" dirty="0"/>
              <a:t>ID</a:t>
            </a:r>
            <a:r>
              <a:rPr kumimoji="1" lang="ja-JP" altLang="en-US" sz="1400" dirty="0"/>
              <a:t>、</a:t>
            </a:r>
            <a:br>
              <a:rPr kumimoji="1" lang="en-US" altLang="ja-JP" sz="1400" dirty="0"/>
            </a:br>
            <a:r>
              <a:rPr lang="ja-JP" altLang="en-US" sz="1400" dirty="0"/>
              <a:t>給料</a:t>
            </a:r>
            <a:r>
              <a:rPr kumimoji="1" lang="ja-JP" altLang="en-US" sz="1400" dirty="0"/>
              <a:t>、給料支払日</a:t>
            </a:r>
            <a:r>
              <a:rPr kumimoji="1" lang="en-US" altLang="ja-JP" sz="1400" dirty="0"/>
              <a:t>…</a:t>
            </a:r>
            <a:endParaRPr kumimoji="1" lang="ja-JP" altLang="en-US" sz="1400" dirty="0"/>
          </a:p>
        </p:txBody>
      </p:sp>
    </p:spTree>
    <p:extLst>
      <p:ext uri="{BB962C8B-B14F-4D97-AF65-F5344CB8AC3E}">
        <p14:creationId xmlns:p14="http://schemas.microsoft.com/office/powerpoint/2010/main" val="533046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CCFE6-0218-66F2-23AC-25DCBCEE39C3}"/>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319F1E35-67A5-9C1D-019E-601101BE438C}"/>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E6376E3C-8AD4-65F1-8E22-0237B616F4BE}"/>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テーブルが「集合」になっているのであれば「ベン図」でイメージを掴んで一見複雑に見える</a:t>
            </a:r>
            <a:r>
              <a:rPr lang="en-US" altLang="ja-JP" sz="2800" dirty="0"/>
              <a:t>SELECT</a:t>
            </a:r>
            <a:r>
              <a:rPr lang="ja-JP" altLang="en-US" sz="2800" dirty="0"/>
              <a:t>文を理解、記述することができる。</a:t>
            </a:r>
            <a:endParaRPr lang="en-US" altLang="ja-JP" sz="2800" dirty="0"/>
          </a:p>
        </p:txBody>
      </p:sp>
      <p:sp>
        <p:nvSpPr>
          <p:cNvPr id="4" name="タイトル プレースホルダー 1">
            <a:extLst>
              <a:ext uri="{FF2B5EF4-FFF2-40B4-BE49-F238E27FC236}">
                <a16:creationId xmlns:a16="http://schemas.microsoft.com/office/drawing/2014/main" id="{BCD56387-3AF6-7EA0-D65D-EE1E8C431F5C}"/>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「集合」としてのテーブル</a:t>
            </a:r>
            <a:endParaRPr lang="en-US" altLang="ja-JP" dirty="0"/>
          </a:p>
        </p:txBody>
      </p:sp>
      <p:sp>
        <p:nvSpPr>
          <p:cNvPr id="5" name="タイトル プレースホルダー 1">
            <a:extLst>
              <a:ext uri="{FF2B5EF4-FFF2-40B4-BE49-F238E27FC236}">
                <a16:creationId xmlns:a16="http://schemas.microsoft.com/office/drawing/2014/main" id="{1CF2EF59-B7DF-93AA-7F24-CF4BB7F30DC1}"/>
              </a:ext>
            </a:extLst>
          </p:cNvPr>
          <p:cNvSpPr txBox="1">
            <a:spLocks/>
          </p:cNvSpPr>
          <p:nvPr/>
        </p:nvSpPr>
        <p:spPr>
          <a:xfrm>
            <a:off x="355600" y="2730501"/>
            <a:ext cx="5448300" cy="87383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以下は</a:t>
            </a:r>
            <a:r>
              <a:rPr lang="en-US" altLang="ja-JP" sz="1800" dirty="0"/>
              <a:t>2</a:t>
            </a:r>
            <a:r>
              <a:rPr lang="ja-JP" altLang="en-US" sz="1800" dirty="0"/>
              <a:t>つのテーブルを結合し、条件を付与した情報同士を比較して両者の「共通部分」</a:t>
            </a:r>
            <a:r>
              <a:rPr lang="en-US" altLang="ja-JP" sz="1800" dirty="0"/>
              <a:t>(INTERSECT)</a:t>
            </a:r>
            <a:r>
              <a:rPr lang="ja-JP" altLang="en-US" sz="1800" dirty="0"/>
              <a:t>だけを取り出す</a:t>
            </a:r>
            <a:r>
              <a:rPr lang="en-US" altLang="ja-JP" sz="1800" dirty="0"/>
              <a:t>SELECT</a:t>
            </a:r>
            <a:r>
              <a:rPr lang="ja-JP" altLang="en-US" sz="1800" dirty="0"/>
              <a:t>文を記載している。</a:t>
            </a:r>
            <a:endParaRPr lang="en-US" altLang="ja-JP" sz="1800" dirty="0"/>
          </a:p>
        </p:txBody>
      </p:sp>
      <p:sp>
        <p:nvSpPr>
          <p:cNvPr id="7" name="正方形/長方形 6">
            <a:extLst>
              <a:ext uri="{FF2B5EF4-FFF2-40B4-BE49-F238E27FC236}">
                <a16:creationId xmlns:a16="http://schemas.microsoft.com/office/drawing/2014/main" id="{C61FA50C-81FA-9CED-1AFD-3A99478BD3E6}"/>
              </a:ext>
            </a:extLst>
          </p:cNvPr>
          <p:cNvSpPr/>
          <p:nvPr/>
        </p:nvSpPr>
        <p:spPr>
          <a:xfrm>
            <a:off x="3429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bg1"/>
                </a:solidFill>
              </a:rPr>
              <a:t>SQL</a:t>
            </a:r>
            <a:r>
              <a:rPr kumimoji="1" lang="ja-JP" altLang="en-US" sz="2400" b="1" dirty="0">
                <a:solidFill>
                  <a:schemeClr val="bg1"/>
                </a:solidFill>
              </a:rPr>
              <a:t>文は一見</a:t>
            </a:r>
            <a:r>
              <a:rPr lang="ja-JP" altLang="en-US" sz="2400" b="1" dirty="0">
                <a:solidFill>
                  <a:schemeClr val="bg1"/>
                </a:solidFill>
              </a:rPr>
              <a:t>長くて</a:t>
            </a:r>
            <a:r>
              <a:rPr kumimoji="1" lang="ja-JP" altLang="en-US" sz="2400" b="1" dirty="0">
                <a:solidFill>
                  <a:schemeClr val="bg1"/>
                </a:solidFill>
              </a:rPr>
              <a:t>複雑</a:t>
            </a:r>
          </a:p>
        </p:txBody>
      </p:sp>
      <p:sp>
        <p:nvSpPr>
          <p:cNvPr id="8" name="正方形/長方形 7">
            <a:extLst>
              <a:ext uri="{FF2B5EF4-FFF2-40B4-BE49-F238E27FC236}">
                <a16:creationId xmlns:a16="http://schemas.microsoft.com/office/drawing/2014/main" id="{5E84E768-0257-8795-F9CE-31FB53678273}"/>
              </a:ext>
            </a:extLst>
          </p:cNvPr>
          <p:cNvSpPr/>
          <p:nvPr/>
        </p:nvSpPr>
        <p:spPr>
          <a:xfrm>
            <a:off x="64135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rPr>
              <a:t>ベン図をイメージする</a:t>
            </a:r>
            <a:endParaRPr kumimoji="1" lang="ja-JP" altLang="en-US" sz="2400" b="1" dirty="0">
              <a:solidFill>
                <a:schemeClr val="bg1"/>
              </a:solidFill>
            </a:endParaRPr>
          </a:p>
        </p:txBody>
      </p:sp>
      <p:pic>
        <p:nvPicPr>
          <p:cNvPr id="10" name="図 9">
            <a:extLst>
              <a:ext uri="{FF2B5EF4-FFF2-40B4-BE49-F238E27FC236}">
                <a16:creationId xmlns:a16="http://schemas.microsoft.com/office/drawing/2014/main" id="{4F882C6E-771E-4A72-6B92-19A575270515}"/>
              </a:ext>
            </a:extLst>
          </p:cNvPr>
          <p:cNvPicPr>
            <a:picLocks noChangeAspect="1"/>
          </p:cNvPicPr>
          <p:nvPr/>
        </p:nvPicPr>
        <p:blipFill>
          <a:blip r:embed="rId2"/>
          <a:stretch>
            <a:fillRect/>
          </a:stretch>
        </p:blipFill>
        <p:spPr>
          <a:xfrm>
            <a:off x="355600" y="3604335"/>
            <a:ext cx="2553602" cy="3001091"/>
          </a:xfrm>
          <a:prstGeom prst="rect">
            <a:avLst/>
          </a:prstGeom>
        </p:spPr>
      </p:pic>
      <p:cxnSp>
        <p:nvCxnSpPr>
          <p:cNvPr id="11" name="直線コネクタ 10">
            <a:extLst>
              <a:ext uri="{FF2B5EF4-FFF2-40B4-BE49-F238E27FC236}">
                <a16:creationId xmlns:a16="http://schemas.microsoft.com/office/drawing/2014/main" id="{6B80215A-54CD-3A7D-A928-920749814B5F}"/>
              </a:ext>
            </a:extLst>
          </p:cNvPr>
          <p:cNvCxnSpPr>
            <a:cxnSpLocks/>
          </p:cNvCxnSpPr>
          <p:nvPr/>
        </p:nvCxnSpPr>
        <p:spPr>
          <a:xfrm>
            <a:off x="6096000" y="2184400"/>
            <a:ext cx="0" cy="4421026"/>
          </a:xfrm>
          <a:prstGeom prst="line">
            <a:avLst/>
          </a:prstGeom>
          <a:ln>
            <a:solidFill>
              <a:schemeClr val="tx1">
                <a:lumMod val="7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17" name="グループ化 16">
            <a:extLst>
              <a:ext uri="{FF2B5EF4-FFF2-40B4-BE49-F238E27FC236}">
                <a16:creationId xmlns:a16="http://schemas.microsoft.com/office/drawing/2014/main" id="{68D42259-9A7A-FAE6-C2CE-12C33209A8F9}"/>
              </a:ext>
            </a:extLst>
          </p:cNvPr>
          <p:cNvGrpSpPr/>
          <p:nvPr/>
        </p:nvGrpSpPr>
        <p:grpSpPr>
          <a:xfrm>
            <a:off x="6413500" y="2960241"/>
            <a:ext cx="2109091" cy="1288187"/>
            <a:chOff x="6237180" y="2788514"/>
            <a:chExt cx="2965142" cy="1811044"/>
          </a:xfrm>
        </p:grpSpPr>
        <p:sp>
          <p:nvSpPr>
            <p:cNvPr id="16" name="正方形/長方形 15">
              <a:extLst>
                <a:ext uri="{FF2B5EF4-FFF2-40B4-BE49-F238E27FC236}">
                  <a16:creationId xmlns:a16="http://schemas.microsoft.com/office/drawing/2014/main" id="{B04136FB-01FA-F80E-AFD2-76D487F582EF}"/>
                </a:ext>
              </a:extLst>
            </p:cNvPr>
            <p:cNvSpPr/>
            <p:nvPr/>
          </p:nvSpPr>
          <p:spPr>
            <a:xfrm>
              <a:off x="6237180" y="2788514"/>
              <a:ext cx="2965142" cy="181104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tx1">
                    <a:lumMod val="75000"/>
                  </a:schemeClr>
                </a:solidFill>
                <a:highlight>
                  <a:srgbClr val="FFFF00"/>
                </a:highlight>
              </a:endParaRPr>
            </a:p>
          </p:txBody>
        </p:sp>
        <p:sp>
          <p:nvSpPr>
            <p:cNvPr id="14" name="楕円 13">
              <a:extLst>
                <a:ext uri="{FF2B5EF4-FFF2-40B4-BE49-F238E27FC236}">
                  <a16:creationId xmlns:a16="http://schemas.microsoft.com/office/drawing/2014/main" id="{AAFF7439-6F5C-BBDE-22B0-687903B8B88B}"/>
                </a:ext>
              </a:extLst>
            </p:cNvPr>
            <p:cNvSpPr/>
            <p:nvPr/>
          </p:nvSpPr>
          <p:spPr>
            <a:xfrm>
              <a:off x="7400733" y="2952752"/>
              <a:ext cx="1482569" cy="1482569"/>
            </a:xfrm>
            <a:prstGeom prst="ellipse">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tx1">
                    <a:lumMod val="75000"/>
                  </a:schemeClr>
                </a:solidFill>
              </a:endParaRPr>
            </a:p>
          </p:txBody>
        </p:sp>
        <p:sp>
          <p:nvSpPr>
            <p:cNvPr id="13" name="楕円 12">
              <a:extLst>
                <a:ext uri="{FF2B5EF4-FFF2-40B4-BE49-F238E27FC236}">
                  <a16:creationId xmlns:a16="http://schemas.microsoft.com/office/drawing/2014/main" id="{790ABECC-15BF-3E54-5097-883EC6B12341}"/>
                </a:ext>
              </a:extLst>
            </p:cNvPr>
            <p:cNvSpPr/>
            <p:nvPr/>
          </p:nvSpPr>
          <p:spPr>
            <a:xfrm>
              <a:off x="6391921" y="2952752"/>
              <a:ext cx="1482569" cy="1482569"/>
            </a:xfrm>
            <a:prstGeom prst="ellipse">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a:solidFill>
                  <a:schemeClr val="tx1">
                    <a:lumMod val="75000"/>
                  </a:schemeClr>
                </a:solidFill>
              </a:endParaRPr>
            </a:p>
          </p:txBody>
        </p:sp>
      </p:grpSp>
      <p:grpSp>
        <p:nvGrpSpPr>
          <p:cNvPr id="18" name="グループ化 17">
            <a:extLst>
              <a:ext uri="{FF2B5EF4-FFF2-40B4-BE49-F238E27FC236}">
                <a16:creationId xmlns:a16="http://schemas.microsoft.com/office/drawing/2014/main" id="{5E229AF7-A3C1-5096-C5F9-6E953B8DBD41}"/>
              </a:ext>
            </a:extLst>
          </p:cNvPr>
          <p:cNvGrpSpPr/>
          <p:nvPr/>
        </p:nvGrpSpPr>
        <p:grpSpPr>
          <a:xfrm>
            <a:off x="9727309" y="2960241"/>
            <a:ext cx="2109091" cy="1288187"/>
            <a:chOff x="6237180" y="2788514"/>
            <a:chExt cx="2965142" cy="1811044"/>
          </a:xfrm>
        </p:grpSpPr>
        <p:sp>
          <p:nvSpPr>
            <p:cNvPr id="19" name="正方形/長方形 18">
              <a:extLst>
                <a:ext uri="{FF2B5EF4-FFF2-40B4-BE49-F238E27FC236}">
                  <a16:creationId xmlns:a16="http://schemas.microsoft.com/office/drawing/2014/main" id="{3813177B-545C-108B-0057-DEB934AB8E60}"/>
                </a:ext>
              </a:extLst>
            </p:cNvPr>
            <p:cNvSpPr/>
            <p:nvPr/>
          </p:nvSpPr>
          <p:spPr>
            <a:xfrm>
              <a:off x="6237180" y="2788514"/>
              <a:ext cx="2965142" cy="181104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tx1">
                    <a:lumMod val="75000"/>
                  </a:schemeClr>
                </a:solidFill>
                <a:highlight>
                  <a:srgbClr val="FFFF00"/>
                </a:highlight>
              </a:endParaRPr>
            </a:p>
          </p:txBody>
        </p:sp>
        <p:sp>
          <p:nvSpPr>
            <p:cNvPr id="20" name="楕円 19">
              <a:extLst>
                <a:ext uri="{FF2B5EF4-FFF2-40B4-BE49-F238E27FC236}">
                  <a16:creationId xmlns:a16="http://schemas.microsoft.com/office/drawing/2014/main" id="{1FF3A421-651E-6B96-8733-1943B76C11D6}"/>
                </a:ext>
              </a:extLst>
            </p:cNvPr>
            <p:cNvSpPr/>
            <p:nvPr/>
          </p:nvSpPr>
          <p:spPr>
            <a:xfrm>
              <a:off x="7400733" y="2952752"/>
              <a:ext cx="1482569" cy="1482569"/>
            </a:xfrm>
            <a:prstGeom prst="ellipse">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tx1">
                    <a:lumMod val="75000"/>
                  </a:schemeClr>
                </a:solidFill>
              </a:endParaRPr>
            </a:p>
          </p:txBody>
        </p:sp>
        <p:sp>
          <p:nvSpPr>
            <p:cNvPr id="21" name="楕円 20">
              <a:extLst>
                <a:ext uri="{FF2B5EF4-FFF2-40B4-BE49-F238E27FC236}">
                  <a16:creationId xmlns:a16="http://schemas.microsoft.com/office/drawing/2014/main" id="{641FA80E-1B1B-45F7-59B1-AFC37E9D127A}"/>
                </a:ext>
              </a:extLst>
            </p:cNvPr>
            <p:cNvSpPr/>
            <p:nvPr/>
          </p:nvSpPr>
          <p:spPr>
            <a:xfrm>
              <a:off x="6391921" y="2952752"/>
              <a:ext cx="1482569" cy="1482569"/>
            </a:xfrm>
            <a:prstGeom prst="ellipse">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a:solidFill>
                  <a:schemeClr val="tx1">
                    <a:lumMod val="75000"/>
                  </a:schemeClr>
                </a:solidFill>
              </a:endParaRPr>
            </a:p>
          </p:txBody>
        </p:sp>
      </p:grpSp>
      <p:sp>
        <p:nvSpPr>
          <p:cNvPr id="22" name="二等辺三角形 21">
            <a:extLst>
              <a:ext uri="{FF2B5EF4-FFF2-40B4-BE49-F238E27FC236}">
                <a16:creationId xmlns:a16="http://schemas.microsoft.com/office/drawing/2014/main" id="{65DA331F-D9E7-89B3-4275-5911391C945C}"/>
              </a:ext>
            </a:extLst>
          </p:cNvPr>
          <p:cNvSpPr/>
          <p:nvPr/>
        </p:nvSpPr>
        <p:spPr>
          <a:xfrm rot="10800000">
            <a:off x="7354539" y="4467687"/>
            <a:ext cx="3200400" cy="444500"/>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4" name="正方形/長方形 23">
            <a:extLst>
              <a:ext uri="{FF2B5EF4-FFF2-40B4-BE49-F238E27FC236}">
                <a16:creationId xmlns:a16="http://schemas.microsoft.com/office/drawing/2014/main" id="{D1DDD37B-9EE2-5ECA-C09C-1FE3FF80CB0C}"/>
              </a:ext>
            </a:extLst>
          </p:cNvPr>
          <p:cNvSpPr/>
          <p:nvPr/>
        </p:nvSpPr>
        <p:spPr>
          <a:xfrm>
            <a:off x="7913828" y="5023713"/>
            <a:ext cx="2109091" cy="128818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tx1">
                  <a:lumMod val="75000"/>
                </a:schemeClr>
              </a:solidFill>
              <a:highlight>
                <a:srgbClr val="FFFF00"/>
              </a:highlight>
            </a:endParaRPr>
          </a:p>
        </p:txBody>
      </p:sp>
      <p:sp>
        <p:nvSpPr>
          <p:cNvPr id="25" name="楕円 24">
            <a:extLst>
              <a:ext uri="{FF2B5EF4-FFF2-40B4-BE49-F238E27FC236}">
                <a16:creationId xmlns:a16="http://schemas.microsoft.com/office/drawing/2014/main" id="{7BED71EC-7C2D-BFC1-9621-59185B1B8075}"/>
              </a:ext>
            </a:extLst>
          </p:cNvPr>
          <p:cNvSpPr/>
          <p:nvPr/>
        </p:nvSpPr>
        <p:spPr>
          <a:xfrm>
            <a:off x="8741458" y="5140535"/>
            <a:ext cx="1054544" cy="1054544"/>
          </a:xfrm>
          <a:prstGeom prst="ellips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dirty="0">
              <a:solidFill>
                <a:schemeClr val="tx1">
                  <a:lumMod val="75000"/>
                </a:schemeClr>
              </a:solidFill>
            </a:endParaRPr>
          </a:p>
        </p:txBody>
      </p:sp>
      <p:sp>
        <p:nvSpPr>
          <p:cNvPr id="26" name="楕円 25">
            <a:extLst>
              <a:ext uri="{FF2B5EF4-FFF2-40B4-BE49-F238E27FC236}">
                <a16:creationId xmlns:a16="http://schemas.microsoft.com/office/drawing/2014/main" id="{EAF73788-5FFC-35C1-8C8B-4E2617B23E6E}"/>
              </a:ext>
            </a:extLst>
          </p:cNvPr>
          <p:cNvSpPr/>
          <p:nvPr/>
        </p:nvSpPr>
        <p:spPr>
          <a:xfrm>
            <a:off x="8023895" y="5140535"/>
            <a:ext cx="1054544" cy="1054544"/>
          </a:xfrm>
          <a:prstGeom prst="ellipse">
            <a:avLst/>
          </a:prstGeom>
          <a:solidFill>
            <a:schemeClr val="accent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a:solidFill>
                <a:schemeClr val="tx1">
                  <a:lumMod val="75000"/>
                </a:schemeClr>
              </a:solidFill>
            </a:endParaRPr>
          </a:p>
        </p:txBody>
      </p:sp>
      <p:sp>
        <p:nvSpPr>
          <p:cNvPr id="27" name="楕円 26">
            <a:extLst>
              <a:ext uri="{FF2B5EF4-FFF2-40B4-BE49-F238E27FC236}">
                <a16:creationId xmlns:a16="http://schemas.microsoft.com/office/drawing/2014/main" id="{4EFC3807-9477-A3AC-70CF-DDBC6978EF62}"/>
              </a:ext>
            </a:extLst>
          </p:cNvPr>
          <p:cNvSpPr/>
          <p:nvPr/>
        </p:nvSpPr>
        <p:spPr>
          <a:xfrm>
            <a:off x="8769452" y="5282214"/>
            <a:ext cx="356907" cy="834501"/>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79394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97459-B077-E979-B274-59ED4D11BF4D}"/>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6FBFD3AC-E8AB-7AC0-0CAC-6AC24D555351}"/>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F3F120D1-A4B9-9770-7CFA-5014E148F293}"/>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特徴的なデータ表現方法である「</a:t>
            </a:r>
            <a:r>
              <a:rPr lang="en-US" altLang="ja-JP" sz="2800" dirty="0"/>
              <a:t>NULL</a:t>
            </a:r>
            <a:r>
              <a:rPr lang="ja-JP" altLang="en-US" sz="2800" dirty="0"/>
              <a:t>」について注意が必要</a:t>
            </a:r>
            <a:endParaRPr lang="en-US" altLang="ja-JP" sz="2800" dirty="0"/>
          </a:p>
        </p:txBody>
      </p:sp>
      <p:sp>
        <p:nvSpPr>
          <p:cNvPr id="4" name="タイトル プレースホルダー 1">
            <a:extLst>
              <a:ext uri="{FF2B5EF4-FFF2-40B4-BE49-F238E27FC236}">
                <a16:creationId xmlns:a16="http://schemas.microsoft.com/office/drawing/2014/main" id="{91A6B3EC-3890-D482-437F-0B628914231C}"/>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NULL</a:t>
            </a:r>
            <a:r>
              <a:rPr lang="ja-JP" altLang="en-US" dirty="0"/>
              <a:t>の扱いについて</a:t>
            </a:r>
            <a:endParaRPr lang="en-US" altLang="ja-JP" dirty="0"/>
          </a:p>
        </p:txBody>
      </p:sp>
      <p:sp>
        <p:nvSpPr>
          <p:cNvPr id="5" name="タイトル プレースホルダー 1">
            <a:extLst>
              <a:ext uri="{FF2B5EF4-FFF2-40B4-BE49-F238E27FC236}">
                <a16:creationId xmlns:a16="http://schemas.microsoft.com/office/drawing/2014/main" id="{5FA454A3-23AE-7243-915D-9E71B817C7A1}"/>
              </a:ext>
            </a:extLst>
          </p:cNvPr>
          <p:cNvSpPr txBox="1">
            <a:spLocks/>
          </p:cNvSpPr>
          <p:nvPr/>
        </p:nvSpPr>
        <p:spPr>
          <a:xfrm>
            <a:off x="355600" y="2146304"/>
            <a:ext cx="11506200" cy="95249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en-US" altLang="ja-JP" sz="1800" dirty="0"/>
              <a:t>NULL</a:t>
            </a:r>
            <a:r>
              <a:rPr lang="ja-JP" altLang="en-US" sz="1800" dirty="0"/>
              <a:t>とは「値が空である」、「値が不明」であることを示すデータのこと</a:t>
            </a:r>
            <a:endParaRPr lang="en-US" altLang="ja-JP" sz="1800" dirty="0"/>
          </a:p>
          <a:p>
            <a:pPr marL="285750" indent="-285750">
              <a:buFont typeface="Arial" panose="020B0604020202020204" pitchFamily="34" charset="0"/>
              <a:buChar char="•"/>
            </a:pPr>
            <a:r>
              <a:rPr lang="ja-JP" altLang="en-US" sz="1800" dirty="0"/>
              <a:t>注意として「</a:t>
            </a:r>
            <a:r>
              <a:rPr lang="en-US" altLang="ja-JP" sz="1800" dirty="0"/>
              <a:t>0</a:t>
            </a:r>
            <a:r>
              <a:rPr lang="ja-JP" altLang="en-US" sz="1800" dirty="0"/>
              <a:t>」でも「空文字」でもない</a:t>
            </a:r>
            <a:endParaRPr lang="en-US" altLang="ja-JP" sz="1800" dirty="0"/>
          </a:p>
          <a:p>
            <a:pPr marL="285750" indent="-285750">
              <a:buFont typeface="Arial" panose="020B0604020202020204" pitchFamily="34" charset="0"/>
              <a:buChar char="•"/>
            </a:pPr>
            <a:r>
              <a:rPr lang="ja-JP" altLang="en-US" sz="1800" dirty="0"/>
              <a:t>プログラミング言語や</a:t>
            </a:r>
            <a:r>
              <a:rPr lang="en-US" altLang="ja-JP" sz="1800" dirty="0"/>
              <a:t>DBMS</a:t>
            </a:r>
            <a:r>
              <a:rPr lang="ja-JP" altLang="en-US" sz="1800" dirty="0"/>
              <a:t>（</a:t>
            </a:r>
            <a:r>
              <a:rPr lang="en-US" altLang="ja-JP" sz="1800" dirty="0"/>
              <a:t>Oracle</a:t>
            </a:r>
            <a:r>
              <a:rPr lang="ja-JP" altLang="en-US" sz="1800" dirty="0"/>
              <a:t>や</a:t>
            </a:r>
            <a:r>
              <a:rPr lang="en-US" altLang="ja-JP" sz="1800" dirty="0"/>
              <a:t>MySQL</a:t>
            </a:r>
            <a:r>
              <a:rPr lang="ja-JP" altLang="en-US" sz="1800" dirty="0"/>
              <a:t>、</a:t>
            </a:r>
            <a:r>
              <a:rPr lang="en-US" altLang="ja-JP" sz="1800" dirty="0"/>
              <a:t>PostgreSQL</a:t>
            </a:r>
            <a:r>
              <a:rPr lang="ja-JP" altLang="en-US" sz="1800" dirty="0"/>
              <a:t>などなど）によって扱いが異なる</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6" name="タイトル プレースホルダー 1">
            <a:extLst>
              <a:ext uri="{FF2B5EF4-FFF2-40B4-BE49-F238E27FC236}">
                <a16:creationId xmlns:a16="http://schemas.microsoft.com/office/drawing/2014/main" id="{C25494A5-145D-81D1-CD1C-9832A006FBC7}"/>
              </a:ext>
            </a:extLst>
          </p:cNvPr>
          <p:cNvSpPr txBox="1">
            <a:spLocks/>
          </p:cNvSpPr>
          <p:nvPr/>
        </p:nvSpPr>
        <p:spPr>
          <a:xfrm>
            <a:off x="355600" y="4025904"/>
            <a:ext cx="11506200" cy="95249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en-US" altLang="ja-JP" sz="1800" dirty="0"/>
              <a:t>NULL</a:t>
            </a:r>
            <a:r>
              <a:rPr lang="ja-JP" altLang="en-US" sz="1800" dirty="0"/>
              <a:t>の特徴を正確に理解して、適切に扱うことができるようになることがアプリケーション設計において重要</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7" name="二等辺三角形 6">
            <a:extLst>
              <a:ext uri="{FF2B5EF4-FFF2-40B4-BE49-F238E27FC236}">
                <a16:creationId xmlns:a16="http://schemas.microsoft.com/office/drawing/2014/main" id="{2F466BC6-6E6F-B99E-80B0-F040576B74B7}"/>
              </a:ext>
            </a:extLst>
          </p:cNvPr>
          <p:cNvSpPr/>
          <p:nvPr/>
        </p:nvSpPr>
        <p:spPr>
          <a:xfrm rot="10800000">
            <a:off x="4495801" y="3429000"/>
            <a:ext cx="3200400" cy="444500"/>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335731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10C25-AD95-F89A-8DC7-30E7E45E00DD}"/>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AB8A2E2F-1760-BB91-9077-FB25D89D1E2A}"/>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63AB47EC-2190-28FB-DFB2-096C54F86B8B}"/>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2800" dirty="0"/>
              <a:t>SQL</a:t>
            </a:r>
            <a:r>
              <a:rPr lang="ja-JP" altLang="en-US" sz="2800" dirty="0"/>
              <a:t>文と処理結果からみる</a:t>
            </a:r>
            <a:r>
              <a:rPr lang="en-US" altLang="ja-JP" sz="2800" dirty="0"/>
              <a:t>NULL</a:t>
            </a:r>
            <a:r>
              <a:rPr lang="ja-JP" altLang="en-US" sz="2800" dirty="0"/>
              <a:t>の特性</a:t>
            </a:r>
            <a:endParaRPr lang="en-US" altLang="ja-JP" sz="2800" dirty="0"/>
          </a:p>
        </p:txBody>
      </p:sp>
      <p:sp>
        <p:nvSpPr>
          <p:cNvPr id="4" name="タイトル プレースホルダー 1">
            <a:extLst>
              <a:ext uri="{FF2B5EF4-FFF2-40B4-BE49-F238E27FC236}">
                <a16:creationId xmlns:a16="http://schemas.microsoft.com/office/drawing/2014/main" id="{BC302321-D069-4BBF-F1F2-DFF21D3CC505}"/>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NULL</a:t>
            </a:r>
            <a:r>
              <a:rPr lang="ja-JP" altLang="en-US" dirty="0"/>
              <a:t>の扱いについて</a:t>
            </a:r>
            <a:endParaRPr lang="en-US" altLang="ja-JP" dirty="0"/>
          </a:p>
        </p:txBody>
      </p:sp>
      <p:sp>
        <p:nvSpPr>
          <p:cNvPr id="7" name="正方形/長方形 6">
            <a:extLst>
              <a:ext uri="{FF2B5EF4-FFF2-40B4-BE49-F238E27FC236}">
                <a16:creationId xmlns:a16="http://schemas.microsoft.com/office/drawing/2014/main" id="{6B7FFC53-0587-D095-480E-70920CF298E5}"/>
              </a:ext>
            </a:extLst>
          </p:cNvPr>
          <p:cNvSpPr/>
          <p:nvPr/>
        </p:nvSpPr>
        <p:spPr>
          <a:xfrm>
            <a:off x="3429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bg1"/>
                </a:solidFill>
              </a:rPr>
              <a:t>SQL</a:t>
            </a:r>
            <a:r>
              <a:rPr kumimoji="1" lang="ja-JP" altLang="en-US" sz="2400" b="1" dirty="0">
                <a:solidFill>
                  <a:schemeClr val="bg1"/>
                </a:solidFill>
              </a:rPr>
              <a:t>具体例</a:t>
            </a:r>
          </a:p>
        </p:txBody>
      </p:sp>
      <p:sp>
        <p:nvSpPr>
          <p:cNvPr id="8" name="正方形/長方形 7">
            <a:extLst>
              <a:ext uri="{FF2B5EF4-FFF2-40B4-BE49-F238E27FC236}">
                <a16:creationId xmlns:a16="http://schemas.microsoft.com/office/drawing/2014/main" id="{4DD2D444-807B-CD48-4E4E-F0ED44E023D8}"/>
              </a:ext>
            </a:extLst>
          </p:cNvPr>
          <p:cNvSpPr/>
          <p:nvPr/>
        </p:nvSpPr>
        <p:spPr>
          <a:xfrm>
            <a:off x="64135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rPr>
              <a:t>記載</a:t>
            </a:r>
            <a:r>
              <a:rPr lang="en-US" altLang="ja-JP" sz="2400" b="1" dirty="0">
                <a:solidFill>
                  <a:schemeClr val="bg1"/>
                </a:solidFill>
              </a:rPr>
              <a:t>SQL</a:t>
            </a:r>
            <a:r>
              <a:rPr lang="ja-JP" altLang="en-US" sz="2400" b="1" dirty="0">
                <a:solidFill>
                  <a:schemeClr val="bg1"/>
                </a:solidFill>
              </a:rPr>
              <a:t>の説明</a:t>
            </a:r>
            <a:endParaRPr kumimoji="1" lang="ja-JP" altLang="en-US" sz="2400" b="1" dirty="0">
              <a:solidFill>
                <a:schemeClr val="bg1"/>
              </a:solidFill>
            </a:endParaRPr>
          </a:p>
        </p:txBody>
      </p:sp>
      <p:cxnSp>
        <p:nvCxnSpPr>
          <p:cNvPr id="11" name="直線コネクタ 10">
            <a:extLst>
              <a:ext uri="{FF2B5EF4-FFF2-40B4-BE49-F238E27FC236}">
                <a16:creationId xmlns:a16="http://schemas.microsoft.com/office/drawing/2014/main" id="{A870A060-F149-34EC-268D-F080793520A2}"/>
              </a:ext>
            </a:extLst>
          </p:cNvPr>
          <p:cNvCxnSpPr>
            <a:cxnSpLocks/>
          </p:cNvCxnSpPr>
          <p:nvPr/>
        </p:nvCxnSpPr>
        <p:spPr>
          <a:xfrm>
            <a:off x="6096000" y="2184400"/>
            <a:ext cx="0" cy="4421026"/>
          </a:xfrm>
          <a:prstGeom prst="line">
            <a:avLst/>
          </a:prstGeom>
          <a:ln>
            <a:solidFill>
              <a:schemeClr val="tx1">
                <a:lumMod val="75000"/>
              </a:schemeClr>
            </a:solidFill>
            <a:prstDash val="dash"/>
          </a:ln>
        </p:spPr>
        <p:style>
          <a:lnRef idx="2">
            <a:schemeClr val="accent1"/>
          </a:lnRef>
          <a:fillRef idx="0">
            <a:schemeClr val="accent1"/>
          </a:fillRef>
          <a:effectRef idx="1">
            <a:schemeClr val="accent1"/>
          </a:effectRef>
          <a:fontRef idx="minor">
            <a:schemeClr val="tx1"/>
          </a:fontRef>
        </p:style>
      </p:cxnSp>
      <p:pic>
        <p:nvPicPr>
          <p:cNvPr id="9" name="図 8" descr="テキスト&#10;&#10;AI 生成コンテンツは誤りを含む可能性があります。">
            <a:extLst>
              <a:ext uri="{FF2B5EF4-FFF2-40B4-BE49-F238E27FC236}">
                <a16:creationId xmlns:a16="http://schemas.microsoft.com/office/drawing/2014/main" id="{6E2E9D81-8BFC-A4E8-4DE5-FA2F23737E33}"/>
              </a:ext>
            </a:extLst>
          </p:cNvPr>
          <p:cNvPicPr>
            <a:picLocks noChangeAspect="1"/>
          </p:cNvPicPr>
          <p:nvPr/>
        </p:nvPicPr>
        <p:blipFill>
          <a:blip r:embed="rId2">
            <a:extLst>
              <a:ext uri="{28A0092B-C50C-407E-A947-70E740481C1C}">
                <a14:useLocalDpi xmlns:a14="http://schemas.microsoft.com/office/drawing/2010/main" val="0"/>
              </a:ext>
            </a:extLst>
          </a:blip>
          <a:srcRect t="2811" r="18386" b="23073"/>
          <a:stretch>
            <a:fillRect/>
          </a:stretch>
        </p:blipFill>
        <p:spPr>
          <a:xfrm>
            <a:off x="342900" y="2807709"/>
            <a:ext cx="3148226" cy="1845354"/>
          </a:xfrm>
          <a:prstGeom prst="rect">
            <a:avLst/>
          </a:prstGeom>
        </p:spPr>
      </p:pic>
      <p:pic>
        <p:nvPicPr>
          <p:cNvPr id="15" name="図 14" descr="グラフィカル ユーザー インターフェイス&#10;&#10;AI 生成コンテンツは誤りを含む可能性があります。">
            <a:extLst>
              <a:ext uri="{FF2B5EF4-FFF2-40B4-BE49-F238E27FC236}">
                <a16:creationId xmlns:a16="http://schemas.microsoft.com/office/drawing/2014/main" id="{38370BA8-8C38-14DA-4C6F-376A8C4E82B0}"/>
              </a:ext>
            </a:extLst>
          </p:cNvPr>
          <p:cNvPicPr>
            <a:picLocks noChangeAspect="1"/>
          </p:cNvPicPr>
          <p:nvPr/>
        </p:nvPicPr>
        <p:blipFill>
          <a:blip r:embed="rId3">
            <a:extLst>
              <a:ext uri="{28A0092B-C50C-407E-A947-70E740481C1C}">
                <a14:useLocalDpi xmlns:a14="http://schemas.microsoft.com/office/drawing/2010/main" val="0"/>
              </a:ext>
            </a:extLst>
          </a:blip>
          <a:srcRect l="3652" r="5081" b="13288"/>
          <a:stretch>
            <a:fillRect/>
          </a:stretch>
        </p:blipFill>
        <p:spPr>
          <a:xfrm>
            <a:off x="342900" y="4947676"/>
            <a:ext cx="4672757" cy="643655"/>
          </a:xfrm>
          <a:prstGeom prst="rect">
            <a:avLst/>
          </a:prstGeom>
        </p:spPr>
      </p:pic>
      <p:pic>
        <p:nvPicPr>
          <p:cNvPr id="28" name="図 27" descr="グラフィカル ユーザー インターフェイス, アプリケーション, Word&#10;&#10;AI 生成コンテンツは誤りを含む可能性があります。">
            <a:extLst>
              <a:ext uri="{FF2B5EF4-FFF2-40B4-BE49-F238E27FC236}">
                <a16:creationId xmlns:a16="http://schemas.microsoft.com/office/drawing/2014/main" id="{A8836BD5-C950-40C9-EFEF-7AC261785043}"/>
              </a:ext>
            </a:extLst>
          </p:cNvPr>
          <p:cNvPicPr>
            <a:picLocks noChangeAspect="1"/>
          </p:cNvPicPr>
          <p:nvPr/>
        </p:nvPicPr>
        <p:blipFill>
          <a:blip r:embed="rId4">
            <a:extLst>
              <a:ext uri="{28A0092B-C50C-407E-A947-70E740481C1C}">
                <a14:useLocalDpi xmlns:a14="http://schemas.microsoft.com/office/drawing/2010/main" val="0"/>
              </a:ext>
            </a:extLst>
          </a:blip>
          <a:srcRect l="2720" t="17743" r="12718" b="8117"/>
          <a:stretch>
            <a:fillRect/>
          </a:stretch>
        </p:blipFill>
        <p:spPr>
          <a:xfrm>
            <a:off x="342900" y="5757324"/>
            <a:ext cx="5435601" cy="848102"/>
          </a:xfrm>
          <a:prstGeom prst="rect">
            <a:avLst/>
          </a:prstGeom>
        </p:spPr>
      </p:pic>
      <p:sp>
        <p:nvSpPr>
          <p:cNvPr id="29" name="正方形/長方形 28">
            <a:extLst>
              <a:ext uri="{FF2B5EF4-FFF2-40B4-BE49-F238E27FC236}">
                <a16:creationId xmlns:a16="http://schemas.microsoft.com/office/drawing/2014/main" id="{B136E4E7-F198-B307-AA9F-8B56820D0631}"/>
              </a:ext>
            </a:extLst>
          </p:cNvPr>
          <p:cNvSpPr/>
          <p:nvPr/>
        </p:nvSpPr>
        <p:spPr>
          <a:xfrm>
            <a:off x="6413498" y="2727156"/>
            <a:ext cx="5435600" cy="169494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ja-JP" altLang="en-US" sz="1400" dirty="0">
                <a:solidFill>
                  <a:schemeClr val="tx1">
                    <a:lumMod val="75000"/>
                  </a:schemeClr>
                </a:solidFill>
              </a:rPr>
              <a:t>①サンプルデータ作成</a:t>
            </a:r>
            <a:endParaRPr lang="en-US" altLang="ja-JP" sz="1400" dirty="0">
              <a:solidFill>
                <a:schemeClr val="tx1">
                  <a:lumMod val="75000"/>
                </a:schemeClr>
              </a:solidFill>
            </a:endParaRPr>
          </a:p>
          <a:p>
            <a:pPr marL="285750" indent="-285750">
              <a:buFont typeface="Arial" panose="020B0604020202020204" pitchFamily="34" charset="0"/>
              <a:buChar char="•"/>
            </a:pPr>
            <a:r>
              <a:rPr lang="ja-JP" altLang="en-US" sz="1400" dirty="0">
                <a:solidFill>
                  <a:schemeClr val="tx1">
                    <a:lumMod val="75000"/>
                  </a:schemeClr>
                </a:solidFill>
              </a:rPr>
              <a:t>可変長最大</a:t>
            </a:r>
            <a:r>
              <a:rPr lang="en-US" altLang="ja-JP" sz="1400" dirty="0">
                <a:solidFill>
                  <a:schemeClr val="tx1">
                    <a:lumMod val="75000"/>
                  </a:schemeClr>
                </a:solidFill>
              </a:rPr>
              <a:t>100</a:t>
            </a:r>
            <a:r>
              <a:rPr lang="ja-JP" altLang="en-US" sz="1400" dirty="0">
                <a:solidFill>
                  <a:schemeClr val="tx1">
                    <a:lumMod val="75000"/>
                  </a:schemeClr>
                </a:solidFill>
              </a:rPr>
              <a:t>文字の</a:t>
            </a:r>
            <a:r>
              <a:rPr lang="en-US" altLang="ja-JP" sz="1400" dirty="0">
                <a:solidFill>
                  <a:schemeClr val="tx1">
                    <a:lumMod val="75000"/>
                  </a:schemeClr>
                </a:solidFill>
              </a:rPr>
              <a:t>c1</a:t>
            </a:r>
            <a:r>
              <a:rPr lang="ja-JP" altLang="en-US" sz="1400" dirty="0">
                <a:solidFill>
                  <a:schemeClr val="tx1">
                    <a:lumMod val="75000"/>
                  </a:schemeClr>
                </a:solidFill>
              </a:rPr>
              <a:t>列と整数型の</a:t>
            </a:r>
            <a:r>
              <a:rPr lang="en-US" altLang="ja-JP" sz="1400" dirty="0">
                <a:solidFill>
                  <a:schemeClr val="tx1">
                    <a:lumMod val="75000"/>
                  </a:schemeClr>
                </a:solidFill>
              </a:rPr>
              <a:t>c2</a:t>
            </a:r>
            <a:r>
              <a:rPr lang="ja-JP" altLang="en-US" sz="1400" dirty="0">
                <a:solidFill>
                  <a:schemeClr val="tx1">
                    <a:lumMod val="75000"/>
                  </a:schemeClr>
                </a:solidFill>
              </a:rPr>
              <a:t>列を持つ</a:t>
            </a:r>
            <a:r>
              <a:rPr lang="en-US" altLang="ja-JP" sz="1400" dirty="0">
                <a:solidFill>
                  <a:schemeClr val="tx1">
                    <a:lumMod val="75000"/>
                  </a:schemeClr>
                </a:solidFill>
              </a:rPr>
              <a:t>t1</a:t>
            </a:r>
            <a:r>
              <a:rPr lang="ja-JP" altLang="en-US" sz="1400" dirty="0">
                <a:solidFill>
                  <a:schemeClr val="tx1">
                    <a:lumMod val="75000"/>
                  </a:schemeClr>
                </a:solidFill>
              </a:rPr>
              <a:t>テーブル作成</a:t>
            </a:r>
            <a:endParaRPr lang="en-US" altLang="ja-JP" sz="1400" dirty="0">
              <a:solidFill>
                <a:schemeClr val="tx1">
                  <a:lumMod val="75000"/>
                </a:schemeClr>
              </a:solidFill>
            </a:endParaRPr>
          </a:p>
          <a:p>
            <a:pPr marL="285750" indent="-285750">
              <a:buFont typeface="Arial" panose="020B0604020202020204" pitchFamily="34" charset="0"/>
              <a:buChar char="•"/>
            </a:pPr>
            <a:r>
              <a:rPr lang="en-US" altLang="ja-JP" sz="1400" dirty="0">
                <a:solidFill>
                  <a:schemeClr val="tx1">
                    <a:lumMod val="75000"/>
                  </a:schemeClr>
                </a:solidFill>
              </a:rPr>
              <a:t>1</a:t>
            </a:r>
            <a:r>
              <a:rPr lang="ja-JP" altLang="en-US" sz="1400" dirty="0">
                <a:solidFill>
                  <a:schemeClr val="tx1">
                    <a:lumMod val="75000"/>
                  </a:schemeClr>
                </a:solidFill>
              </a:rPr>
              <a:t>つ目のデータは</a:t>
            </a:r>
            <a:r>
              <a:rPr lang="en-US" altLang="ja-JP" sz="1400" dirty="0">
                <a:solidFill>
                  <a:schemeClr val="tx1">
                    <a:lumMod val="75000"/>
                  </a:schemeClr>
                </a:solidFill>
              </a:rPr>
              <a:t>c2</a:t>
            </a:r>
            <a:r>
              <a:rPr lang="ja-JP" altLang="en-US" sz="1400" dirty="0">
                <a:solidFill>
                  <a:schemeClr val="tx1">
                    <a:lumMod val="75000"/>
                  </a:schemeClr>
                </a:solidFill>
              </a:rPr>
              <a:t>にのみ明示的に「</a:t>
            </a:r>
            <a:r>
              <a:rPr lang="en-US" altLang="ja-JP" sz="1400" dirty="0">
                <a:solidFill>
                  <a:schemeClr val="tx1">
                    <a:lumMod val="75000"/>
                  </a:schemeClr>
                </a:solidFill>
              </a:rPr>
              <a:t>1</a:t>
            </a:r>
            <a:r>
              <a:rPr lang="ja-JP" altLang="en-US" sz="1400" dirty="0">
                <a:solidFill>
                  <a:schemeClr val="tx1">
                    <a:lumMod val="75000"/>
                  </a:schemeClr>
                </a:solidFill>
              </a:rPr>
              <a:t>」を挿入</a:t>
            </a:r>
            <a:endParaRPr lang="en-US" altLang="ja-JP" sz="1400" dirty="0">
              <a:solidFill>
                <a:schemeClr val="tx1">
                  <a:lumMod val="75000"/>
                </a:schemeClr>
              </a:solidFill>
            </a:endParaRPr>
          </a:p>
          <a:p>
            <a:pPr marL="285750" indent="-285750">
              <a:buFont typeface="Arial" panose="020B0604020202020204" pitchFamily="34" charset="0"/>
              <a:buChar char="•"/>
            </a:pPr>
            <a:r>
              <a:rPr lang="en-US" altLang="ja-JP" sz="1400" dirty="0">
                <a:solidFill>
                  <a:schemeClr val="tx1">
                    <a:lumMod val="75000"/>
                  </a:schemeClr>
                </a:solidFill>
              </a:rPr>
              <a:t>2</a:t>
            </a:r>
            <a:r>
              <a:rPr lang="ja-JP" altLang="en-US" sz="1400" dirty="0">
                <a:solidFill>
                  <a:schemeClr val="tx1">
                    <a:lumMod val="75000"/>
                  </a:schemeClr>
                </a:solidFill>
              </a:rPr>
              <a:t>つ目のデータは</a:t>
            </a:r>
            <a:r>
              <a:rPr lang="en-US" altLang="ja-JP" sz="1400" dirty="0">
                <a:solidFill>
                  <a:schemeClr val="tx1">
                    <a:lumMod val="75000"/>
                  </a:schemeClr>
                </a:solidFill>
              </a:rPr>
              <a:t>c1</a:t>
            </a:r>
            <a:r>
              <a:rPr lang="ja-JP" altLang="en-US" sz="1400" dirty="0">
                <a:solidFill>
                  <a:schemeClr val="tx1">
                    <a:lumMod val="75000"/>
                  </a:schemeClr>
                </a:solidFill>
              </a:rPr>
              <a:t>に</a:t>
            </a:r>
            <a:r>
              <a:rPr lang="en-US" altLang="ja-JP" sz="1400" dirty="0">
                <a:solidFill>
                  <a:schemeClr val="tx1">
                    <a:lumMod val="75000"/>
                  </a:schemeClr>
                </a:solidFill>
              </a:rPr>
              <a:t>NULL</a:t>
            </a:r>
            <a:r>
              <a:rPr lang="ja-JP" altLang="en-US" sz="1400" dirty="0">
                <a:solidFill>
                  <a:schemeClr val="tx1">
                    <a:lumMod val="75000"/>
                  </a:schemeClr>
                </a:solidFill>
              </a:rPr>
              <a:t>を明示的に、</a:t>
            </a:r>
            <a:r>
              <a:rPr lang="en-US" altLang="ja-JP" sz="1400" dirty="0">
                <a:solidFill>
                  <a:schemeClr val="tx1">
                    <a:lumMod val="75000"/>
                  </a:schemeClr>
                </a:solidFill>
              </a:rPr>
              <a:t>c2</a:t>
            </a:r>
            <a:r>
              <a:rPr lang="ja-JP" altLang="en-US" sz="1400" dirty="0">
                <a:solidFill>
                  <a:schemeClr val="tx1">
                    <a:lumMod val="75000"/>
                  </a:schemeClr>
                </a:solidFill>
              </a:rPr>
              <a:t>に「</a:t>
            </a:r>
            <a:r>
              <a:rPr lang="en-US" altLang="ja-JP" sz="1400" dirty="0">
                <a:solidFill>
                  <a:schemeClr val="tx1">
                    <a:lumMod val="75000"/>
                  </a:schemeClr>
                </a:solidFill>
              </a:rPr>
              <a:t>2</a:t>
            </a:r>
            <a:r>
              <a:rPr lang="ja-JP" altLang="en-US" sz="1400" dirty="0">
                <a:solidFill>
                  <a:schemeClr val="tx1">
                    <a:lumMod val="75000"/>
                  </a:schemeClr>
                </a:solidFill>
              </a:rPr>
              <a:t>」を挿入</a:t>
            </a:r>
            <a:endParaRPr lang="en-US" altLang="ja-JP" sz="1400" dirty="0">
              <a:solidFill>
                <a:schemeClr val="tx1">
                  <a:lumMod val="75000"/>
                </a:schemeClr>
              </a:solidFill>
            </a:endParaRPr>
          </a:p>
          <a:p>
            <a:pPr marL="285750" indent="-285750">
              <a:buFont typeface="Arial" panose="020B0604020202020204" pitchFamily="34" charset="0"/>
              <a:buChar char="•"/>
            </a:pPr>
            <a:r>
              <a:rPr lang="en-US" altLang="ja-JP" sz="1400" dirty="0">
                <a:solidFill>
                  <a:schemeClr val="tx1">
                    <a:lumMod val="75000"/>
                  </a:schemeClr>
                </a:solidFill>
              </a:rPr>
              <a:t>3</a:t>
            </a:r>
            <a:r>
              <a:rPr lang="ja-JP" altLang="en-US" sz="1400" dirty="0">
                <a:solidFill>
                  <a:schemeClr val="tx1">
                    <a:lumMod val="75000"/>
                  </a:schemeClr>
                </a:solidFill>
              </a:rPr>
              <a:t>つ目のデータは</a:t>
            </a:r>
            <a:r>
              <a:rPr lang="en-US" altLang="ja-JP" sz="1400" dirty="0">
                <a:solidFill>
                  <a:schemeClr val="tx1">
                    <a:lumMod val="75000"/>
                  </a:schemeClr>
                </a:solidFill>
              </a:rPr>
              <a:t>c1</a:t>
            </a:r>
            <a:r>
              <a:rPr lang="ja-JP" altLang="en-US" sz="1400" dirty="0">
                <a:solidFill>
                  <a:schemeClr val="tx1">
                    <a:lumMod val="75000"/>
                  </a:schemeClr>
                </a:solidFill>
              </a:rPr>
              <a:t>に「</a:t>
            </a:r>
            <a:r>
              <a:rPr lang="en-US" altLang="ja-JP" sz="1400" dirty="0">
                <a:solidFill>
                  <a:schemeClr val="tx1">
                    <a:lumMod val="75000"/>
                  </a:schemeClr>
                </a:solidFill>
              </a:rPr>
              <a:t>NULL</a:t>
            </a:r>
            <a:r>
              <a:rPr lang="ja-JP" altLang="en-US" sz="1400" dirty="0">
                <a:solidFill>
                  <a:schemeClr val="tx1">
                    <a:lumMod val="75000"/>
                  </a:schemeClr>
                </a:solidFill>
              </a:rPr>
              <a:t>」という文字列を、</a:t>
            </a:r>
            <a:r>
              <a:rPr lang="en-US" altLang="ja-JP" sz="1400" dirty="0">
                <a:solidFill>
                  <a:schemeClr val="tx1">
                    <a:lumMod val="75000"/>
                  </a:schemeClr>
                </a:solidFill>
              </a:rPr>
              <a:t>c2</a:t>
            </a:r>
            <a:r>
              <a:rPr lang="ja-JP" altLang="en-US" sz="1400" dirty="0">
                <a:solidFill>
                  <a:schemeClr val="tx1">
                    <a:lumMod val="75000"/>
                  </a:schemeClr>
                </a:solidFill>
              </a:rPr>
              <a:t>に「</a:t>
            </a:r>
            <a:r>
              <a:rPr lang="en-US" altLang="ja-JP" sz="1400" dirty="0">
                <a:solidFill>
                  <a:schemeClr val="tx1">
                    <a:lumMod val="75000"/>
                  </a:schemeClr>
                </a:solidFill>
              </a:rPr>
              <a:t>3</a:t>
            </a:r>
            <a:r>
              <a:rPr lang="ja-JP" altLang="en-US" sz="1400" dirty="0">
                <a:solidFill>
                  <a:schemeClr val="tx1">
                    <a:lumMod val="75000"/>
                  </a:schemeClr>
                </a:solidFill>
              </a:rPr>
              <a:t>」を挿入</a:t>
            </a:r>
            <a:endParaRPr lang="en-US" altLang="ja-JP" sz="1400" dirty="0">
              <a:solidFill>
                <a:schemeClr val="tx1">
                  <a:lumMod val="75000"/>
                </a:schemeClr>
              </a:solidFill>
            </a:endParaRPr>
          </a:p>
          <a:p>
            <a:pPr marL="285750" indent="-285750">
              <a:buFont typeface="Arial" panose="020B0604020202020204" pitchFamily="34" charset="0"/>
              <a:buChar char="•"/>
            </a:pPr>
            <a:r>
              <a:rPr lang="en-US" altLang="ja-JP" sz="1400" dirty="0">
                <a:solidFill>
                  <a:schemeClr val="tx1">
                    <a:lumMod val="75000"/>
                  </a:schemeClr>
                </a:solidFill>
              </a:rPr>
              <a:t>4</a:t>
            </a:r>
            <a:r>
              <a:rPr lang="ja-JP" altLang="en-US" sz="1400" dirty="0">
                <a:solidFill>
                  <a:schemeClr val="tx1">
                    <a:lumMod val="75000"/>
                  </a:schemeClr>
                </a:solidFill>
              </a:rPr>
              <a:t>つ目のデータは</a:t>
            </a:r>
            <a:r>
              <a:rPr lang="en-US" altLang="ja-JP" sz="1400" dirty="0">
                <a:solidFill>
                  <a:schemeClr val="tx1">
                    <a:lumMod val="75000"/>
                  </a:schemeClr>
                </a:solidFill>
              </a:rPr>
              <a:t>c1</a:t>
            </a:r>
            <a:r>
              <a:rPr lang="ja-JP" altLang="en-US" sz="1400" dirty="0">
                <a:solidFill>
                  <a:schemeClr val="tx1">
                    <a:lumMod val="75000"/>
                  </a:schemeClr>
                </a:solidFill>
              </a:rPr>
              <a:t>に「 （空文字）」を、</a:t>
            </a:r>
            <a:r>
              <a:rPr lang="en-US" altLang="ja-JP" sz="1400" dirty="0">
                <a:solidFill>
                  <a:schemeClr val="tx1">
                    <a:lumMod val="75000"/>
                  </a:schemeClr>
                </a:solidFill>
              </a:rPr>
              <a:t>c2</a:t>
            </a:r>
            <a:r>
              <a:rPr lang="ja-JP" altLang="en-US" sz="1400" dirty="0">
                <a:solidFill>
                  <a:schemeClr val="tx1">
                    <a:lumMod val="75000"/>
                  </a:schemeClr>
                </a:solidFill>
              </a:rPr>
              <a:t>に「</a:t>
            </a:r>
            <a:r>
              <a:rPr lang="en-US" altLang="ja-JP" sz="1400" dirty="0">
                <a:solidFill>
                  <a:schemeClr val="tx1">
                    <a:lumMod val="75000"/>
                  </a:schemeClr>
                </a:solidFill>
              </a:rPr>
              <a:t>4</a:t>
            </a:r>
            <a:r>
              <a:rPr lang="ja-JP" altLang="en-US" sz="1400" dirty="0">
                <a:solidFill>
                  <a:schemeClr val="tx1">
                    <a:lumMod val="75000"/>
                  </a:schemeClr>
                </a:solidFill>
              </a:rPr>
              <a:t>」を挿入</a:t>
            </a:r>
            <a:br>
              <a:rPr lang="en-US" altLang="ja-JP" sz="1400" dirty="0">
                <a:solidFill>
                  <a:schemeClr val="tx1">
                    <a:lumMod val="75000"/>
                  </a:schemeClr>
                </a:solidFill>
              </a:rPr>
            </a:br>
            <a:br>
              <a:rPr lang="en-US" altLang="ja-JP" sz="1400" dirty="0">
                <a:solidFill>
                  <a:schemeClr val="tx1">
                    <a:lumMod val="75000"/>
                  </a:schemeClr>
                </a:solidFill>
              </a:rPr>
            </a:br>
            <a:endParaRPr lang="en-US" altLang="ja-JP" sz="1400" dirty="0">
              <a:solidFill>
                <a:schemeClr val="tx1">
                  <a:lumMod val="75000"/>
                </a:schemeClr>
              </a:solidFill>
            </a:endParaRPr>
          </a:p>
          <a:p>
            <a:endParaRPr kumimoji="1" lang="en-US" altLang="ja-JP" sz="1400" dirty="0">
              <a:solidFill>
                <a:schemeClr val="tx1">
                  <a:lumMod val="75000"/>
                </a:schemeClr>
              </a:solidFill>
            </a:endParaRPr>
          </a:p>
          <a:p>
            <a:endParaRPr kumimoji="1" lang="ja-JP" altLang="en-US" sz="1400" dirty="0">
              <a:solidFill>
                <a:schemeClr val="tx1">
                  <a:lumMod val="75000"/>
                </a:schemeClr>
              </a:solidFill>
            </a:endParaRPr>
          </a:p>
        </p:txBody>
      </p:sp>
      <p:sp>
        <p:nvSpPr>
          <p:cNvPr id="30" name="テキスト ボックス 29">
            <a:extLst>
              <a:ext uri="{FF2B5EF4-FFF2-40B4-BE49-F238E27FC236}">
                <a16:creationId xmlns:a16="http://schemas.microsoft.com/office/drawing/2014/main" id="{B5E4ECB8-E718-BF93-4AFE-B6FA57FEB080}"/>
              </a:ext>
            </a:extLst>
          </p:cNvPr>
          <p:cNvSpPr txBox="1"/>
          <p:nvPr/>
        </p:nvSpPr>
        <p:spPr>
          <a:xfrm>
            <a:off x="4520981" y="2727156"/>
            <a:ext cx="989351" cy="369332"/>
          </a:xfrm>
          <a:prstGeom prst="rect">
            <a:avLst/>
          </a:prstGeom>
          <a:noFill/>
        </p:spPr>
        <p:txBody>
          <a:bodyPr wrap="square" rtlCol="0">
            <a:spAutoFit/>
          </a:bodyPr>
          <a:lstStyle/>
          <a:p>
            <a:r>
              <a:rPr lang="ja-JP" altLang="en-US" b="1" dirty="0">
                <a:solidFill>
                  <a:schemeClr val="tx1">
                    <a:lumMod val="75000"/>
                  </a:schemeClr>
                </a:solidFill>
              </a:rPr>
              <a:t>①</a:t>
            </a:r>
            <a:endParaRPr kumimoji="1" lang="ja-JP" altLang="en-US" b="1" dirty="0">
              <a:solidFill>
                <a:schemeClr val="tx1">
                  <a:lumMod val="75000"/>
                </a:schemeClr>
              </a:solidFill>
            </a:endParaRPr>
          </a:p>
        </p:txBody>
      </p:sp>
      <p:sp>
        <p:nvSpPr>
          <p:cNvPr id="31" name="テキスト ボックス 30">
            <a:extLst>
              <a:ext uri="{FF2B5EF4-FFF2-40B4-BE49-F238E27FC236}">
                <a16:creationId xmlns:a16="http://schemas.microsoft.com/office/drawing/2014/main" id="{7730B826-E976-CDF1-03DE-31B71817EA1A}"/>
              </a:ext>
            </a:extLst>
          </p:cNvPr>
          <p:cNvSpPr txBox="1"/>
          <p:nvPr/>
        </p:nvSpPr>
        <p:spPr>
          <a:xfrm>
            <a:off x="4520981" y="4689208"/>
            <a:ext cx="989351" cy="369332"/>
          </a:xfrm>
          <a:prstGeom prst="rect">
            <a:avLst/>
          </a:prstGeom>
          <a:noFill/>
        </p:spPr>
        <p:txBody>
          <a:bodyPr wrap="square" rtlCol="0">
            <a:spAutoFit/>
          </a:bodyPr>
          <a:lstStyle/>
          <a:p>
            <a:r>
              <a:rPr kumimoji="1" lang="ja-JP" altLang="en-US" b="1" dirty="0">
                <a:solidFill>
                  <a:schemeClr val="tx1">
                    <a:lumMod val="75000"/>
                  </a:schemeClr>
                </a:solidFill>
              </a:rPr>
              <a:t>②</a:t>
            </a:r>
          </a:p>
        </p:txBody>
      </p:sp>
      <p:sp>
        <p:nvSpPr>
          <p:cNvPr id="32" name="テキスト ボックス 31">
            <a:extLst>
              <a:ext uri="{FF2B5EF4-FFF2-40B4-BE49-F238E27FC236}">
                <a16:creationId xmlns:a16="http://schemas.microsoft.com/office/drawing/2014/main" id="{31AD9B72-E1B4-358E-0DD2-04A573E6E539}"/>
              </a:ext>
            </a:extLst>
          </p:cNvPr>
          <p:cNvSpPr txBox="1"/>
          <p:nvPr/>
        </p:nvSpPr>
        <p:spPr>
          <a:xfrm>
            <a:off x="4520981" y="5696387"/>
            <a:ext cx="989351" cy="369332"/>
          </a:xfrm>
          <a:prstGeom prst="rect">
            <a:avLst/>
          </a:prstGeom>
          <a:noFill/>
        </p:spPr>
        <p:txBody>
          <a:bodyPr wrap="square" rtlCol="0">
            <a:spAutoFit/>
          </a:bodyPr>
          <a:lstStyle/>
          <a:p>
            <a:r>
              <a:rPr lang="ja-JP" altLang="en-US" b="1" dirty="0">
                <a:solidFill>
                  <a:schemeClr val="tx1">
                    <a:lumMod val="75000"/>
                  </a:schemeClr>
                </a:solidFill>
              </a:rPr>
              <a:t>③</a:t>
            </a:r>
            <a:endParaRPr kumimoji="1" lang="ja-JP" altLang="en-US" b="1" dirty="0">
              <a:solidFill>
                <a:schemeClr val="tx1">
                  <a:lumMod val="75000"/>
                </a:schemeClr>
              </a:solidFill>
            </a:endParaRPr>
          </a:p>
        </p:txBody>
      </p:sp>
      <p:sp>
        <p:nvSpPr>
          <p:cNvPr id="35" name="正方形/長方形 34">
            <a:extLst>
              <a:ext uri="{FF2B5EF4-FFF2-40B4-BE49-F238E27FC236}">
                <a16:creationId xmlns:a16="http://schemas.microsoft.com/office/drawing/2014/main" id="{60226CFB-B835-883D-2E26-ED27A0241976}"/>
              </a:ext>
            </a:extLst>
          </p:cNvPr>
          <p:cNvSpPr/>
          <p:nvPr/>
        </p:nvSpPr>
        <p:spPr>
          <a:xfrm>
            <a:off x="6413498" y="4689208"/>
            <a:ext cx="5435600" cy="75222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ja-JP" altLang="en-US" sz="1400" dirty="0">
                <a:solidFill>
                  <a:schemeClr val="tx1">
                    <a:lumMod val="75000"/>
                  </a:schemeClr>
                </a:solidFill>
              </a:rPr>
              <a:t>②</a:t>
            </a:r>
            <a:r>
              <a:rPr lang="en-US" altLang="ja-JP" sz="1400" dirty="0">
                <a:solidFill>
                  <a:schemeClr val="tx1">
                    <a:lumMod val="75000"/>
                  </a:schemeClr>
                </a:solidFill>
              </a:rPr>
              <a:t>SELECT</a:t>
            </a:r>
            <a:r>
              <a:rPr lang="ja-JP" altLang="en-US" sz="1400" dirty="0">
                <a:solidFill>
                  <a:schemeClr val="tx1">
                    <a:lumMod val="75000"/>
                  </a:schemeClr>
                </a:solidFill>
              </a:rPr>
              <a:t>文を使用する</a:t>
            </a:r>
            <a:endParaRPr lang="en-US" altLang="ja-JP" sz="1400" dirty="0">
              <a:solidFill>
                <a:schemeClr val="tx1">
                  <a:lumMod val="75000"/>
                </a:schemeClr>
              </a:solidFill>
            </a:endParaRPr>
          </a:p>
          <a:p>
            <a:r>
              <a:rPr lang="en-US" altLang="ja-JP" sz="1400" dirty="0">
                <a:solidFill>
                  <a:schemeClr val="tx1">
                    <a:lumMod val="75000"/>
                  </a:schemeClr>
                </a:solidFill>
              </a:rPr>
              <a:t>Length</a:t>
            </a:r>
            <a:r>
              <a:rPr lang="ja-JP" altLang="en-US" sz="1400" dirty="0">
                <a:solidFill>
                  <a:schemeClr val="tx1">
                    <a:lumMod val="75000"/>
                  </a:schemeClr>
                </a:solidFill>
              </a:rPr>
              <a:t>関数を使って</a:t>
            </a:r>
            <a:r>
              <a:rPr lang="en-US" altLang="ja-JP" sz="1400" dirty="0">
                <a:solidFill>
                  <a:schemeClr val="tx1">
                    <a:lumMod val="75000"/>
                  </a:schemeClr>
                </a:solidFill>
              </a:rPr>
              <a:t>c1</a:t>
            </a:r>
            <a:r>
              <a:rPr lang="ja-JP" altLang="en-US" sz="1400" dirty="0">
                <a:solidFill>
                  <a:schemeClr val="tx1">
                    <a:lumMod val="75000"/>
                  </a:schemeClr>
                </a:solidFill>
              </a:rPr>
              <a:t>列の文字列を、</a:t>
            </a:r>
            <a:r>
              <a:rPr lang="en-US" altLang="ja-JP" sz="1400" dirty="0">
                <a:solidFill>
                  <a:schemeClr val="tx1">
                    <a:lumMod val="75000"/>
                  </a:schemeClr>
                </a:solidFill>
              </a:rPr>
              <a:t>c2</a:t>
            </a:r>
            <a:r>
              <a:rPr lang="ja-JP" altLang="en-US" sz="1400" dirty="0">
                <a:solidFill>
                  <a:schemeClr val="tx1">
                    <a:lumMod val="75000"/>
                  </a:schemeClr>
                </a:solidFill>
              </a:rPr>
              <a:t>列の中身を検索</a:t>
            </a:r>
            <a:endParaRPr lang="en-US" altLang="ja-JP" sz="1400" dirty="0">
              <a:solidFill>
                <a:schemeClr val="tx1">
                  <a:lumMod val="75000"/>
                </a:schemeClr>
              </a:solidFill>
            </a:endParaRPr>
          </a:p>
          <a:p>
            <a:endParaRPr kumimoji="1" lang="ja-JP" altLang="en-US" sz="1400" dirty="0">
              <a:solidFill>
                <a:schemeClr val="tx1">
                  <a:lumMod val="75000"/>
                </a:schemeClr>
              </a:solidFill>
            </a:endParaRPr>
          </a:p>
        </p:txBody>
      </p:sp>
      <p:sp>
        <p:nvSpPr>
          <p:cNvPr id="36" name="正方形/長方形 35">
            <a:extLst>
              <a:ext uri="{FF2B5EF4-FFF2-40B4-BE49-F238E27FC236}">
                <a16:creationId xmlns:a16="http://schemas.microsoft.com/office/drawing/2014/main" id="{105490C3-76DD-F7B1-9445-211D8F06DDB4}"/>
              </a:ext>
            </a:extLst>
          </p:cNvPr>
          <p:cNvSpPr/>
          <p:nvPr/>
        </p:nvSpPr>
        <p:spPr>
          <a:xfrm>
            <a:off x="6413498" y="5654875"/>
            <a:ext cx="5435600" cy="9505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kumimoji="1" lang="ja-JP" altLang="en-US" sz="1400" dirty="0">
                <a:solidFill>
                  <a:schemeClr val="tx1">
                    <a:lumMod val="75000"/>
                  </a:schemeClr>
                </a:solidFill>
              </a:rPr>
              <a:t>③検索結果の表示</a:t>
            </a:r>
            <a:endParaRPr kumimoji="1" lang="en-US" altLang="ja-JP" sz="1400" dirty="0">
              <a:solidFill>
                <a:schemeClr val="tx1">
                  <a:lumMod val="75000"/>
                </a:schemeClr>
              </a:solidFill>
            </a:endParaRPr>
          </a:p>
          <a:p>
            <a:pPr marL="285750" indent="-285750">
              <a:buFont typeface="Arial" panose="020B0604020202020204" pitchFamily="34" charset="0"/>
              <a:buChar char="•"/>
            </a:pPr>
            <a:r>
              <a:rPr lang="en-US" altLang="ja-JP" sz="1400" dirty="0">
                <a:solidFill>
                  <a:schemeClr val="tx1">
                    <a:lumMod val="75000"/>
                  </a:schemeClr>
                </a:solidFill>
              </a:rPr>
              <a:t>1</a:t>
            </a:r>
            <a:r>
              <a:rPr lang="ja-JP" altLang="en-US" sz="1400" dirty="0">
                <a:solidFill>
                  <a:schemeClr val="tx1">
                    <a:lumMod val="75000"/>
                  </a:schemeClr>
                </a:solidFill>
              </a:rPr>
              <a:t>つ目、</a:t>
            </a:r>
            <a:r>
              <a:rPr lang="en-US" altLang="ja-JP" sz="1400" dirty="0">
                <a:solidFill>
                  <a:schemeClr val="tx1">
                    <a:lumMod val="75000"/>
                  </a:schemeClr>
                </a:solidFill>
              </a:rPr>
              <a:t>2</a:t>
            </a:r>
            <a:r>
              <a:rPr lang="ja-JP" altLang="en-US" sz="1400" dirty="0">
                <a:solidFill>
                  <a:schemeClr val="tx1">
                    <a:lumMod val="75000"/>
                  </a:schemeClr>
                </a:solidFill>
              </a:rPr>
              <a:t>つ目の</a:t>
            </a:r>
            <a:r>
              <a:rPr lang="en-US" altLang="ja-JP" sz="1400" dirty="0">
                <a:solidFill>
                  <a:schemeClr val="tx1">
                    <a:lumMod val="75000"/>
                  </a:schemeClr>
                </a:solidFill>
              </a:rPr>
              <a:t>c1</a:t>
            </a:r>
            <a:r>
              <a:rPr lang="ja-JP" altLang="en-US" sz="1400" dirty="0">
                <a:solidFill>
                  <a:schemeClr val="tx1">
                    <a:lumMod val="75000"/>
                  </a:schemeClr>
                </a:solidFill>
              </a:rPr>
              <a:t>は長さすら表示されない</a:t>
            </a:r>
            <a:endParaRPr lang="en-US" altLang="ja-JP" sz="1400" dirty="0">
              <a:solidFill>
                <a:schemeClr val="tx1">
                  <a:lumMod val="75000"/>
                </a:schemeClr>
              </a:solidFill>
            </a:endParaRPr>
          </a:p>
          <a:p>
            <a:pPr marL="285750" indent="-285750">
              <a:buFont typeface="Arial" panose="020B0604020202020204" pitchFamily="34" charset="0"/>
              <a:buChar char="•"/>
            </a:pPr>
            <a:r>
              <a:rPr lang="en-US" altLang="ja-JP" sz="1400" dirty="0">
                <a:solidFill>
                  <a:schemeClr val="tx1">
                    <a:lumMod val="75000"/>
                  </a:schemeClr>
                </a:solidFill>
              </a:rPr>
              <a:t>3</a:t>
            </a:r>
            <a:r>
              <a:rPr lang="ja-JP" altLang="en-US" sz="1400" dirty="0">
                <a:solidFill>
                  <a:schemeClr val="tx1">
                    <a:lumMod val="75000"/>
                  </a:schemeClr>
                </a:solidFill>
              </a:rPr>
              <a:t>つ目のデータは</a:t>
            </a:r>
            <a:r>
              <a:rPr lang="en-US" altLang="ja-JP" sz="1400" dirty="0">
                <a:solidFill>
                  <a:schemeClr val="tx1">
                    <a:lumMod val="75000"/>
                  </a:schemeClr>
                </a:solidFill>
              </a:rPr>
              <a:t>c1</a:t>
            </a:r>
            <a:r>
              <a:rPr lang="ja-JP" altLang="en-US" sz="1400" dirty="0">
                <a:solidFill>
                  <a:schemeClr val="tx1">
                    <a:lumMod val="75000"/>
                  </a:schemeClr>
                </a:solidFill>
              </a:rPr>
              <a:t>の長さは</a:t>
            </a:r>
            <a:r>
              <a:rPr lang="en-US" altLang="ja-JP" sz="1400" dirty="0">
                <a:solidFill>
                  <a:schemeClr val="tx1">
                    <a:lumMod val="75000"/>
                  </a:schemeClr>
                </a:solidFill>
              </a:rPr>
              <a:t>4</a:t>
            </a:r>
          </a:p>
          <a:p>
            <a:pPr marL="285750" indent="-285750">
              <a:buFont typeface="Arial" panose="020B0604020202020204" pitchFamily="34" charset="0"/>
              <a:buChar char="•"/>
            </a:pPr>
            <a:r>
              <a:rPr lang="en-US" altLang="ja-JP" sz="1400" dirty="0">
                <a:solidFill>
                  <a:schemeClr val="tx1">
                    <a:lumMod val="75000"/>
                  </a:schemeClr>
                </a:solidFill>
              </a:rPr>
              <a:t>4</a:t>
            </a:r>
            <a:r>
              <a:rPr lang="ja-JP" altLang="en-US" sz="1400" dirty="0">
                <a:solidFill>
                  <a:schemeClr val="tx1">
                    <a:lumMod val="75000"/>
                  </a:schemeClr>
                </a:solidFill>
              </a:rPr>
              <a:t>つ目のデータは</a:t>
            </a:r>
            <a:r>
              <a:rPr lang="en-US" altLang="ja-JP" sz="1400" dirty="0">
                <a:solidFill>
                  <a:schemeClr val="tx1">
                    <a:lumMod val="75000"/>
                  </a:schemeClr>
                </a:solidFill>
              </a:rPr>
              <a:t>c1</a:t>
            </a:r>
            <a:r>
              <a:rPr lang="ja-JP" altLang="en-US" sz="1400" dirty="0">
                <a:solidFill>
                  <a:schemeClr val="tx1">
                    <a:lumMod val="75000"/>
                  </a:schemeClr>
                </a:solidFill>
              </a:rPr>
              <a:t>の長さは</a:t>
            </a:r>
            <a:r>
              <a:rPr lang="en-US" altLang="ja-JP" sz="1400" dirty="0">
                <a:solidFill>
                  <a:schemeClr val="tx1">
                    <a:lumMod val="75000"/>
                  </a:schemeClr>
                </a:solidFill>
              </a:rPr>
              <a:t>0</a:t>
            </a:r>
          </a:p>
          <a:p>
            <a:pPr marL="285750" indent="-285750">
              <a:buFont typeface="Arial" panose="020B0604020202020204" pitchFamily="34" charset="0"/>
              <a:buChar char="•"/>
            </a:pPr>
            <a:endParaRPr kumimoji="1" lang="en-US" altLang="ja-JP" sz="1400" dirty="0">
              <a:solidFill>
                <a:schemeClr val="tx1">
                  <a:lumMod val="75000"/>
                </a:schemeClr>
              </a:solidFill>
            </a:endParaRPr>
          </a:p>
        </p:txBody>
      </p:sp>
    </p:spTree>
    <p:extLst>
      <p:ext uri="{BB962C8B-B14F-4D97-AF65-F5344CB8AC3E}">
        <p14:creationId xmlns:p14="http://schemas.microsoft.com/office/powerpoint/2010/main" val="3363414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80BAA-C9B6-255C-F12D-471675A9FE0C}"/>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35B3848F-E304-6932-81BA-E3FC9C0FF0C5}"/>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953C17C0-C617-6374-4BA8-621F1EDDBF64}"/>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2800" dirty="0"/>
              <a:t>NULL</a:t>
            </a:r>
            <a:r>
              <a:rPr lang="ja-JP" altLang="en-US" sz="2800" dirty="0"/>
              <a:t>が処理できるパターンは限られている、特殊なため注意が必要</a:t>
            </a:r>
            <a:endParaRPr lang="en-US" altLang="ja-JP" sz="2800" dirty="0"/>
          </a:p>
        </p:txBody>
      </p:sp>
      <p:sp>
        <p:nvSpPr>
          <p:cNvPr id="4" name="タイトル プレースホルダー 1">
            <a:extLst>
              <a:ext uri="{FF2B5EF4-FFF2-40B4-BE49-F238E27FC236}">
                <a16:creationId xmlns:a16="http://schemas.microsoft.com/office/drawing/2014/main" id="{D15DDDEF-01A5-589A-8D17-C05F9508720E}"/>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NULL</a:t>
            </a:r>
            <a:r>
              <a:rPr lang="ja-JP" altLang="en-US" dirty="0"/>
              <a:t>の扱いについて</a:t>
            </a:r>
            <a:endParaRPr lang="en-US" altLang="ja-JP" dirty="0"/>
          </a:p>
        </p:txBody>
      </p:sp>
      <p:sp>
        <p:nvSpPr>
          <p:cNvPr id="11" name="正方形/長方形 10">
            <a:extLst>
              <a:ext uri="{FF2B5EF4-FFF2-40B4-BE49-F238E27FC236}">
                <a16:creationId xmlns:a16="http://schemas.microsoft.com/office/drawing/2014/main" id="{4B058C62-1447-86A3-BC8D-933FFEDFBE7A}"/>
              </a:ext>
            </a:extLst>
          </p:cNvPr>
          <p:cNvSpPr/>
          <p:nvPr/>
        </p:nvSpPr>
        <p:spPr>
          <a:xfrm>
            <a:off x="355600" y="2279652"/>
            <a:ext cx="1149346" cy="11493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算術式</a:t>
            </a:r>
            <a:endParaRPr lang="en-US" altLang="ja-JP" b="1" dirty="0"/>
          </a:p>
          <a:p>
            <a:pPr algn="ctr"/>
            <a:r>
              <a:rPr lang="ja-JP" altLang="en-US" b="1" dirty="0"/>
              <a:t>での扱い</a:t>
            </a:r>
            <a:endParaRPr kumimoji="1" lang="ja-JP" altLang="en-US" b="1" dirty="0"/>
          </a:p>
        </p:txBody>
      </p:sp>
      <p:sp>
        <p:nvSpPr>
          <p:cNvPr id="12" name="正方形/長方形 11">
            <a:extLst>
              <a:ext uri="{FF2B5EF4-FFF2-40B4-BE49-F238E27FC236}">
                <a16:creationId xmlns:a16="http://schemas.microsoft.com/office/drawing/2014/main" id="{61797C1F-1012-BF26-17D9-87460C66FCCD}"/>
              </a:ext>
            </a:extLst>
          </p:cNvPr>
          <p:cNvSpPr/>
          <p:nvPr/>
        </p:nvSpPr>
        <p:spPr>
          <a:xfrm>
            <a:off x="355600" y="3714749"/>
            <a:ext cx="1149346" cy="11493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文字列の</a:t>
            </a:r>
            <a:endParaRPr lang="en-US" altLang="ja-JP" b="1" dirty="0"/>
          </a:p>
          <a:p>
            <a:pPr algn="ctr"/>
            <a:r>
              <a:rPr lang="ja-JP" altLang="en-US" b="1" dirty="0"/>
              <a:t>連携</a:t>
            </a:r>
          </a:p>
        </p:txBody>
      </p:sp>
      <p:sp>
        <p:nvSpPr>
          <p:cNvPr id="13" name="正方形/長方形 12">
            <a:extLst>
              <a:ext uri="{FF2B5EF4-FFF2-40B4-BE49-F238E27FC236}">
                <a16:creationId xmlns:a16="http://schemas.microsoft.com/office/drawing/2014/main" id="{C694DC7C-9FDC-D88F-B12F-FC2AF1C1C580}"/>
              </a:ext>
            </a:extLst>
          </p:cNvPr>
          <p:cNvSpPr/>
          <p:nvPr/>
        </p:nvSpPr>
        <p:spPr>
          <a:xfrm>
            <a:off x="355600" y="5149846"/>
            <a:ext cx="1149346" cy="114934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検索</a:t>
            </a:r>
            <a:endParaRPr lang="en-US" altLang="ja-JP" b="1" dirty="0"/>
          </a:p>
          <a:p>
            <a:pPr algn="ctr"/>
            <a:r>
              <a:rPr lang="ja-JP" altLang="en-US" b="1" dirty="0"/>
              <a:t>方法</a:t>
            </a:r>
          </a:p>
        </p:txBody>
      </p:sp>
      <p:cxnSp>
        <p:nvCxnSpPr>
          <p:cNvPr id="16" name="直線コネクタ 15">
            <a:extLst>
              <a:ext uri="{FF2B5EF4-FFF2-40B4-BE49-F238E27FC236}">
                <a16:creationId xmlns:a16="http://schemas.microsoft.com/office/drawing/2014/main" id="{B0C39C79-0AAC-6F0E-9A9D-DF9A6C6074C2}"/>
              </a:ext>
            </a:extLst>
          </p:cNvPr>
          <p:cNvCxnSpPr>
            <a:cxnSpLocks/>
          </p:cNvCxnSpPr>
          <p:nvPr/>
        </p:nvCxnSpPr>
        <p:spPr>
          <a:xfrm>
            <a:off x="355600" y="3568700"/>
            <a:ext cx="11506200" cy="0"/>
          </a:xfrm>
          <a:prstGeom prst="line">
            <a:avLst/>
          </a:prstGeom>
          <a:ln w="19050">
            <a:solidFill>
              <a:schemeClr val="tx1">
                <a:lumMod val="60000"/>
                <a:lumOff val="4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66004C84-DC84-A584-DEA3-75F5F16664A3}"/>
              </a:ext>
            </a:extLst>
          </p:cNvPr>
          <p:cNvCxnSpPr>
            <a:cxnSpLocks/>
          </p:cNvCxnSpPr>
          <p:nvPr/>
        </p:nvCxnSpPr>
        <p:spPr>
          <a:xfrm>
            <a:off x="355600" y="5003800"/>
            <a:ext cx="11506200" cy="0"/>
          </a:xfrm>
          <a:prstGeom prst="line">
            <a:avLst/>
          </a:prstGeom>
          <a:ln w="19050">
            <a:solidFill>
              <a:schemeClr val="tx1">
                <a:lumMod val="60000"/>
                <a:lumOff val="40000"/>
              </a:schemeClr>
            </a:solidFill>
            <a:prstDash val="dash"/>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505964A8-347A-419B-72BB-396BFB48F431}"/>
              </a:ext>
            </a:extLst>
          </p:cNvPr>
          <p:cNvSpPr txBox="1"/>
          <p:nvPr/>
        </p:nvSpPr>
        <p:spPr>
          <a:xfrm>
            <a:off x="1752600" y="2279652"/>
            <a:ext cx="10109200" cy="1169551"/>
          </a:xfrm>
          <a:prstGeom prst="rect">
            <a:avLst/>
          </a:prstGeom>
          <a:noFill/>
        </p:spPr>
        <p:txBody>
          <a:bodyPr wrap="square" rtlCol="0">
            <a:spAutoFit/>
          </a:bodyPr>
          <a:lstStyle/>
          <a:p>
            <a:pPr marL="285750" indent="-285750">
              <a:buFont typeface="Arial" panose="020B0604020202020204" pitchFamily="34" charset="0"/>
              <a:buChar char="•"/>
            </a:pPr>
            <a:r>
              <a:rPr lang="en-US" altLang="ja-JP" sz="1400" dirty="0"/>
              <a:t>NULL</a:t>
            </a:r>
            <a:r>
              <a:rPr lang="ja-JP" altLang="en-US" sz="1400" dirty="0"/>
              <a:t>を含む算術式は</a:t>
            </a:r>
            <a:r>
              <a:rPr lang="ja-JP" altLang="en-US" sz="1400" b="1" dirty="0"/>
              <a:t>「常に</a:t>
            </a:r>
            <a:r>
              <a:rPr lang="en-US" altLang="ja-JP" sz="1400" b="1" dirty="0"/>
              <a:t>NULL</a:t>
            </a:r>
            <a:r>
              <a:rPr lang="ja-JP" altLang="en-US" sz="1400" b="1" dirty="0"/>
              <a:t>」</a:t>
            </a:r>
            <a:r>
              <a:rPr lang="ja-JP" altLang="en-US" sz="1400" dirty="0"/>
              <a:t>が設定される</a:t>
            </a:r>
            <a:endParaRPr lang="en-US" altLang="ja-JP" sz="1400" dirty="0"/>
          </a:p>
          <a:p>
            <a:pPr marL="285750" indent="-285750">
              <a:buFont typeface="Arial" panose="020B0604020202020204" pitchFamily="34" charset="0"/>
              <a:buChar char="•"/>
            </a:pPr>
            <a:r>
              <a:rPr kumimoji="1" lang="ja-JP" altLang="en-US" sz="1400" dirty="0"/>
              <a:t>例えば、「</a:t>
            </a:r>
            <a:r>
              <a:rPr kumimoji="1" lang="en-US" altLang="ja-JP" sz="1400" dirty="0"/>
              <a:t>10 + NULL</a:t>
            </a:r>
            <a:r>
              <a:rPr kumimoji="1" lang="ja-JP" altLang="en-US" sz="1400" dirty="0"/>
              <a:t>」は「</a:t>
            </a:r>
            <a:r>
              <a:rPr kumimoji="1" lang="en-US" altLang="ja-JP" sz="1400" dirty="0"/>
              <a:t>NULL</a:t>
            </a:r>
            <a:r>
              <a:rPr kumimoji="1" lang="ja-JP" altLang="en-US" sz="1400" dirty="0"/>
              <a:t>」になる</a:t>
            </a:r>
            <a:endParaRPr kumimoji="1" lang="en-US" altLang="ja-JP" sz="1400" dirty="0"/>
          </a:p>
          <a:p>
            <a:endParaRPr kumimoji="1" lang="en-US" altLang="ja-JP" sz="1400" dirty="0"/>
          </a:p>
          <a:p>
            <a:endParaRPr lang="en-US" altLang="ja-JP" sz="1400" dirty="0"/>
          </a:p>
          <a:p>
            <a:endParaRPr kumimoji="1" lang="en-US" altLang="ja-JP" sz="1400" dirty="0"/>
          </a:p>
        </p:txBody>
      </p:sp>
      <p:sp>
        <p:nvSpPr>
          <p:cNvPr id="23" name="テキスト ボックス 22">
            <a:extLst>
              <a:ext uri="{FF2B5EF4-FFF2-40B4-BE49-F238E27FC236}">
                <a16:creationId xmlns:a16="http://schemas.microsoft.com/office/drawing/2014/main" id="{F93A6DA0-1C73-9162-CC7A-80D7A7DD48F4}"/>
              </a:ext>
            </a:extLst>
          </p:cNvPr>
          <p:cNvSpPr txBox="1"/>
          <p:nvPr/>
        </p:nvSpPr>
        <p:spPr>
          <a:xfrm>
            <a:off x="1752600" y="3714749"/>
            <a:ext cx="10109200" cy="954107"/>
          </a:xfrm>
          <a:prstGeom prst="rect">
            <a:avLst/>
          </a:prstGeom>
          <a:noFill/>
        </p:spPr>
        <p:txBody>
          <a:bodyPr wrap="square" rtlCol="0">
            <a:spAutoFit/>
          </a:bodyPr>
          <a:lstStyle/>
          <a:p>
            <a:pPr marL="285750" indent="-285750">
              <a:buFont typeface="Arial" panose="020B0604020202020204" pitchFamily="34" charset="0"/>
              <a:buChar char="•"/>
            </a:pPr>
            <a:r>
              <a:rPr lang="en-US" altLang="ja-JP" sz="1400" dirty="0"/>
              <a:t>NULL</a:t>
            </a:r>
            <a:r>
              <a:rPr lang="ja-JP" altLang="en-US" sz="1400" dirty="0"/>
              <a:t>を含む演算は一般に</a:t>
            </a:r>
            <a:r>
              <a:rPr lang="en-US" altLang="ja-JP" sz="1400" dirty="0"/>
              <a:t>NULL</a:t>
            </a:r>
            <a:r>
              <a:rPr lang="ja-JP" altLang="en-US" sz="1400" dirty="0"/>
              <a:t>になるが、</a:t>
            </a:r>
            <a:r>
              <a:rPr lang="ja-JP" altLang="en-US" sz="1400" b="1" dirty="0"/>
              <a:t>文字列の連携</a:t>
            </a:r>
            <a:r>
              <a:rPr lang="ja-JP" altLang="en-US" sz="1400" dirty="0"/>
              <a:t>は例外</a:t>
            </a:r>
            <a:endParaRPr lang="en-US" altLang="ja-JP" sz="1400" dirty="0"/>
          </a:p>
          <a:p>
            <a:pPr marL="285750" indent="-285750">
              <a:buFont typeface="Arial" panose="020B0604020202020204" pitchFamily="34" charset="0"/>
              <a:buChar char="•"/>
            </a:pPr>
            <a:r>
              <a:rPr kumimoji="1" lang="en-US" altLang="ja-JP" sz="1400" dirty="0"/>
              <a:t>NULL</a:t>
            </a:r>
            <a:r>
              <a:rPr kumimoji="1" lang="ja-JP" altLang="en-US" sz="1400" dirty="0"/>
              <a:t>と、</a:t>
            </a:r>
            <a:r>
              <a:rPr kumimoji="1" lang="en-US" altLang="ja-JP" sz="1400" dirty="0"/>
              <a:t>NULL</a:t>
            </a:r>
            <a:r>
              <a:rPr kumimoji="1" lang="ja-JP" altLang="en-US" sz="1400" dirty="0"/>
              <a:t>以外の文字列を連結した場合に限り、結果は指定した文字列になる</a:t>
            </a:r>
            <a:br>
              <a:rPr kumimoji="1" lang="en-US" altLang="ja-JP" sz="1400" dirty="0"/>
            </a:br>
            <a:r>
              <a:rPr kumimoji="1" lang="ja-JP" altLang="en-US" sz="1400" dirty="0"/>
              <a:t>「</a:t>
            </a:r>
            <a:r>
              <a:rPr kumimoji="1" lang="en-US" altLang="ja-JP" sz="1400" dirty="0"/>
              <a:t>SELECT NULL || ‘ABC’ FROM ~~</a:t>
            </a:r>
            <a:r>
              <a:rPr kumimoji="1" lang="ja-JP" altLang="en-US" sz="1400" dirty="0"/>
              <a:t>」 の処理結果は「</a:t>
            </a:r>
            <a:r>
              <a:rPr lang="en-US" altLang="ja-JP" sz="1400" dirty="0"/>
              <a:t>ABC</a:t>
            </a:r>
            <a:r>
              <a:rPr kumimoji="1" lang="ja-JP" altLang="en-US" sz="1400" dirty="0"/>
              <a:t>」になる</a:t>
            </a:r>
            <a:br>
              <a:rPr kumimoji="1" lang="en-US" altLang="ja-JP" sz="1400" dirty="0"/>
            </a:br>
            <a:r>
              <a:rPr lang="en-US" altLang="ja-JP" sz="1400" dirty="0"/>
              <a:t>※</a:t>
            </a:r>
            <a:r>
              <a:rPr lang="ja-JP" altLang="en-US" sz="1400" dirty="0"/>
              <a:t>「</a:t>
            </a:r>
            <a:r>
              <a:rPr lang="en-US" altLang="ja-JP" sz="1400" dirty="0"/>
              <a:t>||</a:t>
            </a:r>
            <a:r>
              <a:rPr lang="ja-JP" altLang="en-US" sz="1400" dirty="0"/>
              <a:t>」は文字列の連結をさせる演算子</a:t>
            </a:r>
            <a:endParaRPr kumimoji="1" lang="en-US" altLang="ja-JP" sz="1400" dirty="0"/>
          </a:p>
        </p:txBody>
      </p:sp>
      <p:sp>
        <p:nvSpPr>
          <p:cNvPr id="24" name="テキスト ボックス 23">
            <a:extLst>
              <a:ext uri="{FF2B5EF4-FFF2-40B4-BE49-F238E27FC236}">
                <a16:creationId xmlns:a16="http://schemas.microsoft.com/office/drawing/2014/main" id="{38EB0A69-8F19-5140-048C-FAC7A7A5AB79}"/>
              </a:ext>
            </a:extLst>
          </p:cNvPr>
          <p:cNvSpPr txBox="1"/>
          <p:nvPr/>
        </p:nvSpPr>
        <p:spPr>
          <a:xfrm>
            <a:off x="1752600" y="5149846"/>
            <a:ext cx="10109200" cy="1384995"/>
          </a:xfrm>
          <a:prstGeom prst="rect">
            <a:avLst/>
          </a:prstGeom>
          <a:noFill/>
        </p:spPr>
        <p:txBody>
          <a:bodyPr wrap="square" rtlCol="0">
            <a:spAutoFit/>
          </a:bodyPr>
          <a:lstStyle/>
          <a:p>
            <a:pPr marL="285750" indent="-285750">
              <a:buFont typeface="Arial" panose="020B0604020202020204" pitchFamily="34" charset="0"/>
              <a:buChar char="•"/>
            </a:pPr>
            <a:r>
              <a:rPr lang="en-US" altLang="ja-JP" sz="1400" dirty="0"/>
              <a:t>NULL</a:t>
            </a:r>
            <a:r>
              <a:rPr lang="ja-JP" altLang="en-US" sz="1400" dirty="0"/>
              <a:t>は基本的に</a:t>
            </a:r>
            <a:r>
              <a:rPr lang="ja-JP" altLang="en-US" sz="1400" b="1" dirty="0"/>
              <a:t>検索できない</a:t>
            </a:r>
            <a:endParaRPr lang="en-US" altLang="ja-JP" sz="1400" b="1" dirty="0"/>
          </a:p>
          <a:p>
            <a:pPr marL="285750" indent="-285750">
              <a:buFont typeface="Arial" panose="020B0604020202020204" pitchFamily="34" charset="0"/>
              <a:buChar char="•"/>
            </a:pPr>
            <a:r>
              <a:rPr kumimoji="1" lang="ja-JP" altLang="en-US" sz="1400" dirty="0"/>
              <a:t>要素を検索するために「</a:t>
            </a:r>
            <a:r>
              <a:rPr kumimoji="1" lang="en-US" altLang="ja-JP" sz="1400" dirty="0"/>
              <a:t>NULL</a:t>
            </a:r>
            <a:r>
              <a:rPr kumimoji="1" lang="ja-JP" altLang="en-US" sz="1400" dirty="0"/>
              <a:t>」はほかのものと違い、</a:t>
            </a:r>
            <a:r>
              <a:rPr lang="en-US" altLang="ja-JP" sz="1400" b="1" dirty="0"/>
              <a:t>IS NULL </a:t>
            </a:r>
            <a:r>
              <a:rPr lang="ja-JP" altLang="en-US" sz="1400" b="1" dirty="0"/>
              <a:t>か </a:t>
            </a:r>
            <a:r>
              <a:rPr lang="en-US" altLang="ja-JP" sz="1400" b="1" dirty="0"/>
              <a:t>IS NOT NULL</a:t>
            </a:r>
            <a:r>
              <a:rPr lang="ja-JP" altLang="en-US" sz="1400" dirty="0"/>
              <a:t>でしか指定できない</a:t>
            </a:r>
            <a:endParaRPr lang="en-US" altLang="ja-JP" sz="1400" dirty="0"/>
          </a:p>
          <a:p>
            <a:pPr marL="285750" indent="-285750">
              <a:buFont typeface="Arial" panose="020B0604020202020204" pitchFamily="34" charset="0"/>
              <a:buChar char="•"/>
            </a:pPr>
            <a:r>
              <a:rPr kumimoji="1" lang="en-US" altLang="ja-JP" sz="1400" dirty="0"/>
              <a:t>SE</a:t>
            </a:r>
            <a:r>
              <a:rPr lang="en-US" altLang="ja-JP" sz="1400" dirty="0"/>
              <a:t>LECT * FROM ~~ WHERE c1 IS NULL (c1 = NULL </a:t>
            </a:r>
            <a:r>
              <a:rPr lang="ja-JP" altLang="en-US" sz="1400" dirty="0"/>
              <a:t>には反応してくれない</a:t>
            </a:r>
            <a:r>
              <a:rPr lang="en-US" altLang="ja-JP" sz="1400" dirty="0"/>
              <a:t>)</a:t>
            </a:r>
            <a:endParaRPr kumimoji="1" lang="en-US" altLang="ja-JP" sz="1400" dirty="0"/>
          </a:p>
          <a:p>
            <a:endParaRPr kumimoji="1" lang="en-US" altLang="ja-JP" sz="1400" dirty="0"/>
          </a:p>
          <a:p>
            <a:endParaRPr lang="en-US" altLang="ja-JP" sz="1400" dirty="0"/>
          </a:p>
          <a:p>
            <a:endParaRPr kumimoji="1" lang="en-US" altLang="ja-JP" sz="1400" dirty="0"/>
          </a:p>
        </p:txBody>
      </p:sp>
    </p:spTree>
    <p:extLst>
      <p:ext uri="{BB962C8B-B14F-4D97-AF65-F5344CB8AC3E}">
        <p14:creationId xmlns:p14="http://schemas.microsoft.com/office/powerpoint/2010/main" val="1610424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1F63C-3A94-9A9F-BF5C-D48C07EDAA3C}"/>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12CFF6F0-8AA9-035B-CDEE-43ADBFBB404C}"/>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432535C8-43DA-B52C-8CA7-8E59CAF818BC}"/>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扱いの難しい（特殊な）</a:t>
            </a:r>
            <a:r>
              <a:rPr lang="en-US" altLang="ja-JP" sz="2800" dirty="0"/>
              <a:t>NULL</a:t>
            </a:r>
            <a:r>
              <a:rPr lang="ja-JP" altLang="en-US" sz="2800" dirty="0"/>
              <a:t>は使用するべきではない、というわけではない</a:t>
            </a:r>
            <a:endParaRPr lang="en-US" altLang="ja-JP" sz="2800" dirty="0"/>
          </a:p>
        </p:txBody>
      </p:sp>
      <p:sp>
        <p:nvSpPr>
          <p:cNvPr id="4" name="タイトル プレースホルダー 1">
            <a:extLst>
              <a:ext uri="{FF2B5EF4-FFF2-40B4-BE49-F238E27FC236}">
                <a16:creationId xmlns:a16="http://schemas.microsoft.com/office/drawing/2014/main" id="{BB6E57DB-BC07-C2AA-1102-A117FCB524AC}"/>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dirty="0"/>
              <a:t>NULL</a:t>
            </a:r>
            <a:r>
              <a:rPr lang="ja-JP" altLang="en-US" dirty="0"/>
              <a:t>の扱いについて</a:t>
            </a:r>
            <a:endParaRPr lang="en-US" altLang="ja-JP" dirty="0"/>
          </a:p>
        </p:txBody>
      </p:sp>
      <p:sp>
        <p:nvSpPr>
          <p:cNvPr id="5" name="タイトル プレースホルダー 1">
            <a:extLst>
              <a:ext uri="{FF2B5EF4-FFF2-40B4-BE49-F238E27FC236}">
                <a16:creationId xmlns:a16="http://schemas.microsoft.com/office/drawing/2014/main" id="{85EB716D-BB6E-A4C1-1D7E-648FD1DDE97D}"/>
              </a:ext>
            </a:extLst>
          </p:cNvPr>
          <p:cNvSpPr txBox="1">
            <a:spLocks/>
          </p:cNvSpPr>
          <p:nvPr/>
        </p:nvSpPr>
        <p:spPr>
          <a:xfrm>
            <a:off x="355600" y="2146304"/>
            <a:ext cx="11506200" cy="140636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en-US" altLang="ja-JP" sz="1800" dirty="0"/>
              <a:t>NULL</a:t>
            </a:r>
            <a:r>
              <a:rPr lang="ja-JP" altLang="en-US" sz="1800" dirty="0"/>
              <a:t>は</a:t>
            </a:r>
            <a:r>
              <a:rPr lang="en-US" altLang="ja-JP" sz="1800" dirty="0"/>
              <a:t>SQL</a:t>
            </a:r>
            <a:r>
              <a:rPr lang="ja-JP" altLang="en-US" sz="1800" dirty="0"/>
              <a:t>を呼び出す側のプログラミング言語（</a:t>
            </a:r>
            <a:r>
              <a:rPr lang="en-US" altLang="ja-JP" sz="1800" dirty="0"/>
              <a:t>C,JAVA,PHP…</a:t>
            </a:r>
            <a:r>
              <a:rPr lang="ja-JP" altLang="en-US" sz="1800" dirty="0"/>
              <a:t>）との間で、扱い方が異なるので問題となるケースがある</a:t>
            </a:r>
            <a:endParaRPr lang="en-US" altLang="ja-JP" sz="1800" dirty="0"/>
          </a:p>
          <a:p>
            <a:pPr marL="285750" indent="-285750">
              <a:buFont typeface="Arial" panose="020B0604020202020204" pitchFamily="34" charset="0"/>
              <a:buChar char="•"/>
            </a:pPr>
            <a:r>
              <a:rPr lang="ja-JP" altLang="en-US" sz="1800" dirty="0"/>
              <a:t>上記の通り、様々特殊な処理方式が</a:t>
            </a:r>
            <a:r>
              <a:rPr lang="ja-JP" altLang="en-US" sz="1800"/>
              <a:t>あるので扱いが難しい</a:t>
            </a:r>
            <a:r>
              <a:rPr lang="ja-JP" altLang="en-US" sz="1800" dirty="0"/>
              <a:t>。</a:t>
            </a:r>
            <a:endParaRPr lang="en-US" altLang="ja-JP" sz="1800" dirty="0"/>
          </a:p>
          <a:p>
            <a:pPr marL="285750" indent="-285750">
              <a:buFont typeface="Arial" panose="020B0604020202020204" pitchFamily="34" charset="0"/>
              <a:buChar char="•"/>
            </a:pPr>
            <a:r>
              <a:rPr lang="ja-JP" altLang="en-US" sz="1800" dirty="0"/>
              <a:t>前回説明したインデックスにも</a:t>
            </a:r>
            <a:r>
              <a:rPr lang="en-US" altLang="ja-JP" sz="1800" dirty="0"/>
              <a:t>NULL</a:t>
            </a:r>
            <a:r>
              <a:rPr lang="ja-JP" altLang="en-US" sz="1800" dirty="0"/>
              <a:t>は反映されない。（カーディナリティが低下する）</a:t>
            </a:r>
            <a:endParaRPr lang="en-US" altLang="ja-JP" sz="1800" dirty="0"/>
          </a:p>
          <a:p>
            <a:pPr marL="285750" indent="-285750">
              <a:buFont typeface="Arial" panose="020B0604020202020204" pitchFamily="34" charset="0"/>
              <a:buChar char="•"/>
            </a:pPr>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10" name="タイトル プレースホルダー 1">
            <a:extLst>
              <a:ext uri="{FF2B5EF4-FFF2-40B4-BE49-F238E27FC236}">
                <a16:creationId xmlns:a16="http://schemas.microsoft.com/office/drawing/2014/main" id="{0D503FED-BAC1-7536-608F-0D652E2BAD37}"/>
              </a:ext>
            </a:extLst>
          </p:cNvPr>
          <p:cNvSpPr txBox="1">
            <a:spLocks/>
          </p:cNvSpPr>
          <p:nvPr/>
        </p:nvSpPr>
        <p:spPr>
          <a:xfrm>
            <a:off x="355600" y="4343560"/>
            <a:ext cx="11506200" cy="196834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en-US" altLang="ja-JP" sz="1800" dirty="0"/>
              <a:t>NULL</a:t>
            </a:r>
            <a:r>
              <a:rPr lang="ja-JP" altLang="en-US" sz="1800" dirty="0"/>
              <a:t>を使った方が正確にビジネスロジックを表現できるパターンもあるので、何が何でも</a:t>
            </a:r>
            <a:r>
              <a:rPr lang="en-US" altLang="ja-JP" sz="1800" dirty="0"/>
              <a:t>NULL</a:t>
            </a:r>
            <a:r>
              <a:rPr lang="ja-JP" altLang="en-US" sz="1800" dirty="0"/>
              <a:t>を使わない、という制約を課すべきではない。</a:t>
            </a:r>
            <a:br>
              <a:rPr lang="en-US" altLang="ja-JP" sz="1800" dirty="0"/>
            </a:br>
            <a:r>
              <a:rPr lang="ja-JP" altLang="en-US" sz="1800" dirty="0"/>
              <a:t>例えば、従業員テーブルに「退職年月日」を作る場合、入社した時点や勤務している時点では退職日は「不明」となるので</a:t>
            </a:r>
            <a:r>
              <a:rPr lang="en-US" altLang="ja-JP" sz="1800" dirty="0"/>
              <a:t>NULL</a:t>
            </a:r>
            <a:r>
              <a:rPr lang="ja-JP" altLang="en-US" sz="1800" dirty="0"/>
              <a:t>として扱う方が現実を正確に描写している</a:t>
            </a:r>
            <a:br>
              <a:rPr lang="en-US" altLang="ja-JP" sz="1800" dirty="0"/>
            </a:br>
            <a:r>
              <a:rPr lang="ja-JP" altLang="en-US" sz="1800" dirty="0"/>
              <a:t>（固定値で「</a:t>
            </a:r>
            <a:r>
              <a:rPr lang="en-US" altLang="ja-JP" sz="1800" dirty="0"/>
              <a:t>9999</a:t>
            </a:r>
            <a:r>
              <a:rPr lang="ja-JP" altLang="en-US" sz="1800" dirty="0"/>
              <a:t>年</a:t>
            </a:r>
            <a:r>
              <a:rPr lang="en-US" altLang="ja-JP" sz="1800" dirty="0"/>
              <a:t>12</a:t>
            </a:r>
            <a:r>
              <a:rPr lang="ja-JP" altLang="en-US" sz="1800" dirty="0"/>
              <a:t>月</a:t>
            </a:r>
            <a:r>
              <a:rPr lang="en-US" altLang="ja-JP" sz="1800" dirty="0"/>
              <a:t>31</a:t>
            </a:r>
            <a:r>
              <a:rPr lang="ja-JP" altLang="en-US" sz="1800" dirty="0"/>
              <a:t>日」などのように扱うケースもある）</a:t>
            </a:r>
            <a:endParaRPr lang="en-US" altLang="ja-JP" sz="1800" dirty="0"/>
          </a:p>
          <a:p>
            <a:pPr marL="285750" indent="-285750">
              <a:buFont typeface="Arial" panose="020B0604020202020204" pitchFamily="34" charset="0"/>
              <a:buChar char="•"/>
            </a:pPr>
            <a:r>
              <a:rPr lang="ja-JP" altLang="en-US" sz="1800" dirty="0"/>
              <a:t>「</a:t>
            </a:r>
            <a:r>
              <a:rPr lang="en-US" altLang="ja-JP" sz="1800" dirty="0"/>
              <a:t>NULL</a:t>
            </a:r>
            <a:r>
              <a:rPr lang="ja-JP" altLang="en-US" sz="1800" dirty="0"/>
              <a:t>」の特性や処理方式を正確に理解して上手な付き合い方を模索する必要がある</a:t>
            </a:r>
            <a:endParaRPr lang="en-US" altLang="ja-JP" sz="1800" dirty="0"/>
          </a:p>
          <a:p>
            <a:endParaRPr lang="en-US" altLang="ja-JP" sz="1800" dirty="0"/>
          </a:p>
          <a:p>
            <a:endParaRPr lang="en-US" altLang="ja-JP" sz="1800" dirty="0"/>
          </a:p>
          <a:p>
            <a:endParaRPr lang="en-US" altLang="ja-JP" sz="1800" dirty="0"/>
          </a:p>
        </p:txBody>
      </p:sp>
    </p:spTree>
    <p:extLst>
      <p:ext uri="{BB962C8B-B14F-4D97-AF65-F5344CB8AC3E}">
        <p14:creationId xmlns:p14="http://schemas.microsoft.com/office/powerpoint/2010/main" val="3200450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33F67-3C10-6633-12BE-34F8F8A48A1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740C99E-8A60-EAC0-A89B-6836B6DF154F}"/>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C7510BA4-7A54-A2C4-E89D-C4EF6C3509CC}"/>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本解説は、初学者が躓きがちな正規化についてその具体的な方法や必要性を</a:t>
            </a:r>
            <a:br>
              <a:rPr lang="en-US" altLang="ja-JP" sz="2800" dirty="0"/>
            </a:br>
            <a:r>
              <a:rPr lang="ja-JP" altLang="en-US" sz="2800" dirty="0"/>
              <a:t>解説することにより、</a:t>
            </a:r>
            <a:r>
              <a:rPr lang="en-US" altLang="ja-JP" sz="2800" dirty="0"/>
              <a:t>DB</a:t>
            </a:r>
            <a:r>
              <a:rPr lang="ja-JP" altLang="en-US" sz="2800" dirty="0"/>
              <a:t>学習へのハードルを下げることを目的としている</a:t>
            </a:r>
            <a:endParaRPr lang="en-US" altLang="ja-JP" sz="2800" dirty="0"/>
          </a:p>
        </p:txBody>
      </p:sp>
      <p:sp>
        <p:nvSpPr>
          <p:cNvPr id="4" name="タイトル プレースホルダー 1">
            <a:extLst>
              <a:ext uri="{FF2B5EF4-FFF2-40B4-BE49-F238E27FC236}">
                <a16:creationId xmlns:a16="http://schemas.microsoft.com/office/drawing/2014/main" id="{37A9D8E7-0DDA-4144-04F1-32E2E21FA926}"/>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目的</a:t>
            </a:r>
            <a:endParaRPr lang="en-US" altLang="ja-JP" dirty="0"/>
          </a:p>
        </p:txBody>
      </p:sp>
      <p:sp>
        <p:nvSpPr>
          <p:cNvPr id="8" name="二等辺三角形 7">
            <a:extLst>
              <a:ext uri="{FF2B5EF4-FFF2-40B4-BE49-F238E27FC236}">
                <a16:creationId xmlns:a16="http://schemas.microsoft.com/office/drawing/2014/main" id="{EB5AC460-77C4-3273-3AD4-F1611D15E829}"/>
              </a:ext>
            </a:extLst>
          </p:cNvPr>
          <p:cNvSpPr/>
          <p:nvPr/>
        </p:nvSpPr>
        <p:spPr>
          <a:xfrm rot="5400000">
            <a:off x="4329359" y="4369736"/>
            <a:ext cx="3601016" cy="585679"/>
          </a:xfrm>
          <a:prstGeom prst="triangle">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BC118070-57E6-FC5D-24FC-51292E3ACB11}"/>
              </a:ext>
            </a:extLst>
          </p:cNvPr>
          <p:cNvSpPr/>
          <p:nvPr/>
        </p:nvSpPr>
        <p:spPr>
          <a:xfrm>
            <a:off x="336024" y="2876616"/>
            <a:ext cx="5015186" cy="3586466"/>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lang="ja-JP" altLang="en-US" dirty="0">
                <a:solidFill>
                  <a:schemeClr val="tx1">
                    <a:lumMod val="75000"/>
                  </a:schemeClr>
                </a:solidFill>
              </a:rPr>
              <a:t>前回までの説明で、テーブルは分割して「扱いやすい集合」にする必要があることを伝えた</a:t>
            </a:r>
            <a:endParaRPr lang="en-US" altLang="ja-JP" dirty="0">
              <a:solidFill>
                <a:schemeClr val="tx1">
                  <a:lumMod val="75000"/>
                </a:schemeClr>
              </a:solidFill>
            </a:endParaRPr>
          </a:p>
          <a:p>
            <a:pPr marL="285750" indent="-285750">
              <a:buFont typeface="Wingdings" panose="05000000000000000000" pitchFamily="2" charset="2"/>
              <a:buChar char="l"/>
            </a:pPr>
            <a:r>
              <a:rPr kumimoji="1" lang="ja-JP" altLang="en-US" dirty="0">
                <a:solidFill>
                  <a:schemeClr val="tx1">
                    <a:lumMod val="75000"/>
                  </a:schemeClr>
                </a:solidFill>
              </a:rPr>
              <a:t>ただし、やみくもに分割をおこなえば良いというものではない</a:t>
            </a:r>
            <a:endParaRPr kumimoji="1" lang="en-US" altLang="ja-JP" dirty="0">
              <a:solidFill>
                <a:schemeClr val="tx1">
                  <a:lumMod val="75000"/>
                </a:schemeClr>
              </a:solidFill>
            </a:endParaRPr>
          </a:p>
          <a:p>
            <a:pPr marL="285750" indent="-285750">
              <a:buFont typeface="Wingdings" panose="05000000000000000000" pitchFamily="2" charset="2"/>
              <a:buChar char="l"/>
            </a:pPr>
            <a:r>
              <a:rPr lang="ja-JP" altLang="en-US" dirty="0">
                <a:solidFill>
                  <a:schemeClr val="tx1">
                    <a:lumMod val="75000"/>
                  </a:schemeClr>
                </a:solidFill>
              </a:rPr>
              <a:t>「正規化」はテーブル分割を「正しく」行う手段であるが、初学者が躓きがちなポイントであるため、解説を行う</a:t>
            </a:r>
            <a:endParaRPr kumimoji="1" lang="ja-JP" altLang="en-US" dirty="0">
              <a:solidFill>
                <a:schemeClr val="tx1">
                  <a:lumMod val="75000"/>
                </a:schemeClr>
              </a:solidFill>
            </a:endParaRPr>
          </a:p>
        </p:txBody>
      </p:sp>
      <p:sp>
        <p:nvSpPr>
          <p:cNvPr id="10" name="正方形/長方形 9">
            <a:extLst>
              <a:ext uri="{FF2B5EF4-FFF2-40B4-BE49-F238E27FC236}">
                <a16:creationId xmlns:a16="http://schemas.microsoft.com/office/drawing/2014/main" id="{A5DD0F5F-F7DD-E0B3-E8B8-43DC8378525E}"/>
              </a:ext>
            </a:extLst>
          </p:cNvPr>
          <p:cNvSpPr/>
          <p:nvPr/>
        </p:nvSpPr>
        <p:spPr>
          <a:xfrm>
            <a:off x="6821214" y="2876616"/>
            <a:ext cx="5015186" cy="3586466"/>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Wingdings" panose="05000000000000000000" pitchFamily="2" charset="2"/>
              <a:buChar char="l"/>
            </a:pPr>
            <a:r>
              <a:rPr lang="en-US" altLang="ja-JP" dirty="0">
                <a:solidFill>
                  <a:schemeClr val="tx1">
                    <a:lumMod val="75000"/>
                  </a:schemeClr>
                </a:solidFill>
              </a:rPr>
              <a:t>RDB</a:t>
            </a:r>
            <a:r>
              <a:rPr lang="ja-JP" altLang="en-US" dirty="0">
                <a:solidFill>
                  <a:schemeClr val="tx1">
                    <a:lumMod val="75000"/>
                  </a:schemeClr>
                </a:solidFill>
              </a:rPr>
              <a:t>を扱う上で必須の概念である「正規化」の方法をわかりやすく解説する。</a:t>
            </a:r>
            <a:endParaRPr lang="en-US" altLang="ja-JP" dirty="0">
              <a:solidFill>
                <a:schemeClr val="tx1">
                  <a:lumMod val="75000"/>
                </a:schemeClr>
              </a:solidFill>
            </a:endParaRPr>
          </a:p>
          <a:p>
            <a:pPr marL="285750" indent="-285750">
              <a:buFont typeface="Wingdings" panose="05000000000000000000" pitchFamily="2" charset="2"/>
              <a:buChar char="l"/>
            </a:pPr>
            <a:r>
              <a:rPr lang="ja-JP" altLang="en-US" dirty="0">
                <a:solidFill>
                  <a:schemeClr val="tx1">
                    <a:lumMod val="75000"/>
                  </a:schemeClr>
                </a:solidFill>
              </a:rPr>
              <a:t>「正規化」により、分割したテーブルを「関連させて」管理するとはどういうことかを理解してもらう。</a:t>
            </a:r>
            <a:br>
              <a:rPr lang="en-US" altLang="ja-JP" dirty="0">
                <a:solidFill>
                  <a:schemeClr val="tx1">
                    <a:lumMod val="75000"/>
                  </a:schemeClr>
                </a:solidFill>
              </a:rPr>
            </a:br>
            <a:endParaRPr lang="en-US" altLang="ja-JP" dirty="0">
              <a:solidFill>
                <a:schemeClr val="tx1">
                  <a:lumMod val="75000"/>
                </a:schemeClr>
              </a:solidFill>
            </a:endParaRPr>
          </a:p>
          <a:p>
            <a:pPr algn="ctr"/>
            <a:r>
              <a:rPr lang="en-US" altLang="ja-JP" b="1" dirty="0">
                <a:solidFill>
                  <a:schemeClr val="tx1">
                    <a:lumMod val="75000"/>
                  </a:schemeClr>
                </a:solidFill>
              </a:rPr>
              <a:t>RDB</a:t>
            </a:r>
            <a:r>
              <a:rPr lang="ja-JP" altLang="en-US" b="1" dirty="0">
                <a:solidFill>
                  <a:schemeClr val="tx1">
                    <a:lumMod val="75000"/>
                  </a:schemeClr>
                </a:solidFill>
              </a:rPr>
              <a:t>（リレーショナルデータベース）とはなにか</a:t>
            </a:r>
            <a:br>
              <a:rPr lang="en-US" altLang="ja-JP" b="1" dirty="0">
                <a:solidFill>
                  <a:schemeClr val="tx1">
                    <a:lumMod val="75000"/>
                  </a:schemeClr>
                </a:solidFill>
              </a:rPr>
            </a:br>
            <a:r>
              <a:rPr lang="ja-JP" altLang="en-US" b="1" dirty="0">
                <a:solidFill>
                  <a:schemeClr val="tx1">
                    <a:lumMod val="75000"/>
                  </a:schemeClr>
                </a:solidFill>
              </a:rPr>
              <a:t>ということの理解につながる</a:t>
            </a:r>
            <a:endParaRPr lang="en-US" altLang="ja-JP" b="1" dirty="0">
              <a:solidFill>
                <a:schemeClr val="tx1">
                  <a:lumMod val="75000"/>
                </a:schemeClr>
              </a:solidFill>
            </a:endParaRPr>
          </a:p>
          <a:p>
            <a:pPr marL="285750" indent="-285750">
              <a:buFont typeface="Wingdings" panose="05000000000000000000" pitchFamily="2" charset="2"/>
              <a:buChar char="l"/>
            </a:pPr>
            <a:endParaRPr kumimoji="1" lang="ja-JP" altLang="en-US" dirty="0">
              <a:solidFill>
                <a:schemeClr val="tx1">
                  <a:lumMod val="75000"/>
                </a:schemeClr>
              </a:solidFill>
            </a:endParaRPr>
          </a:p>
        </p:txBody>
      </p:sp>
      <p:sp>
        <p:nvSpPr>
          <p:cNvPr id="6" name="正方形/長方形 5">
            <a:extLst>
              <a:ext uri="{FF2B5EF4-FFF2-40B4-BE49-F238E27FC236}">
                <a16:creationId xmlns:a16="http://schemas.microsoft.com/office/drawing/2014/main" id="{725A5F26-C6B0-E077-E1C8-6C313703AE69}"/>
              </a:ext>
            </a:extLst>
          </p:cNvPr>
          <p:cNvSpPr/>
          <p:nvPr/>
        </p:nvSpPr>
        <p:spPr>
          <a:xfrm>
            <a:off x="355600" y="2322788"/>
            <a:ext cx="5015186" cy="53927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lumMod val="75000"/>
                  </a:schemeClr>
                </a:solidFill>
              </a:rPr>
              <a:t>本スライドの背景</a:t>
            </a:r>
            <a:endParaRPr lang="ja-JP" altLang="en-US" dirty="0">
              <a:solidFill>
                <a:schemeClr val="tx1">
                  <a:lumMod val="75000"/>
                </a:schemeClr>
              </a:solidFill>
            </a:endParaRPr>
          </a:p>
        </p:txBody>
      </p:sp>
      <p:sp>
        <p:nvSpPr>
          <p:cNvPr id="7" name="正方形/長方形 6">
            <a:extLst>
              <a:ext uri="{FF2B5EF4-FFF2-40B4-BE49-F238E27FC236}">
                <a16:creationId xmlns:a16="http://schemas.microsoft.com/office/drawing/2014/main" id="{484040B2-3DEC-59AA-9DBF-F91CE4F75D54}"/>
              </a:ext>
            </a:extLst>
          </p:cNvPr>
          <p:cNvSpPr/>
          <p:nvPr/>
        </p:nvSpPr>
        <p:spPr>
          <a:xfrm>
            <a:off x="6821214" y="2322788"/>
            <a:ext cx="5015186" cy="53927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lumMod val="75000"/>
                  </a:schemeClr>
                </a:solidFill>
              </a:rPr>
              <a:t>本スライドの目的</a:t>
            </a:r>
            <a:endParaRPr kumimoji="1" lang="ja-JP" altLang="en-US" dirty="0"/>
          </a:p>
        </p:txBody>
      </p:sp>
    </p:spTree>
    <p:extLst>
      <p:ext uri="{BB962C8B-B14F-4D97-AF65-F5344CB8AC3E}">
        <p14:creationId xmlns:p14="http://schemas.microsoft.com/office/powerpoint/2010/main" val="27551811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D02C-B025-C735-C7AA-DB5C545D2A38}"/>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DC54C1D9-9B3C-85B1-F430-4D83AB7A2A07}"/>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E4A9425F-8E44-EE32-51B1-F7ADF642676C}"/>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「正規化」とは、データの「冗長性」や「非一貫性」を排除するための方法論。</a:t>
            </a:r>
            <a:endParaRPr lang="en-US" altLang="ja-JP" sz="2800" dirty="0"/>
          </a:p>
        </p:txBody>
      </p:sp>
      <p:sp>
        <p:nvSpPr>
          <p:cNvPr id="4" name="タイトル プレースホルダー 1">
            <a:extLst>
              <a:ext uri="{FF2B5EF4-FFF2-40B4-BE49-F238E27FC236}">
                <a16:creationId xmlns:a16="http://schemas.microsoft.com/office/drawing/2014/main" id="{5680F27E-D53A-54A7-21B8-63AF896984EE}"/>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正規化とは何か</a:t>
            </a:r>
            <a:endParaRPr lang="en-US" altLang="ja-JP" dirty="0"/>
          </a:p>
        </p:txBody>
      </p:sp>
      <p:sp>
        <p:nvSpPr>
          <p:cNvPr id="5" name="タイトル プレースホルダー 1">
            <a:extLst>
              <a:ext uri="{FF2B5EF4-FFF2-40B4-BE49-F238E27FC236}">
                <a16:creationId xmlns:a16="http://schemas.microsoft.com/office/drawing/2014/main" id="{21C19791-CD7B-6F2C-08ED-0C784D15E129}"/>
              </a:ext>
            </a:extLst>
          </p:cNvPr>
          <p:cNvSpPr txBox="1">
            <a:spLocks/>
          </p:cNvSpPr>
          <p:nvPr/>
        </p:nvSpPr>
        <p:spPr>
          <a:xfrm>
            <a:off x="342900" y="2730501"/>
            <a:ext cx="5448300" cy="87383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同じ情報を複数テーブルや列に重複して保持すること。</a:t>
            </a:r>
            <a:endParaRPr lang="en-US" altLang="ja-JP" sz="1800" dirty="0"/>
          </a:p>
          <a:p>
            <a:r>
              <a:rPr lang="ja-JP" altLang="en-US" sz="1800" dirty="0"/>
              <a:t>例）顧客テーブルと注文テーブルにおける「住所」列</a:t>
            </a:r>
            <a:endParaRPr lang="en-US" altLang="ja-JP" sz="1800" dirty="0"/>
          </a:p>
        </p:txBody>
      </p:sp>
      <p:sp>
        <p:nvSpPr>
          <p:cNvPr id="7" name="正方形/長方形 6">
            <a:extLst>
              <a:ext uri="{FF2B5EF4-FFF2-40B4-BE49-F238E27FC236}">
                <a16:creationId xmlns:a16="http://schemas.microsoft.com/office/drawing/2014/main" id="{3B584954-9B97-E989-A20A-7739CE814683}"/>
              </a:ext>
            </a:extLst>
          </p:cNvPr>
          <p:cNvSpPr/>
          <p:nvPr/>
        </p:nvSpPr>
        <p:spPr>
          <a:xfrm>
            <a:off x="3429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rPr>
              <a:t>冗長性</a:t>
            </a:r>
          </a:p>
        </p:txBody>
      </p:sp>
      <p:sp>
        <p:nvSpPr>
          <p:cNvPr id="8" name="正方形/長方形 7">
            <a:extLst>
              <a:ext uri="{FF2B5EF4-FFF2-40B4-BE49-F238E27FC236}">
                <a16:creationId xmlns:a16="http://schemas.microsoft.com/office/drawing/2014/main" id="{1535B626-E4ED-AB7F-1BA8-832DB34CD791}"/>
              </a:ext>
            </a:extLst>
          </p:cNvPr>
          <p:cNvSpPr/>
          <p:nvPr/>
        </p:nvSpPr>
        <p:spPr>
          <a:xfrm>
            <a:off x="6413500" y="2184400"/>
            <a:ext cx="5435600" cy="4328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rPr>
              <a:t>非一貫性</a:t>
            </a:r>
            <a:endParaRPr kumimoji="1" lang="ja-JP" altLang="en-US" sz="2400" b="1" dirty="0">
              <a:solidFill>
                <a:schemeClr val="bg1"/>
              </a:solidFill>
            </a:endParaRPr>
          </a:p>
        </p:txBody>
      </p:sp>
      <p:cxnSp>
        <p:nvCxnSpPr>
          <p:cNvPr id="11" name="直線コネクタ 10">
            <a:extLst>
              <a:ext uri="{FF2B5EF4-FFF2-40B4-BE49-F238E27FC236}">
                <a16:creationId xmlns:a16="http://schemas.microsoft.com/office/drawing/2014/main" id="{6B864770-7754-4CF1-E50B-F42F1B45C1D3}"/>
              </a:ext>
            </a:extLst>
          </p:cNvPr>
          <p:cNvCxnSpPr>
            <a:cxnSpLocks/>
          </p:cNvCxnSpPr>
          <p:nvPr/>
        </p:nvCxnSpPr>
        <p:spPr>
          <a:xfrm>
            <a:off x="6096000" y="2184400"/>
            <a:ext cx="0" cy="4421026"/>
          </a:xfrm>
          <a:prstGeom prst="line">
            <a:avLst/>
          </a:prstGeom>
          <a:ln>
            <a:solidFill>
              <a:schemeClr val="tx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6" name="タイトル プレースホルダー 1">
            <a:extLst>
              <a:ext uri="{FF2B5EF4-FFF2-40B4-BE49-F238E27FC236}">
                <a16:creationId xmlns:a16="http://schemas.microsoft.com/office/drawing/2014/main" id="{D1D68FD6-536A-FC79-4CAE-6499E03ED3A9}"/>
              </a:ext>
            </a:extLst>
          </p:cNvPr>
          <p:cNvSpPr txBox="1">
            <a:spLocks/>
          </p:cNvSpPr>
          <p:nvPr/>
        </p:nvSpPr>
        <p:spPr>
          <a:xfrm>
            <a:off x="6413500" y="2730501"/>
            <a:ext cx="5448300" cy="87383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同じ情報が複数個所に存在し、それぞれの値が一致していない状態。</a:t>
            </a:r>
            <a:endParaRPr lang="en-US" altLang="ja-JP" sz="1800" dirty="0"/>
          </a:p>
          <a:p>
            <a:r>
              <a:rPr lang="ja-JP" altLang="en-US" sz="1800" dirty="0"/>
              <a:t>例）在庫テーブルと商品テーブルにおける「在庫数」列</a:t>
            </a:r>
            <a:endParaRPr lang="en-US" altLang="ja-JP" sz="1800" dirty="0"/>
          </a:p>
        </p:txBody>
      </p:sp>
      <p:sp>
        <p:nvSpPr>
          <p:cNvPr id="9" name="楕円 8">
            <a:extLst>
              <a:ext uri="{FF2B5EF4-FFF2-40B4-BE49-F238E27FC236}">
                <a16:creationId xmlns:a16="http://schemas.microsoft.com/office/drawing/2014/main" id="{EAE62314-8B77-B489-F966-A765E71AE77C}"/>
              </a:ext>
            </a:extLst>
          </p:cNvPr>
          <p:cNvSpPr/>
          <p:nvPr/>
        </p:nvSpPr>
        <p:spPr>
          <a:xfrm>
            <a:off x="355600" y="3604335"/>
            <a:ext cx="1458000" cy="593728"/>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顧客</a:t>
            </a:r>
          </a:p>
        </p:txBody>
      </p:sp>
      <p:graphicFrame>
        <p:nvGraphicFramePr>
          <p:cNvPr id="12" name="表 11">
            <a:extLst>
              <a:ext uri="{FF2B5EF4-FFF2-40B4-BE49-F238E27FC236}">
                <a16:creationId xmlns:a16="http://schemas.microsoft.com/office/drawing/2014/main" id="{DBAF75C5-BC21-3504-1B45-816FA9F7B909}"/>
              </a:ext>
            </a:extLst>
          </p:cNvPr>
          <p:cNvGraphicFramePr>
            <a:graphicFrameLocks noGrp="1"/>
          </p:cNvGraphicFramePr>
          <p:nvPr>
            <p:extLst>
              <p:ext uri="{D42A27DB-BD31-4B8C-83A1-F6EECF244321}">
                <p14:modId xmlns:p14="http://schemas.microsoft.com/office/powerpoint/2010/main" val="3385537452"/>
              </p:ext>
            </p:extLst>
          </p:nvPr>
        </p:nvGraphicFramePr>
        <p:xfrm>
          <a:off x="359998" y="4340935"/>
          <a:ext cx="2298699" cy="1112520"/>
        </p:xfrm>
        <a:graphic>
          <a:graphicData uri="http://schemas.openxmlformats.org/drawingml/2006/table">
            <a:tbl>
              <a:tblPr firstRow="1" bandRow="1">
                <a:tableStyleId>{5C22544A-7EE6-4342-B048-85BDC9FD1C3A}</a:tableStyleId>
              </a:tblPr>
              <a:tblGrid>
                <a:gridCol w="766233">
                  <a:extLst>
                    <a:ext uri="{9D8B030D-6E8A-4147-A177-3AD203B41FA5}">
                      <a16:colId xmlns:a16="http://schemas.microsoft.com/office/drawing/2014/main" val="1999541375"/>
                    </a:ext>
                  </a:extLst>
                </a:gridCol>
                <a:gridCol w="766233">
                  <a:extLst>
                    <a:ext uri="{9D8B030D-6E8A-4147-A177-3AD203B41FA5}">
                      <a16:colId xmlns:a16="http://schemas.microsoft.com/office/drawing/2014/main" val="3417578246"/>
                    </a:ext>
                  </a:extLst>
                </a:gridCol>
                <a:gridCol w="766233">
                  <a:extLst>
                    <a:ext uri="{9D8B030D-6E8A-4147-A177-3AD203B41FA5}">
                      <a16:colId xmlns:a16="http://schemas.microsoft.com/office/drawing/2014/main" val="1964487015"/>
                    </a:ext>
                  </a:extLst>
                </a:gridCol>
              </a:tblGrid>
              <a:tr h="370840">
                <a:tc>
                  <a:txBody>
                    <a:bodyPr/>
                    <a:lstStyle/>
                    <a:p>
                      <a:r>
                        <a:rPr kumimoji="1" lang="ja-JP" altLang="en-US" sz="1200" dirty="0"/>
                        <a:t>顧客</a:t>
                      </a:r>
                      <a:r>
                        <a:rPr kumimoji="1" lang="en-US" altLang="ja-JP" sz="1200" dirty="0"/>
                        <a:t>ID</a:t>
                      </a:r>
                      <a:endParaRPr kumimoji="1" lang="ja-JP" altLang="en-US" sz="1200" dirty="0"/>
                    </a:p>
                  </a:txBody>
                  <a:tcPr/>
                </a:tc>
                <a:tc>
                  <a:txBody>
                    <a:bodyPr/>
                    <a:lstStyle/>
                    <a:p>
                      <a:r>
                        <a:rPr kumimoji="1" lang="ja-JP" altLang="en-US" sz="1200" dirty="0"/>
                        <a:t>顧客名</a:t>
                      </a:r>
                    </a:p>
                  </a:txBody>
                  <a:tcPr/>
                </a:tc>
                <a:tc>
                  <a:txBody>
                    <a:bodyPr/>
                    <a:lstStyle/>
                    <a:p>
                      <a:r>
                        <a:rPr kumimoji="1" lang="ja-JP" altLang="en-US" sz="1200" b="1" dirty="0"/>
                        <a:t>住所</a:t>
                      </a:r>
                    </a:p>
                  </a:txBody>
                  <a:tcPr/>
                </a:tc>
                <a:extLst>
                  <a:ext uri="{0D108BD9-81ED-4DB2-BD59-A6C34878D82A}">
                    <a16:rowId xmlns:a16="http://schemas.microsoft.com/office/drawing/2014/main" val="1405846645"/>
                  </a:ext>
                </a:extLst>
              </a:tr>
              <a:tr h="370840">
                <a:tc>
                  <a:txBody>
                    <a:bodyPr/>
                    <a:lstStyle/>
                    <a:p>
                      <a:r>
                        <a:rPr kumimoji="1" lang="en-US" altLang="ja-JP" sz="1200" dirty="0"/>
                        <a:t>1</a:t>
                      </a:r>
                      <a:endParaRPr kumimoji="1" lang="ja-JP" altLang="en-US" sz="1200" dirty="0"/>
                    </a:p>
                  </a:txBody>
                  <a:tcPr/>
                </a:tc>
                <a:tc>
                  <a:txBody>
                    <a:bodyPr/>
                    <a:lstStyle/>
                    <a:p>
                      <a:r>
                        <a:rPr kumimoji="1" lang="ja-JP" altLang="en-US" sz="1200" dirty="0"/>
                        <a:t>たけ</a:t>
                      </a:r>
                    </a:p>
                  </a:txBody>
                  <a:tcPr/>
                </a:tc>
                <a:tc>
                  <a:txBody>
                    <a:bodyPr/>
                    <a:lstStyle/>
                    <a:p>
                      <a:r>
                        <a:rPr kumimoji="1" lang="ja-JP" altLang="en-US" sz="1200" b="1" dirty="0"/>
                        <a:t>川崎</a:t>
                      </a:r>
                    </a:p>
                  </a:txBody>
                  <a:tcPr/>
                </a:tc>
                <a:extLst>
                  <a:ext uri="{0D108BD9-81ED-4DB2-BD59-A6C34878D82A}">
                    <a16:rowId xmlns:a16="http://schemas.microsoft.com/office/drawing/2014/main" val="922876080"/>
                  </a:ext>
                </a:extLst>
              </a:tr>
              <a:tr h="370840">
                <a:tc>
                  <a:txBody>
                    <a:bodyPr/>
                    <a:lstStyle/>
                    <a:p>
                      <a:r>
                        <a:rPr kumimoji="1" lang="en-US" altLang="ja-JP" sz="1200" dirty="0"/>
                        <a:t>2</a:t>
                      </a:r>
                      <a:endParaRPr kumimoji="1" lang="ja-JP" altLang="en-US" sz="1200" dirty="0"/>
                    </a:p>
                  </a:txBody>
                  <a:tcPr/>
                </a:tc>
                <a:tc>
                  <a:txBody>
                    <a:bodyPr/>
                    <a:lstStyle/>
                    <a:p>
                      <a:r>
                        <a:rPr kumimoji="1" lang="ja-JP" altLang="en-US" sz="1200" dirty="0"/>
                        <a:t>ゆか</a:t>
                      </a:r>
                    </a:p>
                  </a:txBody>
                  <a:tcPr/>
                </a:tc>
                <a:tc>
                  <a:txBody>
                    <a:bodyPr/>
                    <a:lstStyle/>
                    <a:p>
                      <a:r>
                        <a:rPr kumimoji="1" lang="ja-JP" altLang="en-US" sz="1200" b="1" dirty="0"/>
                        <a:t>世田谷</a:t>
                      </a:r>
                    </a:p>
                  </a:txBody>
                  <a:tcPr/>
                </a:tc>
                <a:extLst>
                  <a:ext uri="{0D108BD9-81ED-4DB2-BD59-A6C34878D82A}">
                    <a16:rowId xmlns:a16="http://schemas.microsoft.com/office/drawing/2014/main" val="3889594002"/>
                  </a:ext>
                </a:extLst>
              </a:tr>
            </a:tbl>
          </a:graphicData>
        </a:graphic>
      </p:graphicFrame>
      <p:sp>
        <p:nvSpPr>
          <p:cNvPr id="15" name="楕円 14">
            <a:extLst>
              <a:ext uri="{FF2B5EF4-FFF2-40B4-BE49-F238E27FC236}">
                <a16:creationId xmlns:a16="http://schemas.microsoft.com/office/drawing/2014/main" id="{B7E56F77-10F5-AA7D-0CB8-B0721D326268}"/>
              </a:ext>
            </a:extLst>
          </p:cNvPr>
          <p:cNvSpPr/>
          <p:nvPr/>
        </p:nvSpPr>
        <p:spPr>
          <a:xfrm>
            <a:off x="3214486" y="3604335"/>
            <a:ext cx="1458000" cy="593728"/>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注文</a:t>
            </a:r>
          </a:p>
        </p:txBody>
      </p:sp>
      <p:graphicFrame>
        <p:nvGraphicFramePr>
          <p:cNvPr id="23" name="表 22">
            <a:extLst>
              <a:ext uri="{FF2B5EF4-FFF2-40B4-BE49-F238E27FC236}">
                <a16:creationId xmlns:a16="http://schemas.microsoft.com/office/drawing/2014/main" id="{0C1146A4-AF28-7644-DDBB-FF3EADD68229}"/>
              </a:ext>
            </a:extLst>
          </p:cNvPr>
          <p:cNvGraphicFramePr>
            <a:graphicFrameLocks noGrp="1"/>
          </p:cNvGraphicFramePr>
          <p:nvPr>
            <p:extLst>
              <p:ext uri="{D42A27DB-BD31-4B8C-83A1-F6EECF244321}">
                <p14:modId xmlns:p14="http://schemas.microsoft.com/office/powerpoint/2010/main" val="821580186"/>
              </p:ext>
            </p:extLst>
          </p:nvPr>
        </p:nvGraphicFramePr>
        <p:xfrm>
          <a:off x="3214487" y="4340935"/>
          <a:ext cx="2298699" cy="1112520"/>
        </p:xfrm>
        <a:graphic>
          <a:graphicData uri="http://schemas.openxmlformats.org/drawingml/2006/table">
            <a:tbl>
              <a:tblPr firstRow="1" bandRow="1">
                <a:tableStyleId>{5C22544A-7EE6-4342-B048-85BDC9FD1C3A}</a:tableStyleId>
              </a:tblPr>
              <a:tblGrid>
                <a:gridCol w="766233">
                  <a:extLst>
                    <a:ext uri="{9D8B030D-6E8A-4147-A177-3AD203B41FA5}">
                      <a16:colId xmlns:a16="http://schemas.microsoft.com/office/drawing/2014/main" val="1999541375"/>
                    </a:ext>
                  </a:extLst>
                </a:gridCol>
                <a:gridCol w="766233">
                  <a:extLst>
                    <a:ext uri="{9D8B030D-6E8A-4147-A177-3AD203B41FA5}">
                      <a16:colId xmlns:a16="http://schemas.microsoft.com/office/drawing/2014/main" val="3417578246"/>
                    </a:ext>
                  </a:extLst>
                </a:gridCol>
                <a:gridCol w="766233">
                  <a:extLst>
                    <a:ext uri="{9D8B030D-6E8A-4147-A177-3AD203B41FA5}">
                      <a16:colId xmlns:a16="http://schemas.microsoft.com/office/drawing/2014/main" val="1964487015"/>
                    </a:ext>
                  </a:extLst>
                </a:gridCol>
              </a:tblGrid>
              <a:tr h="370840">
                <a:tc>
                  <a:txBody>
                    <a:bodyPr/>
                    <a:lstStyle/>
                    <a:p>
                      <a:r>
                        <a:rPr kumimoji="1" lang="ja-JP" altLang="en-US" sz="1200" dirty="0"/>
                        <a:t>注文</a:t>
                      </a:r>
                      <a:r>
                        <a:rPr kumimoji="1" lang="en-US" altLang="ja-JP" sz="1200" dirty="0"/>
                        <a:t>ID</a:t>
                      </a:r>
                      <a:endParaRPr kumimoji="1" lang="ja-JP" altLang="en-US" sz="1200" dirty="0"/>
                    </a:p>
                  </a:txBody>
                  <a:tcPr/>
                </a:tc>
                <a:tc>
                  <a:txBody>
                    <a:bodyPr/>
                    <a:lstStyle/>
                    <a:p>
                      <a:r>
                        <a:rPr kumimoji="1" lang="ja-JP" altLang="en-US" sz="1200" dirty="0"/>
                        <a:t>注文品</a:t>
                      </a:r>
                    </a:p>
                  </a:txBody>
                  <a:tcPr/>
                </a:tc>
                <a:tc>
                  <a:txBody>
                    <a:bodyPr/>
                    <a:lstStyle/>
                    <a:p>
                      <a:r>
                        <a:rPr kumimoji="1" lang="ja-JP" altLang="en-US" sz="1200" b="1" dirty="0"/>
                        <a:t>住所</a:t>
                      </a:r>
                    </a:p>
                  </a:txBody>
                  <a:tcPr/>
                </a:tc>
                <a:extLst>
                  <a:ext uri="{0D108BD9-81ED-4DB2-BD59-A6C34878D82A}">
                    <a16:rowId xmlns:a16="http://schemas.microsoft.com/office/drawing/2014/main" val="1405846645"/>
                  </a:ext>
                </a:extLst>
              </a:tr>
              <a:tr h="370840">
                <a:tc>
                  <a:txBody>
                    <a:bodyPr/>
                    <a:lstStyle/>
                    <a:p>
                      <a:r>
                        <a:rPr kumimoji="1" lang="en-US" altLang="ja-JP" sz="1200" dirty="0"/>
                        <a:t>1</a:t>
                      </a:r>
                      <a:endParaRPr kumimoji="1" lang="ja-JP" altLang="en-US" sz="1200" dirty="0"/>
                    </a:p>
                  </a:txBody>
                  <a:tcPr/>
                </a:tc>
                <a:tc>
                  <a:txBody>
                    <a:bodyPr/>
                    <a:lstStyle/>
                    <a:p>
                      <a:r>
                        <a:rPr kumimoji="1" lang="ja-JP" altLang="en-US" sz="1200" dirty="0"/>
                        <a:t>モババ</a:t>
                      </a:r>
                    </a:p>
                  </a:txBody>
                  <a:tcPr/>
                </a:tc>
                <a:tc>
                  <a:txBody>
                    <a:bodyPr/>
                    <a:lstStyle/>
                    <a:p>
                      <a:r>
                        <a:rPr kumimoji="1" lang="ja-JP" altLang="en-US" sz="1200" b="1" dirty="0"/>
                        <a:t>川崎</a:t>
                      </a:r>
                    </a:p>
                  </a:txBody>
                  <a:tcPr/>
                </a:tc>
                <a:extLst>
                  <a:ext uri="{0D108BD9-81ED-4DB2-BD59-A6C34878D82A}">
                    <a16:rowId xmlns:a16="http://schemas.microsoft.com/office/drawing/2014/main" val="922876080"/>
                  </a:ext>
                </a:extLst>
              </a:tr>
              <a:tr h="370840">
                <a:tc>
                  <a:txBody>
                    <a:bodyPr/>
                    <a:lstStyle/>
                    <a:p>
                      <a:r>
                        <a:rPr kumimoji="1" lang="en-US" altLang="ja-JP" sz="1200" dirty="0"/>
                        <a:t>2</a:t>
                      </a:r>
                      <a:endParaRPr kumimoji="1" lang="ja-JP" altLang="en-US" sz="1200" dirty="0"/>
                    </a:p>
                  </a:txBody>
                  <a:tcPr/>
                </a:tc>
                <a:tc>
                  <a:txBody>
                    <a:bodyPr/>
                    <a:lstStyle/>
                    <a:p>
                      <a:r>
                        <a:rPr kumimoji="1" lang="ja-JP" altLang="en-US" sz="1200" dirty="0"/>
                        <a:t>遊戯王</a:t>
                      </a:r>
                    </a:p>
                  </a:txBody>
                  <a:tcPr/>
                </a:tc>
                <a:tc>
                  <a:txBody>
                    <a:bodyPr/>
                    <a:lstStyle/>
                    <a:p>
                      <a:r>
                        <a:rPr kumimoji="1" lang="ja-JP" altLang="en-US" sz="1200" b="1" dirty="0"/>
                        <a:t>世田谷</a:t>
                      </a:r>
                    </a:p>
                  </a:txBody>
                  <a:tcPr/>
                </a:tc>
                <a:extLst>
                  <a:ext uri="{0D108BD9-81ED-4DB2-BD59-A6C34878D82A}">
                    <a16:rowId xmlns:a16="http://schemas.microsoft.com/office/drawing/2014/main" val="3889594002"/>
                  </a:ext>
                </a:extLst>
              </a:tr>
            </a:tbl>
          </a:graphicData>
        </a:graphic>
      </p:graphicFrame>
      <p:sp>
        <p:nvSpPr>
          <p:cNvPr id="28" name="正方形/長方形 27">
            <a:extLst>
              <a:ext uri="{FF2B5EF4-FFF2-40B4-BE49-F238E27FC236}">
                <a16:creationId xmlns:a16="http://schemas.microsoft.com/office/drawing/2014/main" id="{B86A1C3F-E409-7AC7-8D5D-1DF278EB0DC4}"/>
              </a:ext>
            </a:extLst>
          </p:cNvPr>
          <p:cNvSpPr/>
          <p:nvPr/>
        </p:nvSpPr>
        <p:spPr>
          <a:xfrm>
            <a:off x="342900" y="5596326"/>
            <a:ext cx="5157583" cy="87383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ja-JP" altLang="en-US" sz="1400" dirty="0">
                <a:solidFill>
                  <a:schemeClr val="tx1">
                    <a:lumMod val="75000"/>
                  </a:schemeClr>
                </a:solidFill>
              </a:rPr>
              <a:t>更新時に両方のテーブルを触る必要があり、片方の更新を忘れると矛盾が生じる</a:t>
            </a:r>
            <a:endParaRPr lang="en-US" altLang="ja-JP" sz="1400" dirty="0">
              <a:solidFill>
                <a:schemeClr val="tx1">
                  <a:lumMod val="75000"/>
                </a:schemeClr>
              </a:solidFill>
            </a:endParaRPr>
          </a:p>
          <a:p>
            <a:pPr marL="285750" indent="-285750">
              <a:buFont typeface="Arial" panose="020B0604020202020204" pitchFamily="34" charset="0"/>
              <a:buChar char="•"/>
            </a:pPr>
            <a:r>
              <a:rPr kumimoji="1" lang="ja-JP" altLang="en-US" sz="1400" dirty="0">
                <a:solidFill>
                  <a:schemeClr val="tx1">
                    <a:lumMod val="75000"/>
                  </a:schemeClr>
                </a:solidFill>
              </a:rPr>
              <a:t>マシンパワーの無駄使いになる</a:t>
            </a:r>
            <a:endParaRPr kumimoji="1" lang="en-US" altLang="ja-JP" sz="1400" dirty="0">
              <a:solidFill>
                <a:schemeClr val="tx1">
                  <a:lumMod val="75000"/>
                </a:schemeClr>
              </a:solidFill>
            </a:endParaRPr>
          </a:p>
          <a:p>
            <a:pPr marL="285750" indent="-285750">
              <a:buFont typeface="Arial" panose="020B0604020202020204" pitchFamily="34" charset="0"/>
              <a:buChar char="•"/>
            </a:pPr>
            <a:endParaRPr kumimoji="1" lang="ja-JP" altLang="en-US" sz="1400" dirty="0">
              <a:solidFill>
                <a:schemeClr val="tx1">
                  <a:lumMod val="75000"/>
                </a:schemeClr>
              </a:solidFill>
            </a:endParaRPr>
          </a:p>
        </p:txBody>
      </p:sp>
      <p:sp>
        <p:nvSpPr>
          <p:cNvPr id="29" name="楕円 28">
            <a:extLst>
              <a:ext uri="{FF2B5EF4-FFF2-40B4-BE49-F238E27FC236}">
                <a16:creationId xmlns:a16="http://schemas.microsoft.com/office/drawing/2014/main" id="{2F782B81-4370-FE3B-4DF6-8E86EEE31D85}"/>
              </a:ext>
            </a:extLst>
          </p:cNvPr>
          <p:cNvSpPr/>
          <p:nvPr/>
        </p:nvSpPr>
        <p:spPr>
          <a:xfrm>
            <a:off x="6426200" y="3604335"/>
            <a:ext cx="1458000" cy="593728"/>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在庫</a:t>
            </a:r>
          </a:p>
        </p:txBody>
      </p:sp>
      <p:graphicFrame>
        <p:nvGraphicFramePr>
          <p:cNvPr id="30" name="表 29">
            <a:extLst>
              <a:ext uri="{FF2B5EF4-FFF2-40B4-BE49-F238E27FC236}">
                <a16:creationId xmlns:a16="http://schemas.microsoft.com/office/drawing/2014/main" id="{DF02CBC1-4CD5-8316-3C89-8240E511337D}"/>
              </a:ext>
            </a:extLst>
          </p:cNvPr>
          <p:cNvGraphicFramePr>
            <a:graphicFrameLocks noGrp="1"/>
          </p:cNvGraphicFramePr>
          <p:nvPr>
            <p:extLst>
              <p:ext uri="{D42A27DB-BD31-4B8C-83A1-F6EECF244321}">
                <p14:modId xmlns:p14="http://schemas.microsoft.com/office/powerpoint/2010/main" val="2390864615"/>
              </p:ext>
            </p:extLst>
          </p:nvPr>
        </p:nvGraphicFramePr>
        <p:xfrm>
          <a:off x="6430598" y="4340935"/>
          <a:ext cx="2298699" cy="1112520"/>
        </p:xfrm>
        <a:graphic>
          <a:graphicData uri="http://schemas.openxmlformats.org/drawingml/2006/table">
            <a:tbl>
              <a:tblPr firstRow="1" bandRow="1">
                <a:tableStyleId>{5C22544A-7EE6-4342-B048-85BDC9FD1C3A}</a:tableStyleId>
              </a:tblPr>
              <a:tblGrid>
                <a:gridCol w="766233">
                  <a:extLst>
                    <a:ext uri="{9D8B030D-6E8A-4147-A177-3AD203B41FA5}">
                      <a16:colId xmlns:a16="http://schemas.microsoft.com/office/drawing/2014/main" val="1999541375"/>
                    </a:ext>
                  </a:extLst>
                </a:gridCol>
                <a:gridCol w="766233">
                  <a:extLst>
                    <a:ext uri="{9D8B030D-6E8A-4147-A177-3AD203B41FA5}">
                      <a16:colId xmlns:a16="http://schemas.microsoft.com/office/drawing/2014/main" val="3417578246"/>
                    </a:ext>
                  </a:extLst>
                </a:gridCol>
                <a:gridCol w="766233">
                  <a:extLst>
                    <a:ext uri="{9D8B030D-6E8A-4147-A177-3AD203B41FA5}">
                      <a16:colId xmlns:a16="http://schemas.microsoft.com/office/drawing/2014/main" val="1964487015"/>
                    </a:ext>
                  </a:extLst>
                </a:gridCol>
              </a:tblGrid>
              <a:tr h="370840">
                <a:tc>
                  <a:txBody>
                    <a:bodyPr/>
                    <a:lstStyle/>
                    <a:p>
                      <a:r>
                        <a:rPr kumimoji="1" lang="ja-JP" altLang="en-US" sz="1200" dirty="0"/>
                        <a:t>在庫</a:t>
                      </a:r>
                      <a:r>
                        <a:rPr kumimoji="1" lang="en-US" altLang="ja-JP" sz="1200" dirty="0"/>
                        <a:t>ID</a:t>
                      </a:r>
                      <a:endParaRPr kumimoji="1" lang="ja-JP" altLang="en-US" sz="1200" dirty="0"/>
                    </a:p>
                  </a:txBody>
                  <a:tcPr/>
                </a:tc>
                <a:tc>
                  <a:txBody>
                    <a:bodyPr/>
                    <a:lstStyle/>
                    <a:p>
                      <a:r>
                        <a:rPr kumimoji="1" lang="ja-JP" altLang="en-US" sz="1200" dirty="0"/>
                        <a:t>在庫名</a:t>
                      </a:r>
                    </a:p>
                  </a:txBody>
                  <a:tcPr/>
                </a:tc>
                <a:tc>
                  <a:txBody>
                    <a:bodyPr/>
                    <a:lstStyle/>
                    <a:p>
                      <a:r>
                        <a:rPr kumimoji="1" lang="ja-JP" altLang="en-US" sz="1200" b="1" dirty="0"/>
                        <a:t>在庫数</a:t>
                      </a:r>
                    </a:p>
                  </a:txBody>
                  <a:tcPr/>
                </a:tc>
                <a:extLst>
                  <a:ext uri="{0D108BD9-81ED-4DB2-BD59-A6C34878D82A}">
                    <a16:rowId xmlns:a16="http://schemas.microsoft.com/office/drawing/2014/main" val="1405846645"/>
                  </a:ext>
                </a:extLst>
              </a:tr>
              <a:tr h="370840">
                <a:tc>
                  <a:txBody>
                    <a:bodyPr/>
                    <a:lstStyle/>
                    <a:p>
                      <a:r>
                        <a:rPr kumimoji="1" lang="en-US" altLang="ja-JP" sz="1200" dirty="0"/>
                        <a:t>1</a:t>
                      </a:r>
                      <a:endParaRPr kumimoji="1" lang="ja-JP" altLang="en-US" sz="1200" dirty="0"/>
                    </a:p>
                  </a:txBody>
                  <a:tcPr/>
                </a:tc>
                <a:tc>
                  <a:txBody>
                    <a:bodyPr/>
                    <a:lstStyle/>
                    <a:p>
                      <a:r>
                        <a:rPr kumimoji="1" lang="ja-JP" altLang="en-US" sz="1200" dirty="0"/>
                        <a:t>モババ</a:t>
                      </a:r>
                    </a:p>
                  </a:txBody>
                  <a:tcPr/>
                </a:tc>
                <a:tc>
                  <a:txBody>
                    <a:bodyPr/>
                    <a:lstStyle/>
                    <a:p>
                      <a:r>
                        <a:rPr kumimoji="1" lang="en-US" altLang="ja-JP" sz="1200" b="1" dirty="0"/>
                        <a:t>12</a:t>
                      </a:r>
                      <a:endParaRPr kumimoji="1" lang="ja-JP" altLang="en-US" sz="1200" b="1" dirty="0"/>
                    </a:p>
                  </a:txBody>
                  <a:tcPr/>
                </a:tc>
                <a:extLst>
                  <a:ext uri="{0D108BD9-81ED-4DB2-BD59-A6C34878D82A}">
                    <a16:rowId xmlns:a16="http://schemas.microsoft.com/office/drawing/2014/main" val="922876080"/>
                  </a:ext>
                </a:extLst>
              </a:tr>
              <a:tr h="370840">
                <a:tc>
                  <a:txBody>
                    <a:bodyPr/>
                    <a:lstStyle/>
                    <a:p>
                      <a:r>
                        <a:rPr kumimoji="1" lang="en-US" altLang="ja-JP" sz="1200" dirty="0"/>
                        <a:t>2</a:t>
                      </a:r>
                      <a:endParaRPr kumimoji="1" lang="ja-JP" altLang="en-US" sz="1200" dirty="0"/>
                    </a:p>
                  </a:txBody>
                  <a:tcPr/>
                </a:tc>
                <a:tc>
                  <a:txBody>
                    <a:bodyPr/>
                    <a:lstStyle/>
                    <a:p>
                      <a:r>
                        <a:rPr kumimoji="1" lang="ja-JP" altLang="en-US" sz="1200" dirty="0"/>
                        <a:t>遊戯王</a:t>
                      </a:r>
                    </a:p>
                  </a:txBody>
                  <a:tcPr/>
                </a:tc>
                <a:tc>
                  <a:txBody>
                    <a:bodyPr/>
                    <a:lstStyle/>
                    <a:p>
                      <a:r>
                        <a:rPr kumimoji="1" lang="en-US" altLang="ja-JP" sz="1200" b="1" dirty="0"/>
                        <a:t>6</a:t>
                      </a:r>
                      <a:endParaRPr kumimoji="1" lang="ja-JP" altLang="en-US" sz="1200" b="1" dirty="0"/>
                    </a:p>
                  </a:txBody>
                  <a:tcPr/>
                </a:tc>
                <a:extLst>
                  <a:ext uri="{0D108BD9-81ED-4DB2-BD59-A6C34878D82A}">
                    <a16:rowId xmlns:a16="http://schemas.microsoft.com/office/drawing/2014/main" val="3889594002"/>
                  </a:ext>
                </a:extLst>
              </a:tr>
            </a:tbl>
          </a:graphicData>
        </a:graphic>
      </p:graphicFrame>
      <p:sp>
        <p:nvSpPr>
          <p:cNvPr id="31" name="楕円 30">
            <a:extLst>
              <a:ext uri="{FF2B5EF4-FFF2-40B4-BE49-F238E27FC236}">
                <a16:creationId xmlns:a16="http://schemas.microsoft.com/office/drawing/2014/main" id="{5CB367EB-74C7-3883-DCEC-845532A3E30A}"/>
              </a:ext>
            </a:extLst>
          </p:cNvPr>
          <p:cNvSpPr/>
          <p:nvPr/>
        </p:nvSpPr>
        <p:spPr>
          <a:xfrm>
            <a:off x="9285086" y="3604335"/>
            <a:ext cx="1458000" cy="593728"/>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注文商品</a:t>
            </a:r>
          </a:p>
        </p:txBody>
      </p:sp>
      <p:graphicFrame>
        <p:nvGraphicFramePr>
          <p:cNvPr id="32" name="表 31">
            <a:extLst>
              <a:ext uri="{FF2B5EF4-FFF2-40B4-BE49-F238E27FC236}">
                <a16:creationId xmlns:a16="http://schemas.microsoft.com/office/drawing/2014/main" id="{FFD1A511-A414-374A-ACD8-71BA0A986906}"/>
              </a:ext>
            </a:extLst>
          </p:cNvPr>
          <p:cNvGraphicFramePr>
            <a:graphicFrameLocks noGrp="1"/>
          </p:cNvGraphicFramePr>
          <p:nvPr>
            <p:extLst>
              <p:ext uri="{D42A27DB-BD31-4B8C-83A1-F6EECF244321}">
                <p14:modId xmlns:p14="http://schemas.microsoft.com/office/powerpoint/2010/main" val="3392003336"/>
              </p:ext>
            </p:extLst>
          </p:nvPr>
        </p:nvGraphicFramePr>
        <p:xfrm>
          <a:off x="9285087" y="4340935"/>
          <a:ext cx="2298699" cy="1112520"/>
        </p:xfrm>
        <a:graphic>
          <a:graphicData uri="http://schemas.openxmlformats.org/drawingml/2006/table">
            <a:tbl>
              <a:tblPr firstRow="1" bandRow="1">
                <a:tableStyleId>{5C22544A-7EE6-4342-B048-85BDC9FD1C3A}</a:tableStyleId>
              </a:tblPr>
              <a:tblGrid>
                <a:gridCol w="766233">
                  <a:extLst>
                    <a:ext uri="{9D8B030D-6E8A-4147-A177-3AD203B41FA5}">
                      <a16:colId xmlns:a16="http://schemas.microsoft.com/office/drawing/2014/main" val="1999541375"/>
                    </a:ext>
                  </a:extLst>
                </a:gridCol>
                <a:gridCol w="766233">
                  <a:extLst>
                    <a:ext uri="{9D8B030D-6E8A-4147-A177-3AD203B41FA5}">
                      <a16:colId xmlns:a16="http://schemas.microsoft.com/office/drawing/2014/main" val="3417578246"/>
                    </a:ext>
                  </a:extLst>
                </a:gridCol>
                <a:gridCol w="766233">
                  <a:extLst>
                    <a:ext uri="{9D8B030D-6E8A-4147-A177-3AD203B41FA5}">
                      <a16:colId xmlns:a16="http://schemas.microsoft.com/office/drawing/2014/main" val="1964487015"/>
                    </a:ext>
                  </a:extLst>
                </a:gridCol>
              </a:tblGrid>
              <a:tr h="370840">
                <a:tc>
                  <a:txBody>
                    <a:bodyPr/>
                    <a:lstStyle/>
                    <a:p>
                      <a:r>
                        <a:rPr kumimoji="1" lang="ja-JP" altLang="en-US" sz="1200" dirty="0"/>
                        <a:t>商品</a:t>
                      </a:r>
                      <a:r>
                        <a:rPr kumimoji="1" lang="en-US" altLang="ja-JP" sz="1200" dirty="0"/>
                        <a:t>ID</a:t>
                      </a:r>
                      <a:endParaRPr kumimoji="1" lang="ja-JP" altLang="en-US" sz="1200" dirty="0"/>
                    </a:p>
                  </a:txBody>
                  <a:tcPr/>
                </a:tc>
                <a:tc>
                  <a:txBody>
                    <a:bodyPr/>
                    <a:lstStyle/>
                    <a:p>
                      <a:r>
                        <a:rPr kumimoji="1" lang="ja-JP" altLang="en-US" sz="1200" dirty="0"/>
                        <a:t>注文品</a:t>
                      </a:r>
                    </a:p>
                  </a:txBody>
                  <a:tcPr/>
                </a:tc>
                <a:tc>
                  <a:txBody>
                    <a:bodyPr/>
                    <a:lstStyle/>
                    <a:p>
                      <a:r>
                        <a:rPr kumimoji="1" lang="ja-JP" altLang="en-US" sz="1200" b="1" dirty="0"/>
                        <a:t>在庫数</a:t>
                      </a:r>
                    </a:p>
                  </a:txBody>
                  <a:tcPr/>
                </a:tc>
                <a:extLst>
                  <a:ext uri="{0D108BD9-81ED-4DB2-BD59-A6C34878D82A}">
                    <a16:rowId xmlns:a16="http://schemas.microsoft.com/office/drawing/2014/main" val="1405846645"/>
                  </a:ext>
                </a:extLst>
              </a:tr>
              <a:tr h="370840">
                <a:tc>
                  <a:txBody>
                    <a:bodyPr/>
                    <a:lstStyle/>
                    <a:p>
                      <a:r>
                        <a:rPr kumimoji="1" lang="en-US" altLang="ja-JP" sz="1200" dirty="0"/>
                        <a:t>1</a:t>
                      </a:r>
                      <a:endParaRPr kumimoji="1" lang="ja-JP" altLang="en-US" sz="1200" dirty="0"/>
                    </a:p>
                  </a:txBody>
                  <a:tcPr/>
                </a:tc>
                <a:tc>
                  <a:txBody>
                    <a:bodyPr/>
                    <a:lstStyle/>
                    <a:p>
                      <a:r>
                        <a:rPr kumimoji="1" lang="ja-JP" altLang="en-US" sz="1200" dirty="0"/>
                        <a:t>モババ</a:t>
                      </a:r>
                    </a:p>
                  </a:txBody>
                  <a:tcPr/>
                </a:tc>
                <a:tc>
                  <a:txBody>
                    <a:bodyPr/>
                    <a:lstStyle/>
                    <a:p>
                      <a:r>
                        <a:rPr kumimoji="1" lang="en-US" altLang="ja-JP" sz="1200" b="1" dirty="0"/>
                        <a:t>10</a:t>
                      </a:r>
                      <a:endParaRPr kumimoji="1" lang="ja-JP" altLang="en-US" sz="1200" b="1" dirty="0"/>
                    </a:p>
                  </a:txBody>
                  <a:tcPr/>
                </a:tc>
                <a:extLst>
                  <a:ext uri="{0D108BD9-81ED-4DB2-BD59-A6C34878D82A}">
                    <a16:rowId xmlns:a16="http://schemas.microsoft.com/office/drawing/2014/main" val="922876080"/>
                  </a:ext>
                </a:extLst>
              </a:tr>
              <a:tr h="370840">
                <a:tc>
                  <a:txBody>
                    <a:bodyPr/>
                    <a:lstStyle/>
                    <a:p>
                      <a:r>
                        <a:rPr kumimoji="1" lang="en-US" altLang="ja-JP" sz="1200" dirty="0"/>
                        <a:t>2</a:t>
                      </a:r>
                      <a:endParaRPr kumimoji="1" lang="ja-JP" altLang="en-US" sz="1200" dirty="0"/>
                    </a:p>
                  </a:txBody>
                  <a:tcPr/>
                </a:tc>
                <a:tc>
                  <a:txBody>
                    <a:bodyPr/>
                    <a:lstStyle/>
                    <a:p>
                      <a:r>
                        <a:rPr kumimoji="1" lang="ja-JP" altLang="en-US" sz="1200" dirty="0"/>
                        <a:t>遊戯王</a:t>
                      </a:r>
                    </a:p>
                  </a:txBody>
                  <a:tcPr/>
                </a:tc>
                <a:tc>
                  <a:txBody>
                    <a:bodyPr/>
                    <a:lstStyle/>
                    <a:p>
                      <a:r>
                        <a:rPr kumimoji="1" lang="en-US" altLang="ja-JP" sz="1200" b="1" dirty="0"/>
                        <a:t>3</a:t>
                      </a:r>
                      <a:endParaRPr kumimoji="1" lang="ja-JP" altLang="en-US" sz="1200" b="1" dirty="0"/>
                    </a:p>
                  </a:txBody>
                  <a:tcPr/>
                </a:tc>
                <a:extLst>
                  <a:ext uri="{0D108BD9-81ED-4DB2-BD59-A6C34878D82A}">
                    <a16:rowId xmlns:a16="http://schemas.microsoft.com/office/drawing/2014/main" val="3889594002"/>
                  </a:ext>
                </a:extLst>
              </a:tr>
            </a:tbl>
          </a:graphicData>
        </a:graphic>
      </p:graphicFrame>
      <p:sp>
        <p:nvSpPr>
          <p:cNvPr id="33" name="正方形/長方形 32">
            <a:extLst>
              <a:ext uri="{FF2B5EF4-FFF2-40B4-BE49-F238E27FC236}">
                <a16:creationId xmlns:a16="http://schemas.microsoft.com/office/drawing/2014/main" id="{1CAB0D1C-58A6-B356-7D9B-48C03E4FF334}"/>
              </a:ext>
            </a:extLst>
          </p:cNvPr>
          <p:cNvSpPr/>
          <p:nvPr/>
        </p:nvSpPr>
        <p:spPr>
          <a:xfrm>
            <a:off x="6413500" y="5596326"/>
            <a:ext cx="5157583" cy="87383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ja-JP" altLang="en-US" sz="1400" dirty="0">
                <a:solidFill>
                  <a:schemeClr val="tx1">
                    <a:lumMod val="75000"/>
                  </a:schemeClr>
                </a:solidFill>
              </a:rPr>
              <a:t>データの信頼性が失われ、業務判断を誤る可能性がある</a:t>
            </a:r>
            <a:endParaRPr kumimoji="1" lang="en-US" altLang="ja-JP" sz="1400" dirty="0">
              <a:solidFill>
                <a:schemeClr val="tx1">
                  <a:lumMod val="75000"/>
                </a:schemeClr>
              </a:solidFill>
            </a:endParaRPr>
          </a:p>
          <a:p>
            <a:pPr marL="285750" indent="-285750">
              <a:buFont typeface="Arial" panose="020B0604020202020204" pitchFamily="34" charset="0"/>
              <a:buChar char="•"/>
            </a:pPr>
            <a:endParaRPr kumimoji="1" lang="ja-JP" altLang="en-US" sz="1400" dirty="0">
              <a:solidFill>
                <a:schemeClr val="tx1">
                  <a:lumMod val="75000"/>
                </a:schemeClr>
              </a:solidFill>
            </a:endParaRPr>
          </a:p>
        </p:txBody>
      </p:sp>
    </p:spTree>
    <p:extLst>
      <p:ext uri="{BB962C8B-B14F-4D97-AF65-F5344CB8AC3E}">
        <p14:creationId xmlns:p14="http://schemas.microsoft.com/office/powerpoint/2010/main" val="22541644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604BB-4AAE-9F4B-6283-A1E21AB124F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5218A79D-8E04-30E2-C402-91BF3DE5560F}"/>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8E0B25A2-A555-2F11-463A-E2C841FAA25A}"/>
              </a:ext>
            </a:extLst>
          </p:cNvPr>
          <p:cNvSpPr txBox="1">
            <a:spLocks/>
          </p:cNvSpPr>
          <p:nvPr/>
        </p:nvSpPr>
        <p:spPr>
          <a:xfrm>
            <a:off x="355600" y="112924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正規化には段階があり、数字が増えるほど正規化のレベルが上がっていく。</a:t>
            </a:r>
            <a:endParaRPr lang="en-US" altLang="ja-JP" sz="2800" dirty="0"/>
          </a:p>
          <a:p>
            <a:r>
              <a:rPr lang="ja-JP" altLang="en-US" sz="2800" dirty="0"/>
              <a:t>本稿では通常業務で使用される第</a:t>
            </a:r>
            <a:r>
              <a:rPr lang="en-US" altLang="ja-JP" sz="2800" dirty="0"/>
              <a:t>3</a:t>
            </a:r>
            <a:r>
              <a:rPr lang="ja-JP" altLang="en-US" sz="2800" dirty="0"/>
              <a:t>正規形まで解説する。</a:t>
            </a:r>
            <a:endParaRPr lang="en-US" altLang="ja-JP" sz="2800" dirty="0"/>
          </a:p>
        </p:txBody>
      </p:sp>
      <p:sp>
        <p:nvSpPr>
          <p:cNvPr id="4" name="タイトル プレースホルダー 1">
            <a:extLst>
              <a:ext uri="{FF2B5EF4-FFF2-40B4-BE49-F238E27FC236}">
                <a16:creationId xmlns:a16="http://schemas.microsoft.com/office/drawing/2014/main" id="{E3EBCCE1-E5E2-43F5-26A9-88C7E4CEC7B6}"/>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正規化のステップ</a:t>
            </a:r>
            <a:endParaRPr lang="en-US" altLang="ja-JP" dirty="0"/>
          </a:p>
        </p:txBody>
      </p:sp>
      <p:cxnSp>
        <p:nvCxnSpPr>
          <p:cNvPr id="10" name="直線コネクタ 9">
            <a:extLst>
              <a:ext uri="{FF2B5EF4-FFF2-40B4-BE49-F238E27FC236}">
                <a16:creationId xmlns:a16="http://schemas.microsoft.com/office/drawing/2014/main" id="{D34B5010-55A3-9745-A76D-35346D217B2D}"/>
              </a:ext>
            </a:extLst>
          </p:cNvPr>
          <p:cNvCxnSpPr>
            <a:cxnSpLocks/>
          </p:cNvCxnSpPr>
          <p:nvPr/>
        </p:nvCxnSpPr>
        <p:spPr>
          <a:xfrm>
            <a:off x="6108329" y="2716567"/>
            <a:ext cx="5690094" cy="0"/>
          </a:xfrm>
          <a:prstGeom prst="line">
            <a:avLst/>
          </a:prstGeom>
          <a:ln>
            <a:solidFill>
              <a:schemeClr val="tx1">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3C8D27E8-FD6A-5A40-2467-B3CC08F72AC7}"/>
              </a:ext>
            </a:extLst>
          </p:cNvPr>
          <p:cNvCxnSpPr>
            <a:cxnSpLocks/>
          </p:cNvCxnSpPr>
          <p:nvPr/>
        </p:nvCxnSpPr>
        <p:spPr>
          <a:xfrm>
            <a:off x="1074693" y="2716567"/>
            <a:ext cx="4285318" cy="0"/>
          </a:xfrm>
          <a:prstGeom prst="line">
            <a:avLst/>
          </a:prstGeom>
          <a:ln>
            <a:solidFill>
              <a:schemeClr val="tx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C12D3643-230F-E8A3-4C39-EB758D09B210}"/>
              </a:ext>
            </a:extLst>
          </p:cNvPr>
          <p:cNvSpPr txBox="1"/>
          <p:nvPr/>
        </p:nvSpPr>
        <p:spPr>
          <a:xfrm>
            <a:off x="1074693" y="2330597"/>
            <a:ext cx="4285318" cy="369332"/>
          </a:xfrm>
          <a:prstGeom prst="rect">
            <a:avLst/>
          </a:prstGeom>
          <a:noFill/>
        </p:spPr>
        <p:txBody>
          <a:bodyPr wrap="square" rtlCol="0">
            <a:spAutoFit/>
          </a:bodyPr>
          <a:lstStyle/>
          <a:p>
            <a:pPr algn="ctr"/>
            <a:r>
              <a:rPr lang="ja-JP" altLang="en-US" dirty="0"/>
              <a:t>正規化のステップ</a:t>
            </a:r>
            <a:endParaRPr kumimoji="1" lang="ja-JP" altLang="en-US" dirty="0"/>
          </a:p>
        </p:txBody>
      </p:sp>
      <p:sp>
        <p:nvSpPr>
          <p:cNvPr id="18" name="テキスト ボックス 17">
            <a:extLst>
              <a:ext uri="{FF2B5EF4-FFF2-40B4-BE49-F238E27FC236}">
                <a16:creationId xmlns:a16="http://schemas.microsoft.com/office/drawing/2014/main" id="{A8ADC60C-9AFD-75B1-B76B-CECFDD126AFE}"/>
              </a:ext>
            </a:extLst>
          </p:cNvPr>
          <p:cNvSpPr txBox="1"/>
          <p:nvPr/>
        </p:nvSpPr>
        <p:spPr>
          <a:xfrm>
            <a:off x="6096000" y="2330597"/>
            <a:ext cx="5690094" cy="369332"/>
          </a:xfrm>
          <a:prstGeom prst="rect">
            <a:avLst/>
          </a:prstGeom>
          <a:noFill/>
        </p:spPr>
        <p:txBody>
          <a:bodyPr wrap="square" rtlCol="0">
            <a:spAutoFit/>
          </a:bodyPr>
          <a:lstStyle/>
          <a:p>
            <a:pPr algn="ctr"/>
            <a:r>
              <a:rPr lang="ja-JP" altLang="en-US" dirty="0"/>
              <a:t>各ステップ概要</a:t>
            </a:r>
            <a:endParaRPr kumimoji="1" lang="ja-JP" altLang="en-US" dirty="0"/>
          </a:p>
        </p:txBody>
      </p:sp>
      <p:sp>
        <p:nvSpPr>
          <p:cNvPr id="19" name="正方形/長方形 18">
            <a:extLst>
              <a:ext uri="{FF2B5EF4-FFF2-40B4-BE49-F238E27FC236}">
                <a16:creationId xmlns:a16="http://schemas.microsoft.com/office/drawing/2014/main" id="{EC067586-71B1-2578-8882-A737EFBFFE1E}"/>
              </a:ext>
            </a:extLst>
          </p:cNvPr>
          <p:cNvSpPr/>
          <p:nvPr/>
        </p:nvSpPr>
        <p:spPr>
          <a:xfrm>
            <a:off x="345090" y="2716567"/>
            <a:ext cx="487779" cy="386714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kumimoji="1" lang="ja-JP" altLang="en-US" dirty="0">
                <a:solidFill>
                  <a:schemeClr val="tx1">
                    <a:lumMod val="75000"/>
                  </a:schemeClr>
                </a:solidFill>
              </a:rPr>
              <a:t>正規化</a:t>
            </a:r>
          </a:p>
        </p:txBody>
      </p:sp>
      <p:sp>
        <p:nvSpPr>
          <p:cNvPr id="22" name="フローチャート: 他ページ結合子 21">
            <a:extLst>
              <a:ext uri="{FF2B5EF4-FFF2-40B4-BE49-F238E27FC236}">
                <a16:creationId xmlns:a16="http://schemas.microsoft.com/office/drawing/2014/main" id="{FFDAAAA8-1ECB-A02A-3A0C-C5A48A62339F}"/>
              </a:ext>
            </a:extLst>
          </p:cNvPr>
          <p:cNvSpPr/>
          <p:nvPr/>
        </p:nvSpPr>
        <p:spPr>
          <a:xfrm rot="16200000">
            <a:off x="2838979" y="1222226"/>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lang="ja-JP" altLang="en-US" dirty="0">
                <a:solidFill>
                  <a:schemeClr val="tx1">
                    <a:lumMod val="75000"/>
                  </a:schemeClr>
                </a:solidFill>
              </a:rPr>
              <a:t>第</a:t>
            </a:r>
            <a:r>
              <a:rPr lang="en-US" altLang="ja-JP" dirty="0">
                <a:solidFill>
                  <a:schemeClr val="tx1">
                    <a:lumMod val="75000"/>
                  </a:schemeClr>
                </a:solidFill>
              </a:rPr>
              <a:t>1</a:t>
            </a:r>
            <a:r>
              <a:rPr lang="ja-JP" altLang="en-US" dirty="0">
                <a:solidFill>
                  <a:schemeClr val="tx1">
                    <a:lumMod val="75000"/>
                  </a:schemeClr>
                </a:solidFill>
              </a:rPr>
              <a:t>正規形</a:t>
            </a:r>
            <a:br>
              <a:rPr lang="en-US" altLang="ja-JP" dirty="0">
                <a:solidFill>
                  <a:schemeClr val="tx1">
                    <a:lumMod val="75000"/>
                  </a:schemeClr>
                </a:solidFill>
              </a:rPr>
            </a:br>
            <a:endParaRPr lang="en-US" altLang="ja-JP" dirty="0">
              <a:solidFill>
                <a:schemeClr val="tx1">
                  <a:lumMod val="75000"/>
                </a:schemeClr>
              </a:solidFill>
            </a:endParaRPr>
          </a:p>
        </p:txBody>
      </p:sp>
      <p:sp>
        <p:nvSpPr>
          <p:cNvPr id="23" name="フローチャート: 他ページ結合子 22">
            <a:extLst>
              <a:ext uri="{FF2B5EF4-FFF2-40B4-BE49-F238E27FC236}">
                <a16:creationId xmlns:a16="http://schemas.microsoft.com/office/drawing/2014/main" id="{81DA36AC-07E6-2B6D-0B56-85B5BA50A106}"/>
              </a:ext>
            </a:extLst>
          </p:cNvPr>
          <p:cNvSpPr/>
          <p:nvPr/>
        </p:nvSpPr>
        <p:spPr>
          <a:xfrm rot="16200000">
            <a:off x="2838980" y="2613986"/>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lang="ja-JP" altLang="en-US" dirty="0">
                <a:solidFill>
                  <a:schemeClr val="tx1">
                    <a:lumMod val="75000"/>
                  </a:schemeClr>
                </a:solidFill>
              </a:rPr>
              <a:t>第</a:t>
            </a:r>
            <a:r>
              <a:rPr lang="en-US" altLang="ja-JP" dirty="0">
                <a:solidFill>
                  <a:schemeClr val="tx1">
                    <a:lumMod val="75000"/>
                  </a:schemeClr>
                </a:solidFill>
              </a:rPr>
              <a:t>2</a:t>
            </a:r>
            <a:r>
              <a:rPr lang="ja-JP" altLang="en-US" dirty="0">
                <a:solidFill>
                  <a:schemeClr val="tx1">
                    <a:lumMod val="75000"/>
                  </a:schemeClr>
                </a:solidFill>
              </a:rPr>
              <a:t>正規形</a:t>
            </a:r>
            <a:br>
              <a:rPr lang="en-US" altLang="ja-JP" dirty="0">
                <a:solidFill>
                  <a:schemeClr val="tx1">
                    <a:lumMod val="60000"/>
                    <a:lumOff val="40000"/>
                  </a:schemeClr>
                </a:solidFill>
              </a:rPr>
            </a:br>
            <a:endParaRPr lang="en-US" altLang="ja-JP" dirty="0">
              <a:solidFill>
                <a:schemeClr val="tx1">
                  <a:lumMod val="60000"/>
                  <a:lumOff val="40000"/>
                </a:schemeClr>
              </a:solidFill>
            </a:endParaRPr>
          </a:p>
          <a:p>
            <a:pPr algn="ctr"/>
            <a:endParaRPr lang="en-US" altLang="ja-JP" dirty="0">
              <a:solidFill>
                <a:schemeClr val="tx1">
                  <a:lumMod val="60000"/>
                  <a:lumOff val="40000"/>
                </a:schemeClr>
              </a:solidFill>
            </a:endParaRPr>
          </a:p>
        </p:txBody>
      </p:sp>
      <p:sp>
        <p:nvSpPr>
          <p:cNvPr id="24" name="フローチャート: 他ページ結合子 23">
            <a:extLst>
              <a:ext uri="{FF2B5EF4-FFF2-40B4-BE49-F238E27FC236}">
                <a16:creationId xmlns:a16="http://schemas.microsoft.com/office/drawing/2014/main" id="{6FD05E6D-D534-5FEC-9B8A-4EAFD5E09FDB}"/>
              </a:ext>
            </a:extLst>
          </p:cNvPr>
          <p:cNvSpPr/>
          <p:nvPr/>
        </p:nvSpPr>
        <p:spPr>
          <a:xfrm rot="16200000">
            <a:off x="2838979" y="4007468"/>
            <a:ext cx="756745" cy="4285318"/>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t" anchorCtr="0"/>
          <a:lstStyle/>
          <a:p>
            <a:pPr algn="ctr"/>
            <a:r>
              <a:rPr lang="ja-JP" altLang="en-US" dirty="0">
                <a:solidFill>
                  <a:schemeClr val="tx1">
                    <a:lumMod val="75000"/>
                  </a:schemeClr>
                </a:solidFill>
              </a:rPr>
              <a:t>第</a:t>
            </a:r>
            <a:r>
              <a:rPr lang="en-US" altLang="ja-JP" dirty="0">
                <a:solidFill>
                  <a:schemeClr val="tx1">
                    <a:lumMod val="75000"/>
                  </a:schemeClr>
                </a:solidFill>
              </a:rPr>
              <a:t>3</a:t>
            </a:r>
            <a:r>
              <a:rPr lang="ja-JP" altLang="en-US" dirty="0">
                <a:solidFill>
                  <a:schemeClr val="tx1">
                    <a:lumMod val="75000"/>
                  </a:schemeClr>
                </a:solidFill>
              </a:rPr>
              <a:t>正規形</a:t>
            </a:r>
            <a:endParaRPr lang="en-US" altLang="ja-JP" dirty="0">
              <a:solidFill>
                <a:schemeClr val="tx1">
                  <a:lumMod val="75000"/>
                </a:schemeClr>
              </a:solidFill>
            </a:endParaRPr>
          </a:p>
        </p:txBody>
      </p:sp>
      <p:sp>
        <p:nvSpPr>
          <p:cNvPr id="26" name="テキスト ボックス 25">
            <a:extLst>
              <a:ext uri="{FF2B5EF4-FFF2-40B4-BE49-F238E27FC236}">
                <a16:creationId xmlns:a16="http://schemas.microsoft.com/office/drawing/2014/main" id="{DDCC0D48-17E9-1B47-81E4-D95E7E2D3A93}"/>
              </a:ext>
            </a:extLst>
          </p:cNvPr>
          <p:cNvSpPr txBox="1"/>
          <p:nvPr/>
        </p:nvSpPr>
        <p:spPr>
          <a:xfrm>
            <a:off x="6108329" y="2986512"/>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solidFill>
                  <a:schemeClr val="tx1">
                    <a:lumMod val="75000"/>
                  </a:schemeClr>
                </a:solidFill>
              </a:rPr>
              <a:t>一つのセルの中に一つの値しか入れない</a:t>
            </a:r>
            <a:endParaRPr lang="en-US" altLang="ja-JP" dirty="0">
              <a:solidFill>
                <a:schemeClr val="tx1">
                  <a:lumMod val="75000"/>
                </a:schemeClr>
              </a:solidFill>
            </a:endParaRPr>
          </a:p>
          <a:p>
            <a:pPr marL="285750" indent="-285750">
              <a:buFont typeface="Arial" panose="020B0604020202020204" pitchFamily="34" charset="0"/>
              <a:buChar char="•"/>
            </a:pPr>
            <a:r>
              <a:rPr lang="ja-JP" altLang="en-US" dirty="0">
                <a:solidFill>
                  <a:schemeClr val="tx1">
                    <a:lumMod val="75000"/>
                  </a:schemeClr>
                </a:solidFill>
              </a:rPr>
              <a:t>主キーを設定する</a:t>
            </a:r>
            <a:endParaRPr kumimoji="1" lang="ja-JP" altLang="en-US" dirty="0">
              <a:solidFill>
                <a:schemeClr val="tx1">
                  <a:lumMod val="75000"/>
                </a:schemeClr>
              </a:solidFill>
            </a:endParaRPr>
          </a:p>
        </p:txBody>
      </p:sp>
      <p:sp>
        <p:nvSpPr>
          <p:cNvPr id="28" name="テキスト ボックス 27">
            <a:extLst>
              <a:ext uri="{FF2B5EF4-FFF2-40B4-BE49-F238E27FC236}">
                <a16:creationId xmlns:a16="http://schemas.microsoft.com/office/drawing/2014/main" id="{D19F06BC-6FD8-2450-D3EE-91DE0CEF2C51}"/>
              </a:ext>
            </a:extLst>
          </p:cNvPr>
          <p:cNvSpPr txBox="1"/>
          <p:nvPr/>
        </p:nvSpPr>
        <p:spPr>
          <a:xfrm>
            <a:off x="6096000" y="4326971"/>
            <a:ext cx="5677765" cy="64633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部分関数従属を解消する</a:t>
            </a:r>
            <a:endParaRPr lang="en-US" altLang="ja-JP" dirty="0"/>
          </a:p>
          <a:p>
            <a:pPr marL="285750" indent="-285750">
              <a:buFont typeface="Arial" panose="020B0604020202020204" pitchFamily="34" charset="0"/>
              <a:buChar char="•"/>
            </a:pPr>
            <a:r>
              <a:rPr lang="ja-JP" altLang="en-US" dirty="0"/>
              <a:t>主キーの一部の列に対して従属する列をなくす</a:t>
            </a:r>
            <a:endParaRPr kumimoji="1" lang="ja-JP" altLang="en-US" dirty="0"/>
          </a:p>
        </p:txBody>
      </p:sp>
      <p:sp>
        <p:nvSpPr>
          <p:cNvPr id="29" name="テキスト ボックス 28">
            <a:extLst>
              <a:ext uri="{FF2B5EF4-FFF2-40B4-BE49-F238E27FC236}">
                <a16:creationId xmlns:a16="http://schemas.microsoft.com/office/drawing/2014/main" id="{9C5AD6AA-528D-E340-D81B-0FDD29297C4A}"/>
              </a:ext>
            </a:extLst>
          </p:cNvPr>
          <p:cNvSpPr txBox="1"/>
          <p:nvPr/>
        </p:nvSpPr>
        <p:spPr>
          <a:xfrm>
            <a:off x="6108329" y="5771754"/>
            <a:ext cx="5677765" cy="923330"/>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t>推移的関数従属を解消する</a:t>
            </a:r>
            <a:endParaRPr lang="en-US" altLang="ja-JP" dirty="0"/>
          </a:p>
          <a:p>
            <a:pPr marL="285750" indent="-285750">
              <a:buFont typeface="Arial" panose="020B0604020202020204" pitchFamily="34" charset="0"/>
              <a:buChar char="•"/>
            </a:pPr>
            <a:r>
              <a:rPr lang="ja-JP" altLang="en-US" dirty="0"/>
              <a:t>主キーが非キー列を経由して別の非キー列を決定する依存関係を解消する</a:t>
            </a:r>
            <a:endParaRPr kumimoji="1" lang="ja-JP" altLang="en-US" dirty="0"/>
          </a:p>
        </p:txBody>
      </p:sp>
    </p:spTree>
    <p:extLst>
      <p:ext uri="{BB962C8B-B14F-4D97-AF65-F5344CB8AC3E}">
        <p14:creationId xmlns:p14="http://schemas.microsoft.com/office/powerpoint/2010/main" val="582609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8D2C1743-B1DF-1311-D64E-194A38B34837}"/>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1FC88A8E-53F0-B469-5D52-051622F0ECDE}"/>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スカラ値の原則と、主キーの設定を行う</a:t>
            </a:r>
            <a:endParaRPr lang="en-US" altLang="ja-JP" sz="2800" dirty="0"/>
          </a:p>
        </p:txBody>
      </p:sp>
      <p:sp>
        <p:nvSpPr>
          <p:cNvPr id="4" name="タイトル プレースホルダー 1">
            <a:extLst>
              <a:ext uri="{FF2B5EF4-FFF2-40B4-BE49-F238E27FC236}">
                <a16:creationId xmlns:a16="http://schemas.microsoft.com/office/drawing/2014/main" id="{306678DD-E9B8-0DA4-574D-12FF7A1F77B0}"/>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正規化のステップ　ー第</a:t>
            </a:r>
            <a:r>
              <a:rPr lang="en-US" altLang="ja-JP" dirty="0"/>
              <a:t>1</a:t>
            </a:r>
            <a:r>
              <a:rPr lang="ja-JP" altLang="en-US" dirty="0"/>
              <a:t>正規形ー</a:t>
            </a:r>
            <a:endParaRPr lang="en-US" altLang="ja-JP" dirty="0"/>
          </a:p>
        </p:txBody>
      </p:sp>
      <p:sp>
        <p:nvSpPr>
          <p:cNvPr id="5" name="タイトル プレースホルダー 1">
            <a:extLst>
              <a:ext uri="{FF2B5EF4-FFF2-40B4-BE49-F238E27FC236}">
                <a16:creationId xmlns:a16="http://schemas.microsoft.com/office/drawing/2014/main" id="{D6D34CD7-D252-D2AA-DA88-AFBF77624AF7}"/>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非正規形から第</a:t>
            </a:r>
            <a:r>
              <a:rPr lang="en-US" altLang="ja-JP" sz="1800" dirty="0"/>
              <a:t>1</a:t>
            </a:r>
            <a:r>
              <a:rPr lang="ja-JP" altLang="en-US" sz="1800" dirty="0"/>
              <a:t>正規形にするためには一つのセルには一つの値しか入れない、という原則を守ることが求められる</a:t>
            </a:r>
            <a:endParaRPr lang="en-US" altLang="ja-JP" sz="1800" dirty="0"/>
          </a:p>
          <a:p>
            <a:pPr marL="285750" indent="-285750">
              <a:buFont typeface="Arial" panose="020B0604020202020204" pitchFamily="34" charset="0"/>
              <a:buChar char="•"/>
            </a:pP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6" name="二等辺三角形 5">
            <a:extLst>
              <a:ext uri="{FF2B5EF4-FFF2-40B4-BE49-F238E27FC236}">
                <a16:creationId xmlns:a16="http://schemas.microsoft.com/office/drawing/2014/main" id="{ABE17FB7-1510-5242-9733-6FFEE45EC17B}"/>
              </a:ext>
            </a:extLst>
          </p:cNvPr>
          <p:cNvSpPr/>
          <p:nvPr/>
        </p:nvSpPr>
        <p:spPr>
          <a:xfrm rot="5400000">
            <a:off x="4612826" y="4208703"/>
            <a:ext cx="3034082" cy="585679"/>
          </a:xfrm>
          <a:prstGeom prst="triangle">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9FC3D50C-7294-75F3-5A27-08AA6BF5DBEA}"/>
              </a:ext>
            </a:extLst>
          </p:cNvPr>
          <p:cNvSpPr/>
          <p:nvPr/>
        </p:nvSpPr>
        <p:spPr>
          <a:xfrm>
            <a:off x="330200" y="302101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非正規形</a:t>
            </a:r>
            <a:endParaRPr kumimoji="1" lang="ja-JP" altLang="en-US" sz="1400" dirty="0">
              <a:solidFill>
                <a:schemeClr val="tx1">
                  <a:lumMod val="75000"/>
                </a:schemeClr>
              </a:solidFill>
            </a:endParaRPr>
          </a:p>
        </p:txBody>
      </p:sp>
      <p:sp>
        <p:nvSpPr>
          <p:cNvPr id="8" name="正方形/長方形 7">
            <a:extLst>
              <a:ext uri="{FF2B5EF4-FFF2-40B4-BE49-F238E27FC236}">
                <a16:creationId xmlns:a16="http://schemas.microsoft.com/office/drawing/2014/main" id="{FC840236-EA09-BB3F-854A-789AB91B97C9}"/>
              </a:ext>
            </a:extLst>
          </p:cNvPr>
          <p:cNvSpPr/>
          <p:nvPr/>
        </p:nvSpPr>
        <p:spPr>
          <a:xfrm>
            <a:off x="6793144" y="302101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第</a:t>
            </a:r>
            <a:r>
              <a:rPr lang="en-US" altLang="ja-JP" sz="1400" dirty="0">
                <a:solidFill>
                  <a:schemeClr val="tx1">
                    <a:lumMod val="75000"/>
                  </a:schemeClr>
                </a:solidFill>
              </a:rPr>
              <a:t>1</a:t>
            </a:r>
            <a:r>
              <a:rPr lang="ja-JP" altLang="en-US" sz="1400" dirty="0">
                <a:solidFill>
                  <a:schemeClr val="tx1">
                    <a:lumMod val="75000"/>
                  </a:schemeClr>
                </a:solidFill>
              </a:rPr>
              <a:t>正規形</a:t>
            </a:r>
            <a:endParaRPr lang="en-US" altLang="ja-JP" sz="1400" dirty="0">
              <a:solidFill>
                <a:schemeClr val="tx1">
                  <a:lumMod val="75000"/>
                </a:schemeClr>
              </a:solidFill>
            </a:endParaRPr>
          </a:p>
          <a:p>
            <a:pPr algn="ctr"/>
            <a:r>
              <a:rPr kumimoji="1" lang="en-US" altLang="ja-JP" sz="1400" dirty="0">
                <a:solidFill>
                  <a:schemeClr val="tx1">
                    <a:lumMod val="75000"/>
                  </a:schemeClr>
                </a:solidFill>
              </a:rPr>
              <a:t>(</a:t>
            </a:r>
            <a:r>
              <a:rPr kumimoji="1" lang="ja-JP" altLang="en-US" sz="1400" dirty="0">
                <a:solidFill>
                  <a:schemeClr val="tx1">
                    <a:lumMod val="75000"/>
                  </a:schemeClr>
                </a:solidFill>
              </a:rPr>
              <a:t>その</a:t>
            </a:r>
            <a:r>
              <a:rPr kumimoji="1" lang="en-US" altLang="ja-JP" sz="1400" dirty="0">
                <a:solidFill>
                  <a:schemeClr val="tx1">
                    <a:lumMod val="75000"/>
                  </a:schemeClr>
                </a:solidFill>
              </a:rPr>
              <a:t>1)</a:t>
            </a:r>
            <a:endParaRPr kumimoji="1" lang="ja-JP" altLang="en-US" sz="1400" dirty="0">
              <a:solidFill>
                <a:schemeClr val="tx1">
                  <a:lumMod val="75000"/>
                </a:schemeClr>
              </a:solidFill>
            </a:endParaRPr>
          </a:p>
        </p:txBody>
      </p:sp>
      <p:graphicFrame>
        <p:nvGraphicFramePr>
          <p:cNvPr id="9" name="表 8">
            <a:extLst>
              <a:ext uri="{FF2B5EF4-FFF2-40B4-BE49-F238E27FC236}">
                <a16:creationId xmlns:a16="http://schemas.microsoft.com/office/drawing/2014/main" id="{37C1179C-1C7E-3DB9-6304-5B4BF4DED156}"/>
              </a:ext>
            </a:extLst>
          </p:cNvPr>
          <p:cNvGraphicFramePr>
            <a:graphicFrameLocks noGrp="1"/>
          </p:cNvGraphicFramePr>
          <p:nvPr>
            <p:extLst>
              <p:ext uri="{D42A27DB-BD31-4B8C-83A1-F6EECF244321}">
                <p14:modId xmlns:p14="http://schemas.microsoft.com/office/powerpoint/2010/main" val="2719506645"/>
              </p:ext>
            </p:extLst>
          </p:nvPr>
        </p:nvGraphicFramePr>
        <p:xfrm>
          <a:off x="330200" y="3759862"/>
          <a:ext cx="5049669" cy="2296160"/>
        </p:xfrm>
        <a:graphic>
          <a:graphicData uri="http://schemas.openxmlformats.org/drawingml/2006/table">
            <a:tbl>
              <a:tblPr firstRow="1" bandRow="1">
                <a:tableStyleId>{5C22544A-7EE6-4342-B048-85BDC9FD1C3A}</a:tableStyleId>
              </a:tblPr>
              <a:tblGrid>
                <a:gridCol w="1683223">
                  <a:extLst>
                    <a:ext uri="{9D8B030D-6E8A-4147-A177-3AD203B41FA5}">
                      <a16:colId xmlns:a16="http://schemas.microsoft.com/office/drawing/2014/main" val="4252826389"/>
                    </a:ext>
                  </a:extLst>
                </a:gridCol>
                <a:gridCol w="1683223">
                  <a:extLst>
                    <a:ext uri="{9D8B030D-6E8A-4147-A177-3AD203B41FA5}">
                      <a16:colId xmlns:a16="http://schemas.microsoft.com/office/drawing/2014/main" val="1812106515"/>
                    </a:ext>
                  </a:extLst>
                </a:gridCol>
                <a:gridCol w="1683223">
                  <a:extLst>
                    <a:ext uri="{9D8B030D-6E8A-4147-A177-3AD203B41FA5}">
                      <a16:colId xmlns:a16="http://schemas.microsoft.com/office/drawing/2014/main" val="2148873364"/>
                    </a:ext>
                  </a:extLst>
                </a:gridCol>
              </a:tblGrid>
              <a:tr h="370840">
                <a:tc>
                  <a:txBody>
                    <a:bodyPr/>
                    <a:lstStyle/>
                    <a:p>
                      <a:r>
                        <a:rPr kumimoji="1" lang="ja-JP" altLang="en-US" dirty="0"/>
                        <a:t>社員</a:t>
                      </a:r>
                      <a:r>
                        <a:rPr kumimoji="1" lang="en-US" altLang="ja-JP" dirty="0"/>
                        <a:t>ID</a:t>
                      </a:r>
                      <a:endParaRPr kumimoji="1" lang="ja-JP" altLang="en-US" dirty="0"/>
                    </a:p>
                  </a:txBody>
                  <a:tcPr/>
                </a:tc>
                <a:tc>
                  <a:txBody>
                    <a:bodyPr/>
                    <a:lstStyle/>
                    <a:p>
                      <a:r>
                        <a:rPr kumimoji="1" lang="ja-JP" altLang="en-US" dirty="0"/>
                        <a:t>社員名</a:t>
                      </a:r>
                    </a:p>
                  </a:txBody>
                  <a:tcPr/>
                </a:tc>
                <a:tc>
                  <a:txBody>
                    <a:bodyPr/>
                    <a:lstStyle/>
                    <a:p>
                      <a:r>
                        <a:rPr kumimoji="1" lang="ja-JP" altLang="en-US" dirty="0"/>
                        <a:t>子</a:t>
                      </a:r>
                    </a:p>
                  </a:txBody>
                  <a:tcPr/>
                </a:tc>
                <a:extLst>
                  <a:ext uri="{0D108BD9-81ED-4DB2-BD59-A6C34878D82A}">
                    <a16:rowId xmlns:a16="http://schemas.microsoft.com/office/drawing/2014/main" val="2901669947"/>
                  </a:ext>
                </a:extLst>
              </a:tr>
              <a:tr h="370840">
                <a:tc>
                  <a:txBody>
                    <a:bodyPr/>
                    <a:lstStyle/>
                    <a:p>
                      <a:r>
                        <a:rPr kumimoji="1" lang="en-US" altLang="ja-JP" dirty="0"/>
                        <a:t>000A</a:t>
                      </a:r>
                      <a:endParaRPr kumimoji="1" lang="ja-JP" altLang="en-US" dirty="0"/>
                    </a:p>
                  </a:txBody>
                  <a:tcPr/>
                </a:tc>
                <a:tc>
                  <a:txBody>
                    <a:bodyPr/>
                    <a:lstStyle/>
                    <a:p>
                      <a:r>
                        <a:rPr kumimoji="1" lang="ja-JP" altLang="en-US" dirty="0"/>
                        <a:t>加藤</a:t>
                      </a:r>
                    </a:p>
                  </a:txBody>
                  <a:tcPr/>
                </a:tc>
                <a:tc>
                  <a:txBody>
                    <a:bodyPr/>
                    <a:lstStyle/>
                    <a:p>
                      <a:r>
                        <a:rPr kumimoji="1" lang="ja-JP" altLang="en-US" dirty="0"/>
                        <a:t>達夫</a:t>
                      </a:r>
                      <a:endParaRPr kumimoji="1" lang="en-US" altLang="ja-JP" dirty="0"/>
                    </a:p>
                    <a:p>
                      <a:r>
                        <a:rPr kumimoji="1" lang="ja-JP" altLang="en-US" dirty="0"/>
                        <a:t>信二</a:t>
                      </a:r>
                    </a:p>
                  </a:txBody>
                  <a:tcPr/>
                </a:tc>
                <a:extLst>
                  <a:ext uri="{0D108BD9-81ED-4DB2-BD59-A6C34878D82A}">
                    <a16:rowId xmlns:a16="http://schemas.microsoft.com/office/drawing/2014/main" val="1613917329"/>
                  </a:ext>
                </a:extLst>
              </a:tr>
              <a:tr h="370840">
                <a:tc>
                  <a:txBody>
                    <a:bodyPr/>
                    <a:lstStyle/>
                    <a:p>
                      <a:r>
                        <a:rPr kumimoji="1" lang="en-US" altLang="ja-JP" dirty="0"/>
                        <a:t>000B</a:t>
                      </a:r>
                      <a:endParaRPr kumimoji="1" lang="ja-JP" altLang="en-US" dirty="0"/>
                    </a:p>
                  </a:txBody>
                  <a:tcPr/>
                </a:tc>
                <a:tc>
                  <a:txBody>
                    <a:bodyPr/>
                    <a:lstStyle/>
                    <a:p>
                      <a:r>
                        <a:rPr kumimoji="1" lang="ja-JP" altLang="en-US" dirty="0"/>
                        <a:t>藤本</a:t>
                      </a:r>
                    </a:p>
                  </a:txBody>
                  <a:tcPr/>
                </a:tc>
                <a:tc>
                  <a:txBody>
                    <a:bodyPr/>
                    <a:lstStyle/>
                    <a:p>
                      <a:endParaRPr kumimoji="1" lang="ja-JP" altLang="en-US" dirty="0"/>
                    </a:p>
                  </a:txBody>
                  <a:tcPr/>
                </a:tc>
                <a:extLst>
                  <a:ext uri="{0D108BD9-81ED-4DB2-BD59-A6C34878D82A}">
                    <a16:rowId xmlns:a16="http://schemas.microsoft.com/office/drawing/2014/main" val="3336696926"/>
                  </a:ext>
                </a:extLst>
              </a:tr>
              <a:tr h="370840">
                <a:tc>
                  <a:txBody>
                    <a:bodyPr/>
                    <a:lstStyle/>
                    <a:p>
                      <a:r>
                        <a:rPr kumimoji="1" lang="en-US" altLang="ja-JP" dirty="0"/>
                        <a:t>001F</a:t>
                      </a:r>
                      <a:endParaRPr kumimoji="1" lang="ja-JP" altLang="en-US" dirty="0"/>
                    </a:p>
                  </a:txBody>
                  <a:tcPr/>
                </a:tc>
                <a:tc>
                  <a:txBody>
                    <a:bodyPr/>
                    <a:lstStyle/>
                    <a:p>
                      <a:r>
                        <a:rPr kumimoji="1" lang="ja-JP" altLang="en-US" dirty="0"/>
                        <a:t>三島</a:t>
                      </a:r>
                    </a:p>
                  </a:txBody>
                  <a:tcPr/>
                </a:tc>
                <a:tc>
                  <a:txBody>
                    <a:bodyPr/>
                    <a:lstStyle/>
                    <a:p>
                      <a:r>
                        <a:rPr kumimoji="1" lang="ja-JP" altLang="en-US" dirty="0"/>
                        <a:t>敦</a:t>
                      </a:r>
                      <a:endParaRPr kumimoji="1" lang="en-US" altLang="ja-JP" dirty="0"/>
                    </a:p>
                    <a:p>
                      <a:r>
                        <a:rPr kumimoji="1" lang="ja-JP" altLang="en-US" dirty="0"/>
                        <a:t>洋子</a:t>
                      </a:r>
                      <a:endParaRPr kumimoji="1" lang="en-US" altLang="ja-JP" dirty="0"/>
                    </a:p>
                    <a:p>
                      <a:r>
                        <a:rPr kumimoji="1" lang="ja-JP" altLang="en-US" dirty="0"/>
                        <a:t>清美</a:t>
                      </a:r>
                    </a:p>
                  </a:txBody>
                  <a:tcPr/>
                </a:tc>
                <a:extLst>
                  <a:ext uri="{0D108BD9-81ED-4DB2-BD59-A6C34878D82A}">
                    <a16:rowId xmlns:a16="http://schemas.microsoft.com/office/drawing/2014/main" val="339944897"/>
                  </a:ext>
                </a:extLst>
              </a:tr>
            </a:tbl>
          </a:graphicData>
        </a:graphic>
      </p:graphicFrame>
      <p:graphicFrame>
        <p:nvGraphicFramePr>
          <p:cNvPr id="10" name="表 9">
            <a:extLst>
              <a:ext uri="{FF2B5EF4-FFF2-40B4-BE49-F238E27FC236}">
                <a16:creationId xmlns:a16="http://schemas.microsoft.com/office/drawing/2014/main" id="{98DE7F07-179A-2D9F-9869-0BB74ECC1D0E}"/>
              </a:ext>
            </a:extLst>
          </p:cNvPr>
          <p:cNvGraphicFramePr>
            <a:graphicFrameLocks noGrp="1"/>
          </p:cNvGraphicFramePr>
          <p:nvPr>
            <p:extLst>
              <p:ext uri="{D42A27DB-BD31-4B8C-83A1-F6EECF244321}">
                <p14:modId xmlns:p14="http://schemas.microsoft.com/office/powerpoint/2010/main" val="2206366700"/>
              </p:ext>
            </p:extLst>
          </p:nvPr>
        </p:nvGraphicFramePr>
        <p:xfrm>
          <a:off x="6793144" y="3759862"/>
          <a:ext cx="5043255" cy="1483360"/>
        </p:xfrm>
        <a:graphic>
          <a:graphicData uri="http://schemas.openxmlformats.org/drawingml/2006/table">
            <a:tbl>
              <a:tblPr firstRow="1" bandRow="1">
                <a:tableStyleId>{5C22544A-7EE6-4342-B048-85BDC9FD1C3A}</a:tableStyleId>
              </a:tblPr>
              <a:tblGrid>
                <a:gridCol w="1008651">
                  <a:extLst>
                    <a:ext uri="{9D8B030D-6E8A-4147-A177-3AD203B41FA5}">
                      <a16:colId xmlns:a16="http://schemas.microsoft.com/office/drawing/2014/main" val="1430862820"/>
                    </a:ext>
                  </a:extLst>
                </a:gridCol>
                <a:gridCol w="1008651">
                  <a:extLst>
                    <a:ext uri="{9D8B030D-6E8A-4147-A177-3AD203B41FA5}">
                      <a16:colId xmlns:a16="http://schemas.microsoft.com/office/drawing/2014/main" val="526182399"/>
                    </a:ext>
                  </a:extLst>
                </a:gridCol>
                <a:gridCol w="1008651">
                  <a:extLst>
                    <a:ext uri="{9D8B030D-6E8A-4147-A177-3AD203B41FA5}">
                      <a16:colId xmlns:a16="http://schemas.microsoft.com/office/drawing/2014/main" val="313098214"/>
                    </a:ext>
                  </a:extLst>
                </a:gridCol>
                <a:gridCol w="1008651">
                  <a:extLst>
                    <a:ext uri="{9D8B030D-6E8A-4147-A177-3AD203B41FA5}">
                      <a16:colId xmlns:a16="http://schemas.microsoft.com/office/drawing/2014/main" val="72159018"/>
                    </a:ext>
                  </a:extLst>
                </a:gridCol>
                <a:gridCol w="1008651">
                  <a:extLst>
                    <a:ext uri="{9D8B030D-6E8A-4147-A177-3AD203B41FA5}">
                      <a16:colId xmlns:a16="http://schemas.microsoft.com/office/drawing/2014/main" val="556503137"/>
                    </a:ext>
                  </a:extLst>
                </a:gridCol>
              </a:tblGrid>
              <a:tr h="370840">
                <a:tc>
                  <a:txBody>
                    <a:bodyPr/>
                    <a:lstStyle/>
                    <a:p>
                      <a:r>
                        <a:rPr kumimoji="1" lang="ja-JP" altLang="en-US" dirty="0"/>
                        <a:t>社員</a:t>
                      </a:r>
                      <a:r>
                        <a:rPr kumimoji="1" lang="en-US" altLang="ja-JP" dirty="0"/>
                        <a:t>ID</a:t>
                      </a:r>
                      <a:endParaRPr kumimoji="1" lang="ja-JP" altLang="en-US" dirty="0"/>
                    </a:p>
                  </a:txBody>
                  <a:tcPr/>
                </a:tc>
                <a:tc>
                  <a:txBody>
                    <a:bodyPr/>
                    <a:lstStyle/>
                    <a:p>
                      <a:r>
                        <a:rPr kumimoji="1" lang="ja-JP" altLang="en-US" dirty="0"/>
                        <a:t>社員名</a:t>
                      </a:r>
                    </a:p>
                  </a:txBody>
                  <a:tcPr/>
                </a:tc>
                <a:tc>
                  <a:txBody>
                    <a:bodyPr/>
                    <a:lstStyle/>
                    <a:p>
                      <a:r>
                        <a:rPr kumimoji="1" lang="ja-JP" altLang="en-US" dirty="0"/>
                        <a:t>子</a:t>
                      </a:r>
                      <a:r>
                        <a:rPr kumimoji="1" lang="en-US" altLang="ja-JP" dirty="0"/>
                        <a:t>1</a:t>
                      </a:r>
                      <a:endParaRPr kumimoji="1" lang="ja-JP" altLang="en-US" dirty="0"/>
                    </a:p>
                  </a:txBody>
                  <a:tcPr/>
                </a:tc>
                <a:tc>
                  <a:txBody>
                    <a:bodyPr/>
                    <a:lstStyle/>
                    <a:p>
                      <a:r>
                        <a:rPr kumimoji="1" lang="ja-JP" altLang="en-US" dirty="0"/>
                        <a:t>子</a:t>
                      </a:r>
                      <a:r>
                        <a:rPr kumimoji="1" lang="en-US" altLang="ja-JP" dirty="0"/>
                        <a:t>2</a:t>
                      </a:r>
                      <a:endParaRPr kumimoji="1" lang="ja-JP" altLang="en-US" dirty="0"/>
                    </a:p>
                  </a:txBody>
                  <a:tcPr/>
                </a:tc>
                <a:tc>
                  <a:txBody>
                    <a:bodyPr/>
                    <a:lstStyle/>
                    <a:p>
                      <a:r>
                        <a:rPr kumimoji="1" lang="ja-JP" altLang="en-US" dirty="0"/>
                        <a:t>子</a:t>
                      </a:r>
                      <a:r>
                        <a:rPr kumimoji="1" lang="en-US" altLang="ja-JP" dirty="0"/>
                        <a:t>3</a:t>
                      </a:r>
                      <a:endParaRPr kumimoji="1" lang="ja-JP" altLang="en-US" dirty="0"/>
                    </a:p>
                  </a:txBody>
                  <a:tcPr/>
                </a:tc>
                <a:extLst>
                  <a:ext uri="{0D108BD9-81ED-4DB2-BD59-A6C34878D82A}">
                    <a16:rowId xmlns:a16="http://schemas.microsoft.com/office/drawing/2014/main" val="2035072520"/>
                  </a:ext>
                </a:extLst>
              </a:tr>
              <a:tr h="370840">
                <a:tc>
                  <a:txBody>
                    <a:bodyPr/>
                    <a:lstStyle/>
                    <a:p>
                      <a:r>
                        <a:rPr kumimoji="1" lang="en-US" altLang="ja-JP" dirty="0"/>
                        <a:t>000A</a:t>
                      </a:r>
                      <a:endParaRPr kumimoji="1" lang="ja-JP" altLang="en-US" dirty="0"/>
                    </a:p>
                  </a:txBody>
                  <a:tcPr/>
                </a:tc>
                <a:tc>
                  <a:txBody>
                    <a:bodyPr/>
                    <a:lstStyle/>
                    <a:p>
                      <a:r>
                        <a:rPr kumimoji="1" lang="ja-JP" altLang="en-US" dirty="0"/>
                        <a:t>加藤</a:t>
                      </a:r>
                    </a:p>
                  </a:txBody>
                  <a:tcPr/>
                </a:tc>
                <a:tc>
                  <a:txBody>
                    <a:bodyPr/>
                    <a:lstStyle/>
                    <a:p>
                      <a:r>
                        <a:rPr kumimoji="1" lang="ja-JP" altLang="en-US" dirty="0"/>
                        <a:t>達夫</a:t>
                      </a:r>
                    </a:p>
                  </a:txBody>
                  <a:tcPr/>
                </a:tc>
                <a:tc>
                  <a:txBody>
                    <a:bodyPr/>
                    <a:lstStyle/>
                    <a:p>
                      <a:r>
                        <a:rPr kumimoji="1" lang="ja-JP" altLang="en-US" dirty="0"/>
                        <a:t>信二</a:t>
                      </a:r>
                    </a:p>
                  </a:txBody>
                  <a:tcPr/>
                </a:tc>
                <a:tc>
                  <a:txBody>
                    <a:bodyPr/>
                    <a:lstStyle/>
                    <a:p>
                      <a:endParaRPr kumimoji="1" lang="ja-JP" altLang="en-US" dirty="0"/>
                    </a:p>
                  </a:txBody>
                  <a:tcPr/>
                </a:tc>
                <a:extLst>
                  <a:ext uri="{0D108BD9-81ED-4DB2-BD59-A6C34878D82A}">
                    <a16:rowId xmlns:a16="http://schemas.microsoft.com/office/drawing/2014/main" val="3787714943"/>
                  </a:ext>
                </a:extLst>
              </a:tr>
              <a:tr h="370840">
                <a:tc>
                  <a:txBody>
                    <a:bodyPr/>
                    <a:lstStyle/>
                    <a:p>
                      <a:r>
                        <a:rPr kumimoji="1" lang="en-US" altLang="ja-JP" dirty="0"/>
                        <a:t>000B</a:t>
                      </a:r>
                      <a:endParaRPr kumimoji="1" lang="ja-JP" altLang="en-US" dirty="0"/>
                    </a:p>
                  </a:txBody>
                  <a:tcPr/>
                </a:tc>
                <a:tc>
                  <a:txBody>
                    <a:bodyPr/>
                    <a:lstStyle/>
                    <a:p>
                      <a:r>
                        <a:rPr kumimoji="1" lang="ja-JP" altLang="en-US" dirty="0"/>
                        <a:t>藤本</a:t>
                      </a:r>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3616448333"/>
                  </a:ext>
                </a:extLst>
              </a:tr>
              <a:tr h="370840">
                <a:tc>
                  <a:txBody>
                    <a:bodyPr/>
                    <a:lstStyle/>
                    <a:p>
                      <a:r>
                        <a:rPr kumimoji="1" lang="en-US" altLang="ja-JP" dirty="0"/>
                        <a:t>001F</a:t>
                      </a:r>
                      <a:endParaRPr kumimoji="1" lang="ja-JP" altLang="en-US" dirty="0"/>
                    </a:p>
                  </a:txBody>
                  <a:tcPr/>
                </a:tc>
                <a:tc>
                  <a:txBody>
                    <a:bodyPr/>
                    <a:lstStyle/>
                    <a:p>
                      <a:r>
                        <a:rPr kumimoji="1" lang="ja-JP" altLang="en-US" dirty="0"/>
                        <a:t>三島</a:t>
                      </a:r>
                    </a:p>
                  </a:txBody>
                  <a:tcPr/>
                </a:tc>
                <a:tc>
                  <a:txBody>
                    <a:bodyPr/>
                    <a:lstStyle/>
                    <a:p>
                      <a:r>
                        <a:rPr kumimoji="1" lang="ja-JP" altLang="en-US" dirty="0"/>
                        <a:t>敦</a:t>
                      </a:r>
                    </a:p>
                  </a:txBody>
                  <a:tcPr/>
                </a:tc>
                <a:tc>
                  <a:txBody>
                    <a:bodyPr/>
                    <a:lstStyle/>
                    <a:p>
                      <a:r>
                        <a:rPr kumimoji="1" lang="ja-JP" altLang="en-US" dirty="0"/>
                        <a:t>洋子</a:t>
                      </a:r>
                    </a:p>
                  </a:txBody>
                  <a:tcPr/>
                </a:tc>
                <a:tc>
                  <a:txBody>
                    <a:bodyPr/>
                    <a:lstStyle/>
                    <a:p>
                      <a:r>
                        <a:rPr kumimoji="1" lang="ja-JP" altLang="en-US" dirty="0"/>
                        <a:t>清美</a:t>
                      </a:r>
                    </a:p>
                  </a:txBody>
                  <a:tcPr/>
                </a:tc>
                <a:extLst>
                  <a:ext uri="{0D108BD9-81ED-4DB2-BD59-A6C34878D82A}">
                    <a16:rowId xmlns:a16="http://schemas.microsoft.com/office/drawing/2014/main" val="433193485"/>
                  </a:ext>
                </a:extLst>
              </a:tr>
            </a:tbl>
          </a:graphicData>
        </a:graphic>
      </p:graphicFrame>
    </p:spTree>
    <p:extLst>
      <p:ext uri="{BB962C8B-B14F-4D97-AF65-F5344CB8AC3E}">
        <p14:creationId xmlns:p14="http://schemas.microsoft.com/office/powerpoint/2010/main" val="40595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9E831-9A9F-ACA5-84D6-DA411AB06754}"/>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A448435F-A8C2-75AD-1B1F-87AB7708E48B}"/>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1EE846C5-3133-2884-F906-FFF48CC908FA}"/>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スカラ値の原則と、主キーの設定を行う</a:t>
            </a:r>
            <a:endParaRPr lang="en-US" altLang="ja-JP" sz="2800" dirty="0"/>
          </a:p>
        </p:txBody>
      </p:sp>
      <p:sp>
        <p:nvSpPr>
          <p:cNvPr id="4" name="タイトル プレースホルダー 1">
            <a:extLst>
              <a:ext uri="{FF2B5EF4-FFF2-40B4-BE49-F238E27FC236}">
                <a16:creationId xmlns:a16="http://schemas.microsoft.com/office/drawing/2014/main" id="{68CBA1FE-4930-6E87-66E8-A34A211870B5}"/>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正規化のステップ　ー第</a:t>
            </a:r>
            <a:r>
              <a:rPr lang="en-US" altLang="ja-JP" dirty="0"/>
              <a:t>1</a:t>
            </a:r>
            <a:r>
              <a:rPr lang="ja-JP" altLang="en-US" dirty="0"/>
              <a:t>正規形ー</a:t>
            </a:r>
            <a:endParaRPr lang="en-US" altLang="ja-JP" dirty="0"/>
          </a:p>
        </p:txBody>
      </p:sp>
      <p:sp>
        <p:nvSpPr>
          <p:cNvPr id="5" name="タイトル プレースホルダー 1">
            <a:extLst>
              <a:ext uri="{FF2B5EF4-FFF2-40B4-BE49-F238E27FC236}">
                <a16:creationId xmlns:a16="http://schemas.microsoft.com/office/drawing/2014/main" id="{D7DF556D-B1FA-EEB5-C537-324021117AE7}"/>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非正規形から第</a:t>
            </a:r>
            <a:r>
              <a:rPr lang="en-US" altLang="ja-JP" sz="1800" dirty="0"/>
              <a:t>1</a:t>
            </a:r>
            <a:r>
              <a:rPr lang="ja-JP" altLang="en-US" sz="1800" dirty="0"/>
              <a:t>正規形にするためには一つのセルには一つの値しか入れない、という原則を守ることが求められる</a:t>
            </a:r>
            <a:endParaRPr lang="en-US" altLang="ja-JP" sz="1800" dirty="0"/>
          </a:p>
          <a:p>
            <a:pPr marL="285750" indent="-285750">
              <a:buFont typeface="Arial" panose="020B0604020202020204" pitchFamily="34" charset="0"/>
              <a:buChar char="•"/>
            </a:pPr>
            <a:r>
              <a:rPr lang="ja-JP" altLang="en-US" sz="1800" dirty="0"/>
              <a:t>以下のその</a:t>
            </a:r>
            <a:r>
              <a:rPr lang="en-US" altLang="ja-JP" sz="1800" dirty="0"/>
              <a:t>2</a:t>
            </a:r>
            <a:r>
              <a:rPr lang="ja-JP" altLang="en-US" sz="1800" dirty="0"/>
              <a:t>テーブルも第</a:t>
            </a:r>
            <a:r>
              <a:rPr lang="en-US" altLang="ja-JP" sz="1800" dirty="0"/>
              <a:t>1</a:t>
            </a:r>
            <a:r>
              <a:rPr lang="ja-JP" altLang="en-US" sz="1800" dirty="0"/>
              <a:t>正規形といえるが、主キーを決められないという問題点があり、テーブル分割により解消する</a:t>
            </a:r>
            <a:endParaRPr lang="en-US" altLang="ja-JP" sz="1800" dirty="0"/>
          </a:p>
          <a:p>
            <a:pPr marL="285750" indent="-285750">
              <a:buFont typeface="Arial" panose="020B0604020202020204" pitchFamily="34" charset="0"/>
              <a:buChar char="•"/>
            </a:pP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6" name="二等辺三角形 5">
            <a:extLst>
              <a:ext uri="{FF2B5EF4-FFF2-40B4-BE49-F238E27FC236}">
                <a16:creationId xmlns:a16="http://schemas.microsoft.com/office/drawing/2014/main" id="{B27E92FD-1FDA-94DF-A076-E5FAD53E24FA}"/>
              </a:ext>
            </a:extLst>
          </p:cNvPr>
          <p:cNvSpPr/>
          <p:nvPr/>
        </p:nvSpPr>
        <p:spPr>
          <a:xfrm rot="5400000">
            <a:off x="4286119" y="4630979"/>
            <a:ext cx="3034082" cy="585679"/>
          </a:xfrm>
          <a:prstGeom prst="triangle">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AD891BAA-8B50-2AEF-47B8-F54A9226AC0D}"/>
              </a:ext>
            </a:extLst>
          </p:cNvPr>
          <p:cNvSpPr/>
          <p:nvPr/>
        </p:nvSpPr>
        <p:spPr>
          <a:xfrm>
            <a:off x="405044" y="310991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第</a:t>
            </a:r>
            <a:r>
              <a:rPr lang="en-US" altLang="ja-JP" sz="1400" dirty="0">
                <a:solidFill>
                  <a:schemeClr val="tx1">
                    <a:lumMod val="75000"/>
                  </a:schemeClr>
                </a:solidFill>
              </a:rPr>
              <a:t>1</a:t>
            </a:r>
            <a:r>
              <a:rPr lang="ja-JP" altLang="en-US" sz="1400" dirty="0">
                <a:solidFill>
                  <a:schemeClr val="tx1">
                    <a:lumMod val="75000"/>
                  </a:schemeClr>
                </a:solidFill>
              </a:rPr>
              <a:t>正規形</a:t>
            </a:r>
            <a:endParaRPr lang="en-US" altLang="ja-JP" sz="1400" dirty="0">
              <a:solidFill>
                <a:schemeClr val="tx1">
                  <a:lumMod val="75000"/>
                </a:schemeClr>
              </a:solidFill>
            </a:endParaRPr>
          </a:p>
          <a:p>
            <a:pPr algn="ctr"/>
            <a:r>
              <a:rPr kumimoji="1" lang="en-US" altLang="ja-JP" sz="1400" dirty="0">
                <a:solidFill>
                  <a:schemeClr val="tx1">
                    <a:lumMod val="75000"/>
                  </a:schemeClr>
                </a:solidFill>
              </a:rPr>
              <a:t>(</a:t>
            </a:r>
            <a:r>
              <a:rPr kumimoji="1" lang="ja-JP" altLang="en-US" sz="1400" dirty="0">
                <a:solidFill>
                  <a:schemeClr val="tx1">
                    <a:lumMod val="75000"/>
                  </a:schemeClr>
                </a:solidFill>
              </a:rPr>
              <a:t>その</a:t>
            </a:r>
            <a:r>
              <a:rPr lang="en-US" altLang="ja-JP" sz="1400" dirty="0">
                <a:solidFill>
                  <a:schemeClr val="tx1">
                    <a:lumMod val="75000"/>
                  </a:schemeClr>
                </a:solidFill>
              </a:rPr>
              <a:t>2</a:t>
            </a:r>
            <a:r>
              <a:rPr kumimoji="1" lang="en-US" altLang="ja-JP" sz="1400" dirty="0">
                <a:solidFill>
                  <a:schemeClr val="tx1">
                    <a:lumMod val="75000"/>
                  </a:schemeClr>
                </a:solidFill>
              </a:rPr>
              <a:t>)</a:t>
            </a:r>
            <a:endParaRPr kumimoji="1" lang="ja-JP" altLang="en-US" sz="1400" dirty="0">
              <a:solidFill>
                <a:schemeClr val="tx1">
                  <a:lumMod val="75000"/>
                </a:schemeClr>
              </a:solidFill>
            </a:endParaRPr>
          </a:p>
        </p:txBody>
      </p:sp>
      <p:graphicFrame>
        <p:nvGraphicFramePr>
          <p:cNvPr id="10" name="表 9">
            <a:extLst>
              <a:ext uri="{FF2B5EF4-FFF2-40B4-BE49-F238E27FC236}">
                <a16:creationId xmlns:a16="http://schemas.microsoft.com/office/drawing/2014/main" id="{02E1D63B-F5E7-A73F-8007-4675CEB38026}"/>
              </a:ext>
            </a:extLst>
          </p:cNvPr>
          <p:cNvGraphicFramePr>
            <a:graphicFrameLocks noGrp="1"/>
          </p:cNvGraphicFramePr>
          <p:nvPr>
            <p:extLst>
              <p:ext uri="{D42A27DB-BD31-4B8C-83A1-F6EECF244321}">
                <p14:modId xmlns:p14="http://schemas.microsoft.com/office/powerpoint/2010/main" val="3574015732"/>
              </p:ext>
            </p:extLst>
          </p:nvPr>
        </p:nvGraphicFramePr>
        <p:xfrm>
          <a:off x="405044" y="3848762"/>
          <a:ext cx="4052655" cy="2590800"/>
        </p:xfrm>
        <a:graphic>
          <a:graphicData uri="http://schemas.openxmlformats.org/drawingml/2006/table">
            <a:tbl>
              <a:tblPr firstRow="1" bandRow="1">
                <a:tableStyleId>{5C22544A-7EE6-4342-B048-85BDC9FD1C3A}</a:tableStyleId>
              </a:tblPr>
              <a:tblGrid>
                <a:gridCol w="1350885">
                  <a:extLst>
                    <a:ext uri="{9D8B030D-6E8A-4147-A177-3AD203B41FA5}">
                      <a16:colId xmlns:a16="http://schemas.microsoft.com/office/drawing/2014/main" val="1430862820"/>
                    </a:ext>
                  </a:extLst>
                </a:gridCol>
                <a:gridCol w="1350885">
                  <a:extLst>
                    <a:ext uri="{9D8B030D-6E8A-4147-A177-3AD203B41FA5}">
                      <a16:colId xmlns:a16="http://schemas.microsoft.com/office/drawing/2014/main" val="526182399"/>
                    </a:ext>
                  </a:extLst>
                </a:gridCol>
                <a:gridCol w="1350885">
                  <a:extLst>
                    <a:ext uri="{9D8B030D-6E8A-4147-A177-3AD203B41FA5}">
                      <a16:colId xmlns:a16="http://schemas.microsoft.com/office/drawing/2014/main" val="313098214"/>
                    </a:ext>
                  </a:extLst>
                </a:gridCol>
              </a:tblGrid>
              <a:tr h="370840">
                <a:tc>
                  <a:txBody>
                    <a:bodyPr/>
                    <a:lstStyle/>
                    <a:p>
                      <a:r>
                        <a:rPr kumimoji="1" lang="ja-JP" altLang="en-US" dirty="0"/>
                        <a:t>社員</a:t>
                      </a:r>
                      <a:r>
                        <a:rPr kumimoji="1" lang="en-US" altLang="ja-JP" dirty="0"/>
                        <a:t>ID</a:t>
                      </a:r>
                      <a:endParaRPr kumimoji="1" lang="ja-JP" altLang="en-US" dirty="0"/>
                    </a:p>
                  </a:txBody>
                  <a:tcPr/>
                </a:tc>
                <a:tc>
                  <a:txBody>
                    <a:bodyPr/>
                    <a:lstStyle/>
                    <a:p>
                      <a:r>
                        <a:rPr kumimoji="1" lang="ja-JP" altLang="en-US" dirty="0"/>
                        <a:t>社員名</a:t>
                      </a:r>
                    </a:p>
                  </a:txBody>
                  <a:tcPr/>
                </a:tc>
                <a:tc>
                  <a:txBody>
                    <a:bodyPr/>
                    <a:lstStyle/>
                    <a:p>
                      <a:r>
                        <a:rPr kumimoji="1" lang="ja-JP" altLang="en-US" dirty="0"/>
                        <a:t>子</a:t>
                      </a:r>
                    </a:p>
                  </a:txBody>
                  <a:tcPr/>
                </a:tc>
                <a:extLst>
                  <a:ext uri="{0D108BD9-81ED-4DB2-BD59-A6C34878D82A}">
                    <a16:rowId xmlns:a16="http://schemas.microsoft.com/office/drawing/2014/main" val="2035072520"/>
                  </a:ext>
                </a:extLst>
              </a:tr>
              <a:tr h="370840">
                <a:tc>
                  <a:txBody>
                    <a:bodyPr/>
                    <a:lstStyle/>
                    <a:p>
                      <a:r>
                        <a:rPr kumimoji="1" lang="en-US" altLang="ja-JP" dirty="0"/>
                        <a:t>000A</a:t>
                      </a:r>
                      <a:endParaRPr kumimoji="1" lang="ja-JP" altLang="en-US" dirty="0"/>
                    </a:p>
                  </a:txBody>
                  <a:tcPr/>
                </a:tc>
                <a:tc>
                  <a:txBody>
                    <a:bodyPr/>
                    <a:lstStyle/>
                    <a:p>
                      <a:r>
                        <a:rPr kumimoji="1" lang="ja-JP" altLang="en-US" dirty="0"/>
                        <a:t>加藤</a:t>
                      </a:r>
                    </a:p>
                  </a:txBody>
                  <a:tcPr/>
                </a:tc>
                <a:tc>
                  <a:txBody>
                    <a:bodyPr/>
                    <a:lstStyle/>
                    <a:p>
                      <a:r>
                        <a:rPr kumimoji="1" lang="ja-JP" altLang="en-US" dirty="0"/>
                        <a:t>達夫</a:t>
                      </a:r>
                    </a:p>
                  </a:txBody>
                  <a:tcPr/>
                </a:tc>
                <a:extLst>
                  <a:ext uri="{0D108BD9-81ED-4DB2-BD59-A6C34878D82A}">
                    <a16:rowId xmlns:a16="http://schemas.microsoft.com/office/drawing/2014/main" val="3787714943"/>
                  </a:ext>
                </a:extLst>
              </a:tr>
              <a:tr h="370840">
                <a:tc>
                  <a:txBody>
                    <a:bodyPr/>
                    <a:lstStyle/>
                    <a:p>
                      <a:r>
                        <a:rPr kumimoji="1" lang="en-US" altLang="ja-JP" dirty="0"/>
                        <a:t>000A</a:t>
                      </a:r>
                      <a:endParaRPr kumimoji="1" lang="ja-JP" altLang="en-US" dirty="0"/>
                    </a:p>
                  </a:txBody>
                  <a:tcPr/>
                </a:tc>
                <a:tc>
                  <a:txBody>
                    <a:bodyPr/>
                    <a:lstStyle/>
                    <a:p>
                      <a:r>
                        <a:rPr kumimoji="1" lang="ja-JP" altLang="en-US" dirty="0"/>
                        <a:t>加藤</a:t>
                      </a:r>
                    </a:p>
                  </a:txBody>
                  <a:tcPr/>
                </a:tc>
                <a:tc>
                  <a:txBody>
                    <a:bodyPr/>
                    <a:lstStyle/>
                    <a:p>
                      <a:r>
                        <a:rPr kumimoji="1" lang="ja-JP" altLang="en-US" dirty="0"/>
                        <a:t>信二</a:t>
                      </a:r>
                    </a:p>
                  </a:txBody>
                  <a:tcPr/>
                </a:tc>
                <a:extLst>
                  <a:ext uri="{0D108BD9-81ED-4DB2-BD59-A6C34878D82A}">
                    <a16:rowId xmlns:a16="http://schemas.microsoft.com/office/drawing/2014/main" val="532976586"/>
                  </a:ext>
                </a:extLst>
              </a:tr>
              <a:tr h="370840">
                <a:tc>
                  <a:txBody>
                    <a:bodyPr/>
                    <a:lstStyle/>
                    <a:p>
                      <a:r>
                        <a:rPr kumimoji="1" lang="en-US" altLang="ja-JP" dirty="0"/>
                        <a:t>000B</a:t>
                      </a:r>
                      <a:endParaRPr kumimoji="1" lang="ja-JP" altLang="en-US" dirty="0"/>
                    </a:p>
                  </a:txBody>
                  <a:tcPr/>
                </a:tc>
                <a:tc>
                  <a:txBody>
                    <a:bodyPr/>
                    <a:lstStyle/>
                    <a:p>
                      <a:r>
                        <a:rPr kumimoji="1" lang="ja-JP" altLang="en-US" dirty="0"/>
                        <a:t>藤本</a:t>
                      </a:r>
                    </a:p>
                  </a:txBody>
                  <a:tcPr/>
                </a:tc>
                <a:tc>
                  <a:txBody>
                    <a:bodyPr/>
                    <a:lstStyle/>
                    <a:p>
                      <a:endParaRPr kumimoji="1" lang="ja-JP" altLang="en-US" dirty="0"/>
                    </a:p>
                  </a:txBody>
                  <a:tcPr/>
                </a:tc>
                <a:extLst>
                  <a:ext uri="{0D108BD9-81ED-4DB2-BD59-A6C34878D82A}">
                    <a16:rowId xmlns:a16="http://schemas.microsoft.com/office/drawing/2014/main" val="3616448333"/>
                  </a:ext>
                </a:extLst>
              </a:tr>
              <a:tr h="370840">
                <a:tc>
                  <a:txBody>
                    <a:bodyPr/>
                    <a:lstStyle/>
                    <a:p>
                      <a:r>
                        <a:rPr kumimoji="1" lang="en-US" altLang="ja-JP" dirty="0"/>
                        <a:t>001F</a:t>
                      </a:r>
                      <a:endParaRPr kumimoji="1" lang="ja-JP" altLang="en-US" dirty="0"/>
                    </a:p>
                  </a:txBody>
                  <a:tcPr/>
                </a:tc>
                <a:tc>
                  <a:txBody>
                    <a:bodyPr/>
                    <a:lstStyle/>
                    <a:p>
                      <a:r>
                        <a:rPr kumimoji="1" lang="ja-JP" altLang="en-US" dirty="0"/>
                        <a:t>三島</a:t>
                      </a:r>
                    </a:p>
                  </a:txBody>
                  <a:tcPr/>
                </a:tc>
                <a:tc>
                  <a:txBody>
                    <a:bodyPr/>
                    <a:lstStyle/>
                    <a:p>
                      <a:r>
                        <a:rPr kumimoji="1" lang="ja-JP" altLang="en-US" dirty="0"/>
                        <a:t>敦</a:t>
                      </a:r>
                    </a:p>
                  </a:txBody>
                  <a:tcPr/>
                </a:tc>
                <a:extLst>
                  <a:ext uri="{0D108BD9-81ED-4DB2-BD59-A6C34878D82A}">
                    <a16:rowId xmlns:a16="http://schemas.microsoft.com/office/drawing/2014/main" val="433193485"/>
                  </a:ext>
                </a:extLst>
              </a:tr>
              <a:tr h="0">
                <a:tc>
                  <a:txBody>
                    <a:bodyPr/>
                    <a:lstStyle/>
                    <a:p>
                      <a:r>
                        <a:rPr kumimoji="1" lang="en-US" altLang="ja-JP" dirty="0"/>
                        <a:t>001F</a:t>
                      </a:r>
                      <a:endParaRPr kumimoji="1" lang="ja-JP" altLang="en-US" dirty="0"/>
                    </a:p>
                  </a:txBody>
                  <a:tcPr/>
                </a:tc>
                <a:tc>
                  <a:txBody>
                    <a:bodyPr/>
                    <a:lstStyle/>
                    <a:p>
                      <a:r>
                        <a:rPr kumimoji="1" lang="ja-JP" altLang="en-US" dirty="0"/>
                        <a:t>三島</a:t>
                      </a:r>
                    </a:p>
                  </a:txBody>
                  <a:tcPr/>
                </a:tc>
                <a:tc>
                  <a:txBody>
                    <a:bodyPr/>
                    <a:lstStyle/>
                    <a:p>
                      <a:r>
                        <a:rPr kumimoji="1" lang="ja-JP" altLang="en-US" dirty="0"/>
                        <a:t>洋子</a:t>
                      </a:r>
                    </a:p>
                  </a:txBody>
                  <a:tcPr/>
                </a:tc>
                <a:extLst>
                  <a:ext uri="{0D108BD9-81ED-4DB2-BD59-A6C34878D82A}">
                    <a16:rowId xmlns:a16="http://schemas.microsoft.com/office/drawing/2014/main" val="707118752"/>
                  </a:ext>
                </a:extLst>
              </a:tr>
              <a:tr h="370840">
                <a:tc>
                  <a:txBody>
                    <a:bodyPr/>
                    <a:lstStyle/>
                    <a:p>
                      <a:r>
                        <a:rPr kumimoji="1" lang="en-US" altLang="ja-JP" dirty="0"/>
                        <a:t>001F</a:t>
                      </a:r>
                      <a:endParaRPr kumimoji="1" lang="ja-JP" altLang="en-US" dirty="0"/>
                    </a:p>
                  </a:txBody>
                  <a:tcPr/>
                </a:tc>
                <a:tc>
                  <a:txBody>
                    <a:bodyPr/>
                    <a:lstStyle/>
                    <a:p>
                      <a:r>
                        <a:rPr kumimoji="1" lang="ja-JP" altLang="en-US" dirty="0"/>
                        <a:t>三島</a:t>
                      </a:r>
                    </a:p>
                  </a:txBody>
                  <a:tcPr/>
                </a:tc>
                <a:tc>
                  <a:txBody>
                    <a:bodyPr/>
                    <a:lstStyle/>
                    <a:p>
                      <a:r>
                        <a:rPr kumimoji="1" lang="ja-JP" altLang="en-US" dirty="0"/>
                        <a:t>清美</a:t>
                      </a:r>
                    </a:p>
                  </a:txBody>
                  <a:tcPr/>
                </a:tc>
                <a:extLst>
                  <a:ext uri="{0D108BD9-81ED-4DB2-BD59-A6C34878D82A}">
                    <a16:rowId xmlns:a16="http://schemas.microsoft.com/office/drawing/2014/main" val="3593766194"/>
                  </a:ext>
                </a:extLst>
              </a:tr>
            </a:tbl>
          </a:graphicData>
        </a:graphic>
      </p:graphicFrame>
      <p:sp>
        <p:nvSpPr>
          <p:cNvPr id="11" name="正方形/長方形 10">
            <a:extLst>
              <a:ext uri="{FF2B5EF4-FFF2-40B4-BE49-F238E27FC236}">
                <a16:creationId xmlns:a16="http://schemas.microsoft.com/office/drawing/2014/main" id="{BBAF3886-F244-DE72-298F-CFBF100E1FBD}"/>
              </a:ext>
            </a:extLst>
          </p:cNvPr>
          <p:cNvSpPr/>
          <p:nvPr/>
        </p:nvSpPr>
        <p:spPr>
          <a:xfrm>
            <a:off x="6336071" y="310991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第</a:t>
            </a:r>
            <a:r>
              <a:rPr lang="en-US" altLang="ja-JP" sz="1400" dirty="0">
                <a:solidFill>
                  <a:schemeClr val="tx1">
                    <a:lumMod val="75000"/>
                  </a:schemeClr>
                </a:solidFill>
              </a:rPr>
              <a:t>1</a:t>
            </a:r>
            <a:r>
              <a:rPr lang="ja-JP" altLang="en-US" sz="1400" dirty="0">
                <a:solidFill>
                  <a:schemeClr val="tx1">
                    <a:lumMod val="75000"/>
                  </a:schemeClr>
                </a:solidFill>
              </a:rPr>
              <a:t>正規形</a:t>
            </a:r>
            <a:endParaRPr lang="en-US" altLang="ja-JP" sz="1400" dirty="0">
              <a:solidFill>
                <a:schemeClr val="tx1">
                  <a:lumMod val="75000"/>
                </a:schemeClr>
              </a:solidFill>
            </a:endParaRPr>
          </a:p>
          <a:p>
            <a:pPr algn="ctr"/>
            <a:r>
              <a:rPr kumimoji="1" lang="en-US" altLang="ja-JP" sz="1400" dirty="0">
                <a:solidFill>
                  <a:schemeClr val="tx1">
                    <a:lumMod val="75000"/>
                  </a:schemeClr>
                </a:solidFill>
              </a:rPr>
              <a:t>(</a:t>
            </a:r>
            <a:r>
              <a:rPr kumimoji="1" lang="ja-JP" altLang="en-US" sz="1400" dirty="0">
                <a:solidFill>
                  <a:schemeClr val="tx1">
                    <a:lumMod val="75000"/>
                  </a:schemeClr>
                </a:solidFill>
              </a:rPr>
              <a:t>その</a:t>
            </a:r>
            <a:r>
              <a:rPr kumimoji="1" lang="en-US" altLang="ja-JP" sz="1400" dirty="0">
                <a:solidFill>
                  <a:schemeClr val="tx1">
                    <a:lumMod val="75000"/>
                  </a:schemeClr>
                </a:solidFill>
              </a:rPr>
              <a:t>3)</a:t>
            </a:r>
            <a:endParaRPr kumimoji="1" lang="ja-JP" altLang="en-US" sz="1400" dirty="0">
              <a:solidFill>
                <a:schemeClr val="tx1">
                  <a:lumMod val="75000"/>
                </a:schemeClr>
              </a:solidFill>
            </a:endParaRPr>
          </a:p>
        </p:txBody>
      </p:sp>
      <p:graphicFrame>
        <p:nvGraphicFramePr>
          <p:cNvPr id="12" name="表 11">
            <a:extLst>
              <a:ext uri="{FF2B5EF4-FFF2-40B4-BE49-F238E27FC236}">
                <a16:creationId xmlns:a16="http://schemas.microsoft.com/office/drawing/2014/main" id="{4139A8E4-5970-49D0-44F2-D8C022CAAE7C}"/>
              </a:ext>
            </a:extLst>
          </p:cNvPr>
          <p:cNvGraphicFramePr>
            <a:graphicFrameLocks noGrp="1"/>
          </p:cNvGraphicFramePr>
          <p:nvPr>
            <p:extLst>
              <p:ext uri="{D42A27DB-BD31-4B8C-83A1-F6EECF244321}">
                <p14:modId xmlns:p14="http://schemas.microsoft.com/office/powerpoint/2010/main" val="3577065012"/>
              </p:ext>
            </p:extLst>
          </p:nvPr>
        </p:nvGraphicFramePr>
        <p:xfrm>
          <a:off x="6336071" y="3790005"/>
          <a:ext cx="2701770" cy="1490318"/>
        </p:xfrm>
        <a:graphic>
          <a:graphicData uri="http://schemas.openxmlformats.org/drawingml/2006/table">
            <a:tbl>
              <a:tblPr firstRow="1" bandRow="1">
                <a:tableStyleId>{5C22544A-7EE6-4342-B048-85BDC9FD1C3A}</a:tableStyleId>
              </a:tblPr>
              <a:tblGrid>
                <a:gridCol w="1350885">
                  <a:extLst>
                    <a:ext uri="{9D8B030D-6E8A-4147-A177-3AD203B41FA5}">
                      <a16:colId xmlns:a16="http://schemas.microsoft.com/office/drawing/2014/main" val="125754055"/>
                    </a:ext>
                  </a:extLst>
                </a:gridCol>
                <a:gridCol w="1350885">
                  <a:extLst>
                    <a:ext uri="{9D8B030D-6E8A-4147-A177-3AD203B41FA5}">
                      <a16:colId xmlns:a16="http://schemas.microsoft.com/office/drawing/2014/main" val="3136733704"/>
                    </a:ext>
                  </a:extLst>
                </a:gridCol>
              </a:tblGrid>
              <a:tr h="370840">
                <a:tc>
                  <a:txBody>
                    <a:bodyPr/>
                    <a:lstStyle/>
                    <a:p>
                      <a:r>
                        <a:rPr kumimoji="1" lang="ja-JP" altLang="en-US" dirty="0"/>
                        <a:t>社員</a:t>
                      </a:r>
                      <a:r>
                        <a:rPr kumimoji="1" lang="en-US" altLang="ja-JP" dirty="0"/>
                        <a:t>ID</a:t>
                      </a:r>
                      <a:endParaRPr kumimoji="1" lang="ja-JP" altLang="en-US" dirty="0"/>
                    </a:p>
                  </a:txBody>
                  <a:tcPr/>
                </a:tc>
                <a:tc>
                  <a:txBody>
                    <a:bodyPr/>
                    <a:lstStyle/>
                    <a:p>
                      <a:r>
                        <a:rPr kumimoji="1" lang="ja-JP" altLang="en-US" dirty="0"/>
                        <a:t>社員名</a:t>
                      </a:r>
                    </a:p>
                  </a:txBody>
                  <a:tcPr/>
                </a:tc>
                <a:extLst>
                  <a:ext uri="{0D108BD9-81ED-4DB2-BD59-A6C34878D82A}">
                    <a16:rowId xmlns:a16="http://schemas.microsoft.com/office/drawing/2014/main" val="4058254409"/>
                  </a:ext>
                </a:extLst>
              </a:tr>
              <a:tr h="377798">
                <a:tc>
                  <a:txBody>
                    <a:bodyPr/>
                    <a:lstStyle/>
                    <a:p>
                      <a:r>
                        <a:rPr kumimoji="1" lang="en-US" altLang="ja-JP" dirty="0"/>
                        <a:t>000A</a:t>
                      </a:r>
                      <a:endParaRPr kumimoji="1" lang="ja-JP" altLang="en-US" dirty="0"/>
                    </a:p>
                  </a:txBody>
                  <a:tcPr/>
                </a:tc>
                <a:tc>
                  <a:txBody>
                    <a:bodyPr/>
                    <a:lstStyle/>
                    <a:p>
                      <a:r>
                        <a:rPr kumimoji="1" lang="ja-JP" altLang="en-US" dirty="0"/>
                        <a:t>加藤</a:t>
                      </a:r>
                    </a:p>
                  </a:txBody>
                  <a:tcPr/>
                </a:tc>
                <a:extLst>
                  <a:ext uri="{0D108BD9-81ED-4DB2-BD59-A6C34878D82A}">
                    <a16:rowId xmlns:a16="http://schemas.microsoft.com/office/drawing/2014/main" val="4048863321"/>
                  </a:ext>
                </a:extLst>
              </a:tr>
              <a:tr h="370840">
                <a:tc>
                  <a:txBody>
                    <a:bodyPr/>
                    <a:lstStyle/>
                    <a:p>
                      <a:r>
                        <a:rPr kumimoji="1" lang="en-US" altLang="ja-JP" dirty="0"/>
                        <a:t>000B</a:t>
                      </a:r>
                      <a:endParaRPr kumimoji="1" lang="ja-JP" altLang="en-US" dirty="0"/>
                    </a:p>
                  </a:txBody>
                  <a:tcPr/>
                </a:tc>
                <a:tc>
                  <a:txBody>
                    <a:bodyPr/>
                    <a:lstStyle/>
                    <a:p>
                      <a:r>
                        <a:rPr kumimoji="1" lang="ja-JP" altLang="en-US" dirty="0"/>
                        <a:t>藤本</a:t>
                      </a:r>
                    </a:p>
                  </a:txBody>
                  <a:tcPr/>
                </a:tc>
                <a:extLst>
                  <a:ext uri="{0D108BD9-81ED-4DB2-BD59-A6C34878D82A}">
                    <a16:rowId xmlns:a16="http://schemas.microsoft.com/office/drawing/2014/main" val="594273322"/>
                  </a:ext>
                </a:extLst>
              </a:tr>
              <a:tr h="370840">
                <a:tc>
                  <a:txBody>
                    <a:bodyPr/>
                    <a:lstStyle/>
                    <a:p>
                      <a:r>
                        <a:rPr kumimoji="1" lang="en-US" altLang="ja-JP" dirty="0"/>
                        <a:t>001F</a:t>
                      </a:r>
                      <a:endParaRPr kumimoji="1" lang="ja-JP" altLang="en-US" dirty="0"/>
                    </a:p>
                  </a:txBody>
                  <a:tcPr/>
                </a:tc>
                <a:tc>
                  <a:txBody>
                    <a:bodyPr/>
                    <a:lstStyle/>
                    <a:p>
                      <a:r>
                        <a:rPr kumimoji="1" lang="ja-JP" altLang="en-US" dirty="0"/>
                        <a:t>三島</a:t>
                      </a:r>
                    </a:p>
                  </a:txBody>
                  <a:tcPr/>
                </a:tc>
                <a:extLst>
                  <a:ext uri="{0D108BD9-81ED-4DB2-BD59-A6C34878D82A}">
                    <a16:rowId xmlns:a16="http://schemas.microsoft.com/office/drawing/2014/main" val="2986777991"/>
                  </a:ext>
                </a:extLst>
              </a:tr>
            </a:tbl>
          </a:graphicData>
        </a:graphic>
      </p:graphicFrame>
      <p:graphicFrame>
        <p:nvGraphicFramePr>
          <p:cNvPr id="13" name="表 12">
            <a:extLst>
              <a:ext uri="{FF2B5EF4-FFF2-40B4-BE49-F238E27FC236}">
                <a16:creationId xmlns:a16="http://schemas.microsoft.com/office/drawing/2014/main" id="{8EEF8935-5EA7-F0B2-F3B1-120B404F777E}"/>
              </a:ext>
            </a:extLst>
          </p:cNvPr>
          <p:cNvGraphicFramePr>
            <a:graphicFrameLocks noGrp="1"/>
          </p:cNvGraphicFramePr>
          <p:nvPr>
            <p:extLst>
              <p:ext uri="{D42A27DB-BD31-4B8C-83A1-F6EECF244321}">
                <p14:modId xmlns:p14="http://schemas.microsoft.com/office/powerpoint/2010/main" val="63357544"/>
              </p:ext>
            </p:extLst>
          </p:nvPr>
        </p:nvGraphicFramePr>
        <p:xfrm>
          <a:off x="9400101" y="3790005"/>
          <a:ext cx="2701770" cy="2214880"/>
        </p:xfrm>
        <a:graphic>
          <a:graphicData uri="http://schemas.openxmlformats.org/drawingml/2006/table">
            <a:tbl>
              <a:tblPr firstRow="1" bandRow="1">
                <a:tableStyleId>{5C22544A-7EE6-4342-B048-85BDC9FD1C3A}</a:tableStyleId>
              </a:tblPr>
              <a:tblGrid>
                <a:gridCol w="1350885">
                  <a:extLst>
                    <a:ext uri="{9D8B030D-6E8A-4147-A177-3AD203B41FA5}">
                      <a16:colId xmlns:a16="http://schemas.microsoft.com/office/drawing/2014/main" val="2270569144"/>
                    </a:ext>
                  </a:extLst>
                </a:gridCol>
                <a:gridCol w="1350885">
                  <a:extLst>
                    <a:ext uri="{9D8B030D-6E8A-4147-A177-3AD203B41FA5}">
                      <a16:colId xmlns:a16="http://schemas.microsoft.com/office/drawing/2014/main" val="1149152653"/>
                    </a:ext>
                  </a:extLst>
                </a:gridCol>
              </a:tblGrid>
              <a:tr h="370840">
                <a:tc>
                  <a:txBody>
                    <a:bodyPr/>
                    <a:lstStyle/>
                    <a:p>
                      <a:r>
                        <a:rPr kumimoji="1" lang="ja-JP" altLang="en-US" dirty="0"/>
                        <a:t>社員</a:t>
                      </a:r>
                      <a:r>
                        <a:rPr kumimoji="1" lang="en-US" altLang="ja-JP" dirty="0"/>
                        <a:t>ID</a:t>
                      </a:r>
                      <a:endParaRPr kumimoji="1" lang="ja-JP" altLang="en-US" dirty="0"/>
                    </a:p>
                  </a:txBody>
                  <a:tcPr/>
                </a:tc>
                <a:tc>
                  <a:txBody>
                    <a:bodyPr/>
                    <a:lstStyle/>
                    <a:p>
                      <a:r>
                        <a:rPr kumimoji="1" lang="ja-JP" altLang="en-US" dirty="0"/>
                        <a:t>子</a:t>
                      </a:r>
                    </a:p>
                  </a:txBody>
                  <a:tcPr/>
                </a:tc>
                <a:extLst>
                  <a:ext uri="{0D108BD9-81ED-4DB2-BD59-A6C34878D82A}">
                    <a16:rowId xmlns:a16="http://schemas.microsoft.com/office/drawing/2014/main" val="130398223"/>
                  </a:ext>
                </a:extLst>
              </a:tr>
              <a:tr h="245393">
                <a:tc>
                  <a:txBody>
                    <a:bodyPr/>
                    <a:lstStyle/>
                    <a:p>
                      <a:r>
                        <a:rPr kumimoji="1" lang="en-US" altLang="ja-JP" dirty="0"/>
                        <a:t>000A</a:t>
                      </a:r>
                      <a:endParaRPr kumimoji="1" lang="ja-JP" altLang="en-US" dirty="0"/>
                    </a:p>
                  </a:txBody>
                  <a:tcPr/>
                </a:tc>
                <a:tc>
                  <a:txBody>
                    <a:bodyPr/>
                    <a:lstStyle/>
                    <a:p>
                      <a:r>
                        <a:rPr kumimoji="1" lang="ja-JP" altLang="en-US" dirty="0"/>
                        <a:t>達夫</a:t>
                      </a:r>
                    </a:p>
                  </a:txBody>
                  <a:tcPr/>
                </a:tc>
                <a:extLst>
                  <a:ext uri="{0D108BD9-81ED-4DB2-BD59-A6C34878D82A}">
                    <a16:rowId xmlns:a16="http://schemas.microsoft.com/office/drawing/2014/main" val="374387923"/>
                  </a:ext>
                </a:extLst>
              </a:tr>
              <a:tr h="370840">
                <a:tc>
                  <a:txBody>
                    <a:bodyPr/>
                    <a:lstStyle/>
                    <a:p>
                      <a:r>
                        <a:rPr kumimoji="1" lang="en-US" altLang="ja-JP" dirty="0"/>
                        <a:t>000A</a:t>
                      </a:r>
                      <a:endParaRPr kumimoji="1" lang="ja-JP" altLang="en-US" dirty="0"/>
                    </a:p>
                  </a:txBody>
                  <a:tcPr/>
                </a:tc>
                <a:tc>
                  <a:txBody>
                    <a:bodyPr/>
                    <a:lstStyle/>
                    <a:p>
                      <a:r>
                        <a:rPr kumimoji="1" lang="ja-JP" altLang="en-US" dirty="0"/>
                        <a:t>信二</a:t>
                      </a:r>
                    </a:p>
                  </a:txBody>
                  <a:tcPr/>
                </a:tc>
                <a:extLst>
                  <a:ext uri="{0D108BD9-81ED-4DB2-BD59-A6C34878D82A}">
                    <a16:rowId xmlns:a16="http://schemas.microsoft.com/office/drawing/2014/main" val="1895395019"/>
                  </a:ext>
                </a:extLst>
              </a:tr>
              <a:tr h="370840">
                <a:tc>
                  <a:txBody>
                    <a:bodyPr/>
                    <a:lstStyle/>
                    <a:p>
                      <a:r>
                        <a:rPr kumimoji="1" lang="en-US" altLang="ja-JP" dirty="0"/>
                        <a:t>001F</a:t>
                      </a:r>
                      <a:endParaRPr kumimoji="1" lang="ja-JP" altLang="en-US" dirty="0"/>
                    </a:p>
                  </a:txBody>
                  <a:tcPr/>
                </a:tc>
                <a:tc>
                  <a:txBody>
                    <a:bodyPr/>
                    <a:lstStyle/>
                    <a:p>
                      <a:r>
                        <a:rPr kumimoji="1" lang="ja-JP" altLang="en-US" dirty="0"/>
                        <a:t>敦</a:t>
                      </a:r>
                    </a:p>
                  </a:txBody>
                  <a:tcPr/>
                </a:tc>
                <a:extLst>
                  <a:ext uri="{0D108BD9-81ED-4DB2-BD59-A6C34878D82A}">
                    <a16:rowId xmlns:a16="http://schemas.microsoft.com/office/drawing/2014/main" val="2571889896"/>
                  </a:ext>
                </a:extLst>
              </a:tr>
              <a:tr h="0">
                <a:tc>
                  <a:txBody>
                    <a:bodyPr/>
                    <a:lstStyle/>
                    <a:p>
                      <a:r>
                        <a:rPr kumimoji="1" lang="en-US" altLang="ja-JP" dirty="0"/>
                        <a:t>001F</a:t>
                      </a:r>
                      <a:endParaRPr kumimoji="1" lang="ja-JP" altLang="en-US" dirty="0"/>
                    </a:p>
                  </a:txBody>
                  <a:tcPr/>
                </a:tc>
                <a:tc>
                  <a:txBody>
                    <a:bodyPr/>
                    <a:lstStyle/>
                    <a:p>
                      <a:r>
                        <a:rPr kumimoji="1" lang="ja-JP" altLang="en-US" dirty="0"/>
                        <a:t>洋子</a:t>
                      </a:r>
                    </a:p>
                  </a:txBody>
                  <a:tcPr/>
                </a:tc>
                <a:extLst>
                  <a:ext uri="{0D108BD9-81ED-4DB2-BD59-A6C34878D82A}">
                    <a16:rowId xmlns:a16="http://schemas.microsoft.com/office/drawing/2014/main" val="675989812"/>
                  </a:ext>
                </a:extLst>
              </a:tr>
              <a:tr h="370840">
                <a:tc>
                  <a:txBody>
                    <a:bodyPr/>
                    <a:lstStyle/>
                    <a:p>
                      <a:r>
                        <a:rPr kumimoji="1" lang="en-US" altLang="ja-JP" dirty="0"/>
                        <a:t>001F</a:t>
                      </a:r>
                      <a:endParaRPr kumimoji="1" lang="ja-JP" altLang="en-US" dirty="0"/>
                    </a:p>
                  </a:txBody>
                  <a:tcPr/>
                </a:tc>
                <a:tc>
                  <a:txBody>
                    <a:bodyPr/>
                    <a:lstStyle/>
                    <a:p>
                      <a:r>
                        <a:rPr kumimoji="1" lang="ja-JP" altLang="en-US" dirty="0"/>
                        <a:t>清美</a:t>
                      </a:r>
                    </a:p>
                  </a:txBody>
                  <a:tcPr/>
                </a:tc>
                <a:extLst>
                  <a:ext uri="{0D108BD9-81ED-4DB2-BD59-A6C34878D82A}">
                    <a16:rowId xmlns:a16="http://schemas.microsoft.com/office/drawing/2014/main" val="2592926859"/>
                  </a:ext>
                </a:extLst>
              </a:tr>
            </a:tbl>
          </a:graphicData>
        </a:graphic>
      </p:graphicFrame>
    </p:spTree>
    <p:extLst>
      <p:ext uri="{BB962C8B-B14F-4D97-AF65-F5344CB8AC3E}">
        <p14:creationId xmlns:p14="http://schemas.microsoft.com/office/powerpoint/2010/main" val="3581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6AAD9-8ED1-4BB5-357E-67CEE67AA388}"/>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D7DE82E9-E884-BB49-F09B-9A2B22A7F253}"/>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67EEA0A5-E7A1-C671-68C7-F20F1B7FA8A2}"/>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部分関数従属の解消</a:t>
            </a:r>
            <a:endParaRPr lang="en-US" altLang="ja-JP" sz="2800" dirty="0"/>
          </a:p>
        </p:txBody>
      </p:sp>
      <p:sp>
        <p:nvSpPr>
          <p:cNvPr id="4" name="タイトル プレースホルダー 1">
            <a:extLst>
              <a:ext uri="{FF2B5EF4-FFF2-40B4-BE49-F238E27FC236}">
                <a16:creationId xmlns:a16="http://schemas.microsoft.com/office/drawing/2014/main" id="{7202F0EF-E117-88DD-6E55-03DFEC90F181}"/>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正規化のステップ　ー第</a:t>
            </a:r>
            <a:r>
              <a:rPr lang="en-US" altLang="ja-JP" dirty="0"/>
              <a:t>2</a:t>
            </a:r>
            <a:r>
              <a:rPr lang="ja-JP" altLang="en-US" dirty="0"/>
              <a:t>正規形ー</a:t>
            </a:r>
            <a:endParaRPr lang="en-US" altLang="ja-JP" dirty="0"/>
          </a:p>
        </p:txBody>
      </p:sp>
      <p:sp>
        <p:nvSpPr>
          <p:cNvPr id="5" name="タイトル プレースホルダー 1">
            <a:extLst>
              <a:ext uri="{FF2B5EF4-FFF2-40B4-BE49-F238E27FC236}">
                <a16:creationId xmlns:a16="http://schemas.microsoft.com/office/drawing/2014/main" id="{18B898F7-C5A8-94A9-868B-2E43D78ACADE}"/>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下表は第</a:t>
            </a:r>
            <a:r>
              <a:rPr lang="en-US" altLang="ja-JP" sz="1800" dirty="0"/>
              <a:t>1</a:t>
            </a:r>
            <a:r>
              <a:rPr lang="ja-JP" altLang="en-US" sz="1800" dirty="0"/>
              <a:t>正規形で第</a:t>
            </a:r>
            <a:r>
              <a:rPr lang="en-US" altLang="ja-JP" sz="1800" dirty="0"/>
              <a:t>2</a:t>
            </a:r>
            <a:r>
              <a:rPr lang="ja-JP" altLang="en-US" sz="1800" dirty="0"/>
              <a:t>正規形ではない</a:t>
            </a:r>
            <a:endParaRPr lang="en-US" altLang="ja-JP" sz="1800" dirty="0"/>
          </a:p>
          <a:p>
            <a:pPr marL="285750" indent="-285750">
              <a:buFont typeface="Arial" panose="020B0604020202020204" pitchFamily="34" charset="0"/>
              <a:buChar char="•"/>
            </a:pPr>
            <a:r>
              <a:rPr lang="ja-JP" altLang="en-US" sz="1800" dirty="0"/>
              <a:t>このテーブルの主キーは</a:t>
            </a:r>
            <a:r>
              <a:rPr lang="en-US" altLang="ja-JP" sz="1800" b="1" dirty="0"/>
              <a:t>[</a:t>
            </a:r>
            <a:r>
              <a:rPr lang="ja-JP" altLang="en-US" sz="1800" b="1" dirty="0"/>
              <a:t>会社コード</a:t>
            </a:r>
            <a:r>
              <a:rPr lang="en-US" altLang="ja-JP" sz="1800" b="1" dirty="0"/>
              <a:t>, </a:t>
            </a:r>
            <a:r>
              <a:rPr lang="ja-JP" altLang="en-US" sz="1800" b="1" dirty="0"/>
              <a:t>社員</a:t>
            </a:r>
            <a:r>
              <a:rPr lang="en-US" altLang="ja-JP" sz="1800" b="1" dirty="0"/>
              <a:t>ID]</a:t>
            </a:r>
            <a:r>
              <a:rPr lang="ja-JP" altLang="en-US" sz="1800" dirty="0"/>
              <a:t>。他の全ての列はこのキーに従属する。</a:t>
            </a:r>
            <a:endParaRPr lang="en-US" altLang="ja-JP" sz="1800" dirty="0"/>
          </a:p>
          <a:p>
            <a:pPr marL="285750" indent="-285750">
              <a:buFont typeface="Arial" panose="020B0604020202020204" pitchFamily="34" charset="0"/>
              <a:buChar char="•"/>
            </a:pPr>
            <a:r>
              <a:rPr lang="ja-JP" altLang="en-US" sz="1800" dirty="0"/>
              <a:t>しかし、「会社名」列は、「会社コード」に従属している。</a:t>
            </a:r>
            <a:endParaRPr lang="en-US" altLang="ja-JP" sz="1800" dirty="0"/>
          </a:p>
          <a:p>
            <a:pPr marL="285750" indent="-285750">
              <a:buFont typeface="Arial" panose="020B0604020202020204" pitchFamily="34" charset="0"/>
              <a:buChar char="•"/>
            </a:pPr>
            <a:r>
              <a:rPr lang="ja-JP" altLang="en-US" sz="1800" b="1" dirty="0"/>
              <a:t>主キーの一部の列に対して従属する列</a:t>
            </a:r>
            <a:r>
              <a:rPr lang="ja-JP" altLang="en-US" sz="1800" dirty="0"/>
              <a:t>がある場合、この関係を</a:t>
            </a:r>
            <a:r>
              <a:rPr lang="ja-JP" altLang="en-US" sz="1800" b="1" dirty="0"/>
              <a:t>部分関数従属</a:t>
            </a:r>
            <a:r>
              <a:rPr lang="ja-JP" altLang="en-US" sz="1800" dirty="0"/>
              <a:t>と呼ぶ。</a:t>
            </a:r>
            <a:endParaRPr lang="en-US" altLang="ja-JP" sz="1800" dirty="0"/>
          </a:p>
          <a:p>
            <a:pPr marL="285750" indent="-285750">
              <a:buFont typeface="Arial" panose="020B0604020202020204" pitchFamily="34" charset="0"/>
              <a:buChar char="•"/>
            </a:pP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8" name="正方形/長方形 7">
            <a:extLst>
              <a:ext uri="{FF2B5EF4-FFF2-40B4-BE49-F238E27FC236}">
                <a16:creationId xmlns:a16="http://schemas.microsoft.com/office/drawing/2014/main" id="{D6CEB61B-0227-785B-8AAF-40B6F81F03D8}"/>
              </a:ext>
            </a:extLst>
          </p:cNvPr>
          <p:cNvSpPr/>
          <p:nvPr/>
        </p:nvSpPr>
        <p:spPr>
          <a:xfrm>
            <a:off x="405044" y="329634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第</a:t>
            </a:r>
            <a:r>
              <a:rPr lang="en-US" altLang="ja-JP" sz="1400" dirty="0">
                <a:solidFill>
                  <a:schemeClr val="tx1">
                    <a:lumMod val="75000"/>
                  </a:schemeClr>
                </a:solidFill>
              </a:rPr>
              <a:t>1</a:t>
            </a:r>
            <a:r>
              <a:rPr lang="ja-JP" altLang="en-US" sz="1400" dirty="0">
                <a:solidFill>
                  <a:schemeClr val="tx1">
                    <a:lumMod val="75000"/>
                  </a:schemeClr>
                </a:solidFill>
              </a:rPr>
              <a:t>正規形</a:t>
            </a:r>
            <a:endParaRPr lang="en-US" altLang="ja-JP" sz="1400" dirty="0">
              <a:solidFill>
                <a:schemeClr val="tx1">
                  <a:lumMod val="75000"/>
                </a:schemeClr>
              </a:solidFill>
            </a:endParaRPr>
          </a:p>
          <a:p>
            <a:pPr algn="ctr"/>
            <a:r>
              <a:rPr lang="ja-JP" altLang="en-US" sz="1400" dirty="0">
                <a:solidFill>
                  <a:schemeClr val="tx1">
                    <a:lumMod val="75000"/>
                  </a:schemeClr>
                </a:solidFill>
              </a:rPr>
              <a:t>（社員）</a:t>
            </a:r>
            <a:endParaRPr lang="en-US" altLang="ja-JP" sz="1400" dirty="0">
              <a:solidFill>
                <a:schemeClr val="tx1">
                  <a:lumMod val="75000"/>
                </a:schemeClr>
              </a:solidFill>
            </a:endParaRPr>
          </a:p>
        </p:txBody>
      </p:sp>
      <p:graphicFrame>
        <p:nvGraphicFramePr>
          <p:cNvPr id="10" name="表 9">
            <a:extLst>
              <a:ext uri="{FF2B5EF4-FFF2-40B4-BE49-F238E27FC236}">
                <a16:creationId xmlns:a16="http://schemas.microsoft.com/office/drawing/2014/main" id="{AB2304B0-BD4A-1C52-932C-B509B30384DB}"/>
              </a:ext>
            </a:extLst>
          </p:cNvPr>
          <p:cNvGraphicFramePr>
            <a:graphicFrameLocks noGrp="1"/>
          </p:cNvGraphicFramePr>
          <p:nvPr>
            <p:extLst>
              <p:ext uri="{D42A27DB-BD31-4B8C-83A1-F6EECF244321}">
                <p14:modId xmlns:p14="http://schemas.microsoft.com/office/powerpoint/2010/main" val="1308144636"/>
              </p:ext>
            </p:extLst>
          </p:nvPr>
        </p:nvGraphicFramePr>
        <p:xfrm>
          <a:off x="405043" y="3999680"/>
          <a:ext cx="8454873" cy="2590800"/>
        </p:xfrm>
        <a:graphic>
          <a:graphicData uri="http://schemas.openxmlformats.org/drawingml/2006/table">
            <a:tbl>
              <a:tblPr firstRow="1" bandRow="1">
                <a:tableStyleId>{5C22544A-7EE6-4342-B048-85BDC9FD1C3A}</a:tableStyleId>
              </a:tblPr>
              <a:tblGrid>
                <a:gridCol w="1207839">
                  <a:extLst>
                    <a:ext uri="{9D8B030D-6E8A-4147-A177-3AD203B41FA5}">
                      <a16:colId xmlns:a16="http://schemas.microsoft.com/office/drawing/2014/main" val="1430862820"/>
                    </a:ext>
                  </a:extLst>
                </a:gridCol>
                <a:gridCol w="1207839">
                  <a:extLst>
                    <a:ext uri="{9D8B030D-6E8A-4147-A177-3AD203B41FA5}">
                      <a16:colId xmlns:a16="http://schemas.microsoft.com/office/drawing/2014/main" val="526182399"/>
                    </a:ext>
                  </a:extLst>
                </a:gridCol>
                <a:gridCol w="1207839">
                  <a:extLst>
                    <a:ext uri="{9D8B030D-6E8A-4147-A177-3AD203B41FA5}">
                      <a16:colId xmlns:a16="http://schemas.microsoft.com/office/drawing/2014/main" val="313098214"/>
                    </a:ext>
                  </a:extLst>
                </a:gridCol>
                <a:gridCol w="1207839">
                  <a:extLst>
                    <a:ext uri="{9D8B030D-6E8A-4147-A177-3AD203B41FA5}">
                      <a16:colId xmlns:a16="http://schemas.microsoft.com/office/drawing/2014/main" val="1614430523"/>
                    </a:ext>
                  </a:extLst>
                </a:gridCol>
                <a:gridCol w="1207839">
                  <a:extLst>
                    <a:ext uri="{9D8B030D-6E8A-4147-A177-3AD203B41FA5}">
                      <a16:colId xmlns:a16="http://schemas.microsoft.com/office/drawing/2014/main" val="3501686637"/>
                    </a:ext>
                  </a:extLst>
                </a:gridCol>
                <a:gridCol w="1207839">
                  <a:extLst>
                    <a:ext uri="{9D8B030D-6E8A-4147-A177-3AD203B41FA5}">
                      <a16:colId xmlns:a16="http://schemas.microsoft.com/office/drawing/2014/main" val="1513970016"/>
                    </a:ext>
                  </a:extLst>
                </a:gridCol>
                <a:gridCol w="1207839">
                  <a:extLst>
                    <a:ext uri="{9D8B030D-6E8A-4147-A177-3AD203B41FA5}">
                      <a16:colId xmlns:a16="http://schemas.microsoft.com/office/drawing/2014/main" val="2192414002"/>
                    </a:ext>
                  </a:extLst>
                </a:gridCol>
              </a:tblGrid>
              <a:tr h="370840">
                <a:tc>
                  <a:txBody>
                    <a:bodyPr/>
                    <a:lstStyle/>
                    <a:p>
                      <a:r>
                        <a:rPr kumimoji="1" lang="ja-JP" altLang="en-US" u="sng" dirty="0">
                          <a:solidFill>
                            <a:schemeClr val="tx1">
                              <a:lumMod val="75000"/>
                            </a:schemeClr>
                          </a:solidFill>
                        </a:rPr>
                        <a:t>会社コード</a:t>
                      </a:r>
                    </a:p>
                  </a:txBody>
                  <a:tcPr/>
                </a:tc>
                <a:tc>
                  <a:txBody>
                    <a:bodyPr/>
                    <a:lstStyle/>
                    <a:p>
                      <a:r>
                        <a:rPr kumimoji="1" lang="ja-JP" altLang="en-US" dirty="0">
                          <a:solidFill>
                            <a:schemeClr val="tx1">
                              <a:lumMod val="75000"/>
                            </a:schemeClr>
                          </a:solidFill>
                        </a:rPr>
                        <a:t>会社名</a:t>
                      </a:r>
                    </a:p>
                  </a:txBody>
                  <a:tcPr/>
                </a:tc>
                <a:tc>
                  <a:txBody>
                    <a:bodyPr/>
                    <a:lstStyle/>
                    <a:p>
                      <a:r>
                        <a:rPr kumimoji="1" lang="ja-JP" altLang="en-US" u="sng" dirty="0">
                          <a:solidFill>
                            <a:schemeClr val="tx1">
                              <a:lumMod val="75000"/>
                            </a:schemeClr>
                          </a:solidFill>
                        </a:rPr>
                        <a:t>社員</a:t>
                      </a:r>
                      <a:r>
                        <a:rPr kumimoji="1" lang="en-US" altLang="ja-JP" u="sng" dirty="0">
                          <a:solidFill>
                            <a:schemeClr val="tx1">
                              <a:lumMod val="75000"/>
                            </a:schemeClr>
                          </a:solidFill>
                        </a:rPr>
                        <a:t>ID</a:t>
                      </a:r>
                      <a:endParaRPr kumimoji="1" lang="ja-JP" altLang="en-US" u="sng" dirty="0">
                        <a:solidFill>
                          <a:schemeClr val="tx1">
                            <a:lumMod val="75000"/>
                          </a:schemeClr>
                        </a:solidFill>
                      </a:endParaRPr>
                    </a:p>
                  </a:txBody>
                  <a:tcPr/>
                </a:tc>
                <a:tc>
                  <a:txBody>
                    <a:bodyPr/>
                    <a:lstStyle/>
                    <a:p>
                      <a:r>
                        <a:rPr kumimoji="1" lang="ja-JP" altLang="en-US" dirty="0">
                          <a:solidFill>
                            <a:schemeClr val="tx1">
                              <a:lumMod val="75000"/>
                            </a:schemeClr>
                          </a:solidFill>
                        </a:rPr>
                        <a:t>社員名</a:t>
                      </a:r>
                    </a:p>
                  </a:txBody>
                  <a:tcPr/>
                </a:tc>
                <a:tc>
                  <a:txBody>
                    <a:bodyPr/>
                    <a:lstStyle/>
                    <a:p>
                      <a:r>
                        <a:rPr kumimoji="1" lang="ja-JP" altLang="en-US" dirty="0">
                          <a:solidFill>
                            <a:schemeClr val="tx1">
                              <a:lumMod val="75000"/>
                            </a:schemeClr>
                          </a:solidFill>
                        </a:rPr>
                        <a:t>年齢</a:t>
                      </a:r>
                    </a:p>
                  </a:txBody>
                  <a:tcPr/>
                </a:tc>
                <a:tc>
                  <a:txBody>
                    <a:bodyPr/>
                    <a:lstStyle/>
                    <a:p>
                      <a:r>
                        <a:rPr kumimoji="1" lang="ja-JP" altLang="en-US" dirty="0">
                          <a:solidFill>
                            <a:schemeClr val="tx1">
                              <a:lumMod val="75000"/>
                            </a:schemeClr>
                          </a:solidFill>
                        </a:rPr>
                        <a:t>部署コード</a:t>
                      </a:r>
                    </a:p>
                  </a:txBody>
                  <a:tcPr/>
                </a:tc>
                <a:tc>
                  <a:txBody>
                    <a:bodyPr/>
                    <a:lstStyle/>
                    <a:p>
                      <a:r>
                        <a:rPr kumimoji="1" lang="ja-JP" altLang="en-US" dirty="0">
                          <a:solidFill>
                            <a:schemeClr val="tx1">
                              <a:lumMod val="75000"/>
                            </a:schemeClr>
                          </a:solidFill>
                        </a:rPr>
                        <a:t>部署名</a:t>
                      </a:r>
                    </a:p>
                  </a:txBody>
                  <a:tcPr/>
                </a:tc>
                <a:extLst>
                  <a:ext uri="{0D108BD9-81ED-4DB2-BD59-A6C34878D82A}">
                    <a16:rowId xmlns:a16="http://schemas.microsoft.com/office/drawing/2014/main" val="2035072520"/>
                  </a:ext>
                </a:extLst>
              </a:tr>
              <a:tr h="370840">
                <a:tc>
                  <a:txBody>
                    <a:bodyPr/>
                    <a:lstStyle/>
                    <a:p>
                      <a:r>
                        <a:rPr kumimoji="1" lang="en-US" altLang="ja-JP" dirty="0"/>
                        <a:t>C0001</a:t>
                      </a:r>
                      <a:endParaRPr kumimoji="1" lang="ja-JP" altLang="en-US" dirty="0"/>
                    </a:p>
                  </a:txBody>
                  <a:tcPr/>
                </a:tc>
                <a:tc>
                  <a:txBody>
                    <a:bodyPr/>
                    <a:lstStyle/>
                    <a:p>
                      <a:r>
                        <a:rPr kumimoji="1" lang="en-US" altLang="ja-JP" dirty="0"/>
                        <a:t>A</a:t>
                      </a:r>
                      <a:r>
                        <a:rPr kumimoji="1" lang="ja-JP" altLang="en-US" dirty="0"/>
                        <a:t>商事</a:t>
                      </a:r>
                    </a:p>
                  </a:txBody>
                  <a:tcPr/>
                </a:tc>
                <a:tc>
                  <a:txBody>
                    <a:bodyPr/>
                    <a:lstStyle/>
                    <a:p>
                      <a:r>
                        <a:rPr kumimoji="1" lang="en-US" altLang="ja-JP" dirty="0"/>
                        <a:t>000A</a:t>
                      </a:r>
                      <a:endParaRPr kumimoji="1" lang="ja-JP" altLang="en-US" dirty="0"/>
                    </a:p>
                  </a:txBody>
                  <a:tcPr/>
                </a:tc>
                <a:tc>
                  <a:txBody>
                    <a:bodyPr/>
                    <a:lstStyle/>
                    <a:p>
                      <a:r>
                        <a:rPr kumimoji="1" lang="ja-JP" altLang="en-US" dirty="0"/>
                        <a:t>加藤</a:t>
                      </a:r>
                    </a:p>
                  </a:txBody>
                  <a:tcPr/>
                </a:tc>
                <a:tc>
                  <a:txBody>
                    <a:bodyPr/>
                    <a:lstStyle/>
                    <a:p>
                      <a:r>
                        <a:rPr kumimoji="1" lang="en-US" altLang="ja-JP" dirty="0"/>
                        <a:t>40</a:t>
                      </a:r>
                      <a:endParaRPr kumimoji="1" lang="ja-JP" altLang="en-US" dirty="0"/>
                    </a:p>
                  </a:txBody>
                  <a:tcPr/>
                </a:tc>
                <a:tc>
                  <a:txBody>
                    <a:bodyPr/>
                    <a:lstStyle/>
                    <a:p>
                      <a:r>
                        <a:rPr kumimoji="1" lang="en-US" altLang="ja-JP" dirty="0"/>
                        <a:t>D01</a:t>
                      </a:r>
                      <a:endParaRPr kumimoji="1" lang="ja-JP" altLang="en-US" dirty="0"/>
                    </a:p>
                  </a:txBody>
                  <a:tcPr/>
                </a:tc>
                <a:tc>
                  <a:txBody>
                    <a:bodyPr/>
                    <a:lstStyle/>
                    <a:p>
                      <a:r>
                        <a:rPr kumimoji="1" lang="ja-JP" altLang="en-US" dirty="0"/>
                        <a:t>開発</a:t>
                      </a:r>
                    </a:p>
                  </a:txBody>
                  <a:tcPr/>
                </a:tc>
                <a:extLst>
                  <a:ext uri="{0D108BD9-81ED-4DB2-BD59-A6C34878D82A}">
                    <a16:rowId xmlns:a16="http://schemas.microsoft.com/office/drawing/2014/main" val="3787714943"/>
                  </a:ext>
                </a:extLst>
              </a:tr>
              <a:tr h="370840">
                <a:tc>
                  <a:txBody>
                    <a:bodyPr/>
                    <a:lstStyle/>
                    <a:p>
                      <a:r>
                        <a:rPr kumimoji="1" lang="en-US" altLang="ja-JP" dirty="0"/>
                        <a:t>C0001</a:t>
                      </a:r>
                      <a:endParaRPr kumimoji="1" lang="ja-JP" altLang="en-US" dirty="0"/>
                    </a:p>
                  </a:txBody>
                  <a:tcPr/>
                </a:tc>
                <a:tc>
                  <a:txBody>
                    <a:bodyPr/>
                    <a:lstStyle/>
                    <a:p>
                      <a:r>
                        <a:rPr kumimoji="1" lang="en-US" altLang="ja-JP" dirty="0"/>
                        <a:t>A</a:t>
                      </a:r>
                      <a:r>
                        <a:rPr kumimoji="1" lang="ja-JP" altLang="en-US" dirty="0"/>
                        <a:t>商事</a:t>
                      </a:r>
                    </a:p>
                  </a:txBody>
                  <a:tcPr/>
                </a:tc>
                <a:tc>
                  <a:txBody>
                    <a:bodyPr/>
                    <a:lstStyle/>
                    <a:p>
                      <a:r>
                        <a:rPr kumimoji="1" lang="en-US" altLang="ja-JP" dirty="0"/>
                        <a:t>000B</a:t>
                      </a:r>
                      <a:endParaRPr kumimoji="1" lang="ja-JP" altLang="en-US" dirty="0"/>
                    </a:p>
                  </a:txBody>
                  <a:tcPr/>
                </a:tc>
                <a:tc>
                  <a:txBody>
                    <a:bodyPr/>
                    <a:lstStyle/>
                    <a:p>
                      <a:r>
                        <a:rPr kumimoji="1" lang="ja-JP" altLang="en-US" dirty="0"/>
                        <a:t>藤本</a:t>
                      </a:r>
                    </a:p>
                  </a:txBody>
                  <a:tcPr/>
                </a:tc>
                <a:tc>
                  <a:txBody>
                    <a:bodyPr/>
                    <a:lstStyle/>
                    <a:p>
                      <a:r>
                        <a:rPr kumimoji="1" lang="en-US" altLang="ja-JP" dirty="0"/>
                        <a:t>32</a:t>
                      </a:r>
                      <a:endParaRPr kumimoji="1" lang="ja-JP" altLang="en-US" dirty="0"/>
                    </a:p>
                  </a:txBody>
                  <a:tcPr/>
                </a:tc>
                <a:tc>
                  <a:txBody>
                    <a:bodyPr/>
                    <a:lstStyle/>
                    <a:p>
                      <a:r>
                        <a:rPr kumimoji="1" lang="en-US" altLang="ja-JP" dirty="0"/>
                        <a:t>D02</a:t>
                      </a:r>
                      <a:endParaRPr kumimoji="1" lang="ja-JP" altLang="en-US" dirty="0"/>
                    </a:p>
                  </a:txBody>
                  <a:tcPr/>
                </a:tc>
                <a:tc>
                  <a:txBody>
                    <a:bodyPr/>
                    <a:lstStyle/>
                    <a:p>
                      <a:r>
                        <a:rPr kumimoji="1" lang="ja-JP" altLang="en-US" dirty="0"/>
                        <a:t>人事</a:t>
                      </a:r>
                    </a:p>
                  </a:txBody>
                  <a:tcPr/>
                </a:tc>
                <a:extLst>
                  <a:ext uri="{0D108BD9-81ED-4DB2-BD59-A6C34878D82A}">
                    <a16:rowId xmlns:a16="http://schemas.microsoft.com/office/drawing/2014/main" val="532976586"/>
                  </a:ext>
                </a:extLst>
              </a:tr>
              <a:tr h="370840">
                <a:tc>
                  <a:txBody>
                    <a:bodyPr/>
                    <a:lstStyle/>
                    <a:p>
                      <a:r>
                        <a:rPr kumimoji="1" lang="en-US" altLang="ja-JP" dirty="0"/>
                        <a:t>C0001</a:t>
                      </a:r>
                      <a:endParaRPr kumimoji="1" lang="ja-JP" altLang="en-US" dirty="0"/>
                    </a:p>
                  </a:txBody>
                  <a:tcPr/>
                </a:tc>
                <a:tc>
                  <a:txBody>
                    <a:bodyPr/>
                    <a:lstStyle/>
                    <a:p>
                      <a:r>
                        <a:rPr kumimoji="1" lang="en-US" altLang="ja-JP" dirty="0"/>
                        <a:t>A</a:t>
                      </a:r>
                      <a:r>
                        <a:rPr kumimoji="1" lang="ja-JP" altLang="en-US" dirty="0"/>
                        <a:t>商事</a:t>
                      </a:r>
                    </a:p>
                  </a:txBody>
                  <a:tcPr/>
                </a:tc>
                <a:tc>
                  <a:txBody>
                    <a:bodyPr/>
                    <a:lstStyle/>
                    <a:p>
                      <a:r>
                        <a:rPr kumimoji="1" lang="en-US" altLang="ja-JP" dirty="0"/>
                        <a:t>001F</a:t>
                      </a:r>
                      <a:endParaRPr kumimoji="1" lang="ja-JP" altLang="en-US" dirty="0"/>
                    </a:p>
                  </a:txBody>
                  <a:tcPr/>
                </a:tc>
                <a:tc>
                  <a:txBody>
                    <a:bodyPr/>
                    <a:lstStyle/>
                    <a:p>
                      <a:r>
                        <a:rPr kumimoji="1" lang="ja-JP" altLang="en-US" dirty="0"/>
                        <a:t>三島</a:t>
                      </a:r>
                    </a:p>
                  </a:txBody>
                  <a:tcPr/>
                </a:tc>
                <a:tc>
                  <a:txBody>
                    <a:bodyPr/>
                    <a:lstStyle/>
                    <a:p>
                      <a:r>
                        <a:rPr kumimoji="1" lang="en-US" altLang="ja-JP" dirty="0"/>
                        <a:t>50</a:t>
                      </a:r>
                      <a:endParaRPr kumimoji="1" lang="ja-JP" altLang="en-US" dirty="0"/>
                    </a:p>
                  </a:txBody>
                  <a:tcPr/>
                </a:tc>
                <a:tc>
                  <a:txBody>
                    <a:bodyPr/>
                    <a:lstStyle/>
                    <a:p>
                      <a:r>
                        <a:rPr kumimoji="1" lang="en-US" altLang="ja-JP" dirty="0"/>
                        <a:t>D03</a:t>
                      </a:r>
                      <a:endParaRPr kumimoji="1" lang="ja-JP" altLang="en-US" dirty="0"/>
                    </a:p>
                  </a:txBody>
                  <a:tcPr/>
                </a:tc>
                <a:tc>
                  <a:txBody>
                    <a:bodyPr/>
                    <a:lstStyle/>
                    <a:p>
                      <a:r>
                        <a:rPr kumimoji="1" lang="ja-JP" altLang="en-US" dirty="0"/>
                        <a:t>営業</a:t>
                      </a:r>
                    </a:p>
                  </a:txBody>
                  <a:tcPr/>
                </a:tc>
                <a:extLst>
                  <a:ext uri="{0D108BD9-81ED-4DB2-BD59-A6C34878D82A}">
                    <a16:rowId xmlns:a16="http://schemas.microsoft.com/office/drawing/2014/main" val="3616448333"/>
                  </a:ext>
                </a:extLst>
              </a:tr>
              <a:tr h="370840">
                <a:tc>
                  <a:txBody>
                    <a:bodyPr/>
                    <a:lstStyle/>
                    <a:p>
                      <a:r>
                        <a:rPr kumimoji="1" lang="en-US" altLang="ja-JP" dirty="0"/>
                        <a:t>C0002</a:t>
                      </a:r>
                      <a:endParaRPr kumimoji="1" lang="ja-JP" altLang="en-US" dirty="0"/>
                    </a:p>
                  </a:txBody>
                  <a:tcPr/>
                </a:tc>
                <a:tc>
                  <a:txBody>
                    <a:bodyPr/>
                    <a:lstStyle/>
                    <a:p>
                      <a:r>
                        <a:rPr kumimoji="1" lang="en-US" altLang="ja-JP" dirty="0"/>
                        <a:t>B</a:t>
                      </a:r>
                      <a:r>
                        <a:rPr kumimoji="1" lang="ja-JP" altLang="en-US" dirty="0"/>
                        <a:t>化学</a:t>
                      </a:r>
                    </a:p>
                  </a:txBody>
                  <a:tcPr/>
                </a:tc>
                <a:tc>
                  <a:txBody>
                    <a:bodyPr/>
                    <a:lstStyle/>
                    <a:p>
                      <a:r>
                        <a:rPr kumimoji="1" lang="en-US" altLang="ja-JP" dirty="0"/>
                        <a:t>000A</a:t>
                      </a:r>
                      <a:endParaRPr kumimoji="1" lang="ja-JP" altLang="en-US" dirty="0"/>
                    </a:p>
                  </a:txBody>
                  <a:tcPr/>
                </a:tc>
                <a:tc>
                  <a:txBody>
                    <a:bodyPr/>
                    <a:lstStyle/>
                    <a:p>
                      <a:r>
                        <a:rPr kumimoji="1" lang="ja-JP" altLang="en-US" dirty="0"/>
                        <a:t>斎藤</a:t>
                      </a:r>
                    </a:p>
                  </a:txBody>
                  <a:tcPr/>
                </a:tc>
                <a:tc>
                  <a:txBody>
                    <a:bodyPr/>
                    <a:lstStyle/>
                    <a:p>
                      <a:r>
                        <a:rPr kumimoji="1" lang="en-US" altLang="ja-JP" dirty="0"/>
                        <a:t>47</a:t>
                      </a:r>
                      <a:endParaRPr kumimoji="1" lang="ja-JP" altLang="en-US" dirty="0"/>
                    </a:p>
                  </a:txBody>
                  <a:tcPr/>
                </a:tc>
                <a:tc>
                  <a:txBody>
                    <a:bodyPr/>
                    <a:lstStyle/>
                    <a:p>
                      <a:r>
                        <a:rPr kumimoji="1" lang="en-US" altLang="ja-JP" dirty="0"/>
                        <a:t>D03</a:t>
                      </a:r>
                      <a:endParaRPr kumimoji="1" lang="ja-JP" altLang="en-US" dirty="0"/>
                    </a:p>
                  </a:txBody>
                  <a:tcPr/>
                </a:tc>
                <a:tc>
                  <a:txBody>
                    <a:bodyPr/>
                    <a:lstStyle/>
                    <a:p>
                      <a:r>
                        <a:rPr kumimoji="1" lang="ja-JP" altLang="en-US" dirty="0"/>
                        <a:t>営業</a:t>
                      </a:r>
                    </a:p>
                  </a:txBody>
                  <a:tcPr/>
                </a:tc>
                <a:extLst>
                  <a:ext uri="{0D108BD9-81ED-4DB2-BD59-A6C34878D82A}">
                    <a16:rowId xmlns:a16="http://schemas.microsoft.com/office/drawing/2014/main" val="433193485"/>
                  </a:ext>
                </a:extLst>
              </a:tr>
              <a:tr h="0">
                <a:tc>
                  <a:txBody>
                    <a:bodyPr/>
                    <a:lstStyle/>
                    <a:p>
                      <a:r>
                        <a:rPr kumimoji="1" lang="en-US" altLang="ja-JP" dirty="0"/>
                        <a:t>C0002</a:t>
                      </a:r>
                      <a:endParaRPr kumimoji="1" lang="ja-JP" altLang="en-US" dirty="0"/>
                    </a:p>
                  </a:txBody>
                  <a:tcPr/>
                </a:tc>
                <a:tc>
                  <a:txBody>
                    <a:bodyPr/>
                    <a:lstStyle/>
                    <a:p>
                      <a:r>
                        <a:rPr kumimoji="1" lang="en-US" altLang="ja-JP" dirty="0"/>
                        <a:t>B</a:t>
                      </a:r>
                      <a:r>
                        <a:rPr kumimoji="1" lang="ja-JP" altLang="en-US" dirty="0"/>
                        <a:t>化学</a:t>
                      </a:r>
                    </a:p>
                  </a:txBody>
                  <a:tcPr/>
                </a:tc>
                <a:tc>
                  <a:txBody>
                    <a:bodyPr/>
                    <a:lstStyle/>
                    <a:p>
                      <a:r>
                        <a:rPr kumimoji="1" lang="en-US" altLang="ja-JP" dirty="0"/>
                        <a:t>009F</a:t>
                      </a:r>
                      <a:endParaRPr kumimoji="1" lang="ja-JP" altLang="en-US" dirty="0"/>
                    </a:p>
                  </a:txBody>
                  <a:tcPr/>
                </a:tc>
                <a:tc>
                  <a:txBody>
                    <a:bodyPr/>
                    <a:lstStyle/>
                    <a:p>
                      <a:r>
                        <a:rPr kumimoji="1" lang="ja-JP" altLang="en-US" dirty="0"/>
                        <a:t>田島</a:t>
                      </a:r>
                    </a:p>
                  </a:txBody>
                  <a:tcPr/>
                </a:tc>
                <a:tc>
                  <a:txBody>
                    <a:bodyPr/>
                    <a:lstStyle/>
                    <a:p>
                      <a:r>
                        <a:rPr kumimoji="1" lang="en-US" altLang="ja-JP" dirty="0"/>
                        <a:t>25</a:t>
                      </a:r>
                      <a:endParaRPr kumimoji="1" lang="ja-JP" altLang="en-US" dirty="0"/>
                    </a:p>
                  </a:txBody>
                  <a:tcPr/>
                </a:tc>
                <a:tc>
                  <a:txBody>
                    <a:bodyPr/>
                    <a:lstStyle/>
                    <a:p>
                      <a:r>
                        <a:rPr kumimoji="1" lang="en-US" altLang="ja-JP" dirty="0"/>
                        <a:t>D01</a:t>
                      </a:r>
                      <a:endParaRPr kumimoji="1" lang="ja-JP" altLang="en-US" dirty="0"/>
                    </a:p>
                  </a:txBody>
                  <a:tcPr/>
                </a:tc>
                <a:tc>
                  <a:txBody>
                    <a:bodyPr/>
                    <a:lstStyle/>
                    <a:p>
                      <a:r>
                        <a:rPr kumimoji="1" lang="ja-JP" altLang="en-US" dirty="0"/>
                        <a:t>開発</a:t>
                      </a:r>
                    </a:p>
                  </a:txBody>
                  <a:tcPr/>
                </a:tc>
                <a:extLst>
                  <a:ext uri="{0D108BD9-81ED-4DB2-BD59-A6C34878D82A}">
                    <a16:rowId xmlns:a16="http://schemas.microsoft.com/office/drawing/2014/main" val="707118752"/>
                  </a:ext>
                </a:extLst>
              </a:tr>
              <a:tr h="370840">
                <a:tc>
                  <a:txBody>
                    <a:bodyPr/>
                    <a:lstStyle/>
                    <a:p>
                      <a:r>
                        <a:rPr kumimoji="1" lang="en-US" altLang="ja-JP" dirty="0"/>
                        <a:t>C0002</a:t>
                      </a:r>
                      <a:endParaRPr kumimoji="1" lang="ja-JP" altLang="en-US" dirty="0"/>
                    </a:p>
                  </a:txBody>
                  <a:tcPr/>
                </a:tc>
                <a:tc>
                  <a:txBody>
                    <a:bodyPr/>
                    <a:lstStyle/>
                    <a:p>
                      <a:r>
                        <a:rPr kumimoji="1" lang="en-US" altLang="ja-JP" dirty="0"/>
                        <a:t>B</a:t>
                      </a:r>
                      <a:r>
                        <a:rPr kumimoji="1" lang="ja-JP" altLang="en-US" dirty="0"/>
                        <a:t>化学</a:t>
                      </a:r>
                    </a:p>
                  </a:txBody>
                  <a:tcPr/>
                </a:tc>
                <a:tc>
                  <a:txBody>
                    <a:bodyPr/>
                    <a:lstStyle/>
                    <a:p>
                      <a:r>
                        <a:rPr kumimoji="1" lang="en-US" altLang="ja-JP" dirty="0"/>
                        <a:t>010A</a:t>
                      </a:r>
                      <a:endParaRPr kumimoji="1" lang="ja-JP" altLang="en-US" dirty="0"/>
                    </a:p>
                  </a:txBody>
                  <a:tcPr/>
                </a:tc>
                <a:tc>
                  <a:txBody>
                    <a:bodyPr/>
                    <a:lstStyle/>
                    <a:p>
                      <a:r>
                        <a:rPr kumimoji="1" lang="ja-JP" altLang="en-US" dirty="0"/>
                        <a:t>渋谷</a:t>
                      </a:r>
                    </a:p>
                  </a:txBody>
                  <a:tcPr/>
                </a:tc>
                <a:tc>
                  <a:txBody>
                    <a:bodyPr/>
                    <a:lstStyle/>
                    <a:p>
                      <a:r>
                        <a:rPr kumimoji="1" lang="en-US" altLang="ja-JP" dirty="0"/>
                        <a:t>33</a:t>
                      </a:r>
                      <a:endParaRPr kumimoji="1" lang="ja-JP" altLang="en-US" dirty="0"/>
                    </a:p>
                  </a:txBody>
                  <a:tcPr/>
                </a:tc>
                <a:tc>
                  <a:txBody>
                    <a:bodyPr/>
                    <a:lstStyle/>
                    <a:p>
                      <a:r>
                        <a:rPr kumimoji="1" lang="en-US" altLang="ja-JP" dirty="0"/>
                        <a:t>D04</a:t>
                      </a:r>
                      <a:endParaRPr kumimoji="1" lang="ja-JP" altLang="en-US" dirty="0"/>
                    </a:p>
                  </a:txBody>
                  <a:tcPr/>
                </a:tc>
                <a:tc>
                  <a:txBody>
                    <a:bodyPr/>
                    <a:lstStyle/>
                    <a:p>
                      <a:r>
                        <a:rPr kumimoji="1" lang="ja-JP" altLang="en-US" dirty="0"/>
                        <a:t>総務</a:t>
                      </a:r>
                    </a:p>
                  </a:txBody>
                  <a:tcPr/>
                </a:tc>
                <a:extLst>
                  <a:ext uri="{0D108BD9-81ED-4DB2-BD59-A6C34878D82A}">
                    <a16:rowId xmlns:a16="http://schemas.microsoft.com/office/drawing/2014/main" val="3593766194"/>
                  </a:ext>
                </a:extLst>
              </a:tr>
            </a:tbl>
          </a:graphicData>
        </a:graphic>
      </p:graphicFrame>
      <p:sp>
        <p:nvSpPr>
          <p:cNvPr id="7" name="吹き出し: 線 (枠付き、強調線付き) 6">
            <a:extLst>
              <a:ext uri="{FF2B5EF4-FFF2-40B4-BE49-F238E27FC236}">
                <a16:creationId xmlns:a16="http://schemas.microsoft.com/office/drawing/2014/main" id="{E7BA63C5-C669-37FA-183C-2204DDDA43B2}"/>
              </a:ext>
            </a:extLst>
          </p:cNvPr>
          <p:cNvSpPr/>
          <p:nvPr/>
        </p:nvSpPr>
        <p:spPr>
          <a:xfrm>
            <a:off x="9003019" y="3737113"/>
            <a:ext cx="3013390" cy="2448269"/>
          </a:xfrm>
          <a:prstGeom prst="accentBorderCallout1">
            <a:avLst>
              <a:gd name="adj1" fmla="val 18750"/>
              <a:gd name="adj2" fmla="val -8333"/>
              <a:gd name="adj3" fmla="val 65208"/>
              <a:gd name="adj4" fmla="val -179983"/>
            </a:avLst>
          </a:prstGeom>
          <a:solidFill>
            <a:schemeClr val="accent1">
              <a:lumMod val="20000"/>
              <a:lumOff val="80000"/>
            </a:schemeClr>
          </a:solid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kumimoji="1" lang="ja-JP" altLang="en-US" dirty="0">
                <a:solidFill>
                  <a:schemeClr val="tx1">
                    <a:lumMod val="75000"/>
                  </a:schemeClr>
                </a:solidFill>
              </a:rPr>
              <a:t>社員の情報が不明の会社</a:t>
            </a:r>
            <a:br>
              <a:rPr kumimoji="1" lang="en-US" altLang="ja-JP" dirty="0">
                <a:solidFill>
                  <a:schemeClr val="tx1">
                    <a:lumMod val="75000"/>
                  </a:schemeClr>
                </a:solidFill>
              </a:rPr>
            </a:br>
            <a:r>
              <a:rPr kumimoji="1" lang="ja-JP" altLang="en-US" dirty="0">
                <a:solidFill>
                  <a:schemeClr val="tx1">
                    <a:lumMod val="75000"/>
                  </a:schemeClr>
                </a:solidFill>
              </a:rPr>
              <a:t>（</a:t>
            </a:r>
            <a:r>
              <a:rPr kumimoji="1" lang="en-US" altLang="ja-JP" dirty="0">
                <a:solidFill>
                  <a:schemeClr val="tx1">
                    <a:lumMod val="75000"/>
                  </a:schemeClr>
                </a:solidFill>
              </a:rPr>
              <a:t>C</a:t>
            </a:r>
            <a:r>
              <a:rPr kumimoji="1" lang="ja-JP" altLang="en-US" dirty="0">
                <a:solidFill>
                  <a:schemeClr val="tx1">
                    <a:lumMod val="75000"/>
                  </a:schemeClr>
                </a:solidFill>
              </a:rPr>
              <a:t>建設）があった場合、</a:t>
            </a:r>
            <a:br>
              <a:rPr kumimoji="1" lang="en-US" altLang="ja-JP" dirty="0">
                <a:solidFill>
                  <a:schemeClr val="tx1">
                    <a:lumMod val="75000"/>
                  </a:schemeClr>
                </a:solidFill>
              </a:rPr>
            </a:br>
            <a:r>
              <a:rPr kumimoji="1" lang="ja-JP" altLang="en-US" dirty="0">
                <a:solidFill>
                  <a:schemeClr val="tx1">
                    <a:lumMod val="75000"/>
                  </a:schemeClr>
                </a:solidFill>
              </a:rPr>
              <a:t>この会社をテーブルに追加することができない。</a:t>
            </a:r>
            <a:endParaRPr kumimoji="1" lang="en-US" altLang="ja-JP" dirty="0">
              <a:solidFill>
                <a:schemeClr val="tx1">
                  <a:lumMod val="75000"/>
                </a:schemeClr>
              </a:solidFill>
            </a:endParaRPr>
          </a:p>
          <a:p>
            <a:pPr marL="285750" indent="-285750">
              <a:buFont typeface="Arial" panose="020B0604020202020204" pitchFamily="34" charset="0"/>
              <a:buChar char="•"/>
            </a:pPr>
            <a:r>
              <a:rPr lang="ja-JP" altLang="en-US" dirty="0">
                <a:solidFill>
                  <a:schemeClr val="tx1">
                    <a:lumMod val="75000"/>
                  </a:schemeClr>
                </a:solidFill>
              </a:rPr>
              <a:t>なぜなら、「社員</a:t>
            </a:r>
            <a:r>
              <a:rPr lang="en-US" altLang="ja-JP" dirty="0">
                <a:solidFill>
                  <a:schemeClr val="tx1">
                    <a:lumMod val="75000"/>
                  </a:schemeClr>
                </a:solidFill>
              </a:rPr>
              <a:t>ID</a:t>
            </a:r>
            <a:r>
              <a:rPr lang="ja-JP" altLang="en-US" dirty="0">
                <a:solidFill>
                  <a:schemeClr val="tx1">
                    <a:lumMod val="75000"/>
                  </a:schemeClr>
                </a:solidFill>
              </a:rPr>
              <a:t>」列が「主キー」列だから。</a:t>
            </a:r>
            <a:endParaRPr lang="en-US" altLang="ja-JP" dirty="0">
              <a:solidFill>
                <a:schemeClr val="tx1">
                  <a:lumMod val="75000"/>
                </a:schemeClr>
              </a:solidFill>
            </a:endParaRPr>
          </a:p>
          <a:p>
            <a:r>
              <a:rPr kumimoji="1" lang="en-US" altLang="ja-JP" dirty="0">
                <a:solidFill>
                  <a:schemeClr val="tx1">
                    <a:lumMod val="75000"/>
                  </a:schemeClr>
                </a:solidFill>
              </a:rPr>
              <a:t>※</a:t>
            </a:r>
            <a:r>
              <a:rPr kumimoji="1" lang="ja-JP" altLang="en-US" dirty="0">
                <a:solidFill>
                  <a:schemeClr val="tx1">
                    <a:lumMod val="75000"/>
                  </a:schemeClr>
                </a:solidFill>
              </a:rPr>
              <a:t>主キーは一意かつ</a:t>
            </a:r>
            <a:br>
              <a:rPr kumimoji="1" lang="en-US" altLang="ja-JP" dirty="0">
                <a:solidFill>
                  <a:schemeClr val="tx1">
                    <a:lumMod val="75000"/>
                  </a:schemeClr>
                </a:solidFill>
              </a:rPr>
            </a:br>
            <a:r>
              <a:rPr kumimoji="1" lang="en-US" altLang="ja-JP" dirty="0">
                <a:solidFill>
                  <a:schemeClr val="tx1">
                    <a:lumMod val="75000"/>
                  </a:schemeClr>
                </a:solidFill>
              </a:rPr>
              <a:t>NOT NULL </a:t>
            </a:r>
            <a:r>
              <a:rPr kumimoji="1" lang="ja-JP" altLang="en-US" dirty="0">
                <a:solidFill>
                  <a:schemeClr val="tx1">
                    <a:lumMod val="75000"/>
                  </a:schemeClr>
                </a:solidFill>
              </a:rPr>
              <a:t>制約であるため。</a:t>
            </a:r>
          </a:p>
        </p:txBody>
      </p:sp>
    </p:spTree>
    <p:extLst>
      <p:ext uri="{BB962C8B-B14F-4D97-AF65-F5344CB8AC3E}">
        <p14:creationId xmlns:p14="http://schemas.microsoft.com/office/powerpoint/2010/main" val="14012160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F1BAD-CF91-A4CC-023D-C084464E8AB1}"/>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B27B9BC3-24E6-ABCC-E327-E517999AB759}"/>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3680A0D7-9686-9411-1657-F0E13A7F9C29}"/>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部分関数従属の解消</a:t>
            </a:r>
            <a:endParaRPr lang="en-US" altLang="ja-JP" sz="2800" dirty="0"/>
          </a:p>
        </p:txBody>
      </p:sp>
      <p:sp>
        <p:nvSpPr>
          <p:cNvPr id="4" name="タイトル プレースホルダー 1">
            <a:extLst>
              <a:ext uri="{FF2B5EF4-FFF2-40B4-BE49-F238E27FC236}">
                <a16:creationId xmlns:a16="http://schemas.microsoft.com/office/drawing/2014/main" id="{4D19377C-772C-D5DE-807B-659242ECBA53}"/>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正規化のステップ　ー第</a:t>
            </a:r>
            <a:r>
              <a:rPr lang="en-US" altLang="ja-JP" dirty="0"/>
              <a:t>2</a:t>
            </a:r>
            <a:r>
              <a:rPr lang="ja-JP" altLang="en-US" dirty="0"/>
              <a:t>正規形ー</a:t>
            </a:r>
            <a:endParaRPr lang="en-US" altLang="ja-JP" dirty="0"/>
          </a:p>
        </p:txBody>
      </p:sp>
      <p:sp>
        <p:nvSpPr>
          <p:cNvPr id="5" name="タイトル プレースホルダー 1">
            <a:extLst>
              <a:ext uri="{FF2B5EF4-FFF2-40B4-BE49-F238E27FC236}">
                <a16:creationId xmlns:a16="http://schemas.microsoft.com/office/drawing/2014/main" id="{C4FBF960-324C-09FC-6515-1E5F5C7BEEE5}"/>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部分関数従属を解消する手段は、</a:t>
            </a:r>
            <a:r>
              <a:rPr lang="ja-JP" altLang="en-US" sz="1800" b="1" dirty="0"/>
              <a:t>テーブルの分割</a:t>
            </a:r>
            <a:endParaRPr lang="en-US" altLang="ja-JP" sz="1800" b="1" dirty="0"/>
          </a:p>
          <a:p>
            <a:pPr marL="285750" indent="-285750">
              <a:buFont typeface="Arial" panose="020B0604020202020204" pitchFamily="34" charset="0"/>
              <a:buChar char="•"/>
            </a:pPr>
            <a:r>
              <a:rPr lang="ja-JP" altLang="en-US" sz="1800" dirty="0"/>
              <a:t>部分関数従属の関係にあるキー列と従属列だけ独立のテーブルにする（元のテーブルで邪魔だった会社名列を追放する）</a:t>
            </a:r>
            <a:endParaRPr lang="en-US" altLang="ja-JP" sz="1800" dirty="0"/>
          </a:p>
          <a:p>
            <a:pPr marL="285750" indent="-285750">
              <a:buFont typeface="Arial" panose="020B0604020202020204" pitchFamily="34" charset="0"/>
              <a:buChar char="•"/>
            </a:pPr>
            <a:r>
              <a:rPr lang="ja-JP" altLang="en-US" sz="1800" dirty="0"/>
              <a:t>「社員」テーブルも新しく作った「会社」テーブルも、すべての列が主キーに完全関数従属することになった</a:t>
            </a:r>
            <a:br>
              <a:rPr lang="en-US" altLang="ja-JP" sz="1800" dirty="0"/>
            </a:br>
            <a:r>
              <a:rPr lang="ja-JP" altLang="en-US" sz="1800" dirty="0"/>
              <a:t>（ それぞれのテーブルの主キーは、「社員」テーブル：</a:t>
            </a:r>
            <a:r>
              <a:rPr lang="en-US" altLang="ja-JP" sz="1800" dirty="0"/>
              <a:t>[</a:t>
            </a:r>
            <a:r>
              <a:rPr lang="ja-JP" altLang="en-US" sz="1800" dirty="0"/>
              <a:t>会社コード</a:t>
            </a:r>
            <a:r>
              <a:rPr lang="en-US" altLang="ja-JP" sz="1800" dirty="0"/>
              <a:t>,</a:t>
            </a:r>
            <a:r>
              <a:rPr lang="ja-JP" altLang="en-US" sz="1800" dirty="0"/>
              <a:t>社員</a:t>
            </a:r>
            <a:r>
              <a:rPr lang="en-US" altLang="ja-JP" sz="1800" dirty="0"/>
              <a:t>ID]</a:t>
            </a:r>
            <a:r>
              <a:rPr lang="ja-JP" altLang="en-US" sz="1800" dirty="0"/>
              <a:t>、「会社」テーブル：</a:t>
            </a:r>
            <a:r>
              <a:rPr lang="en-US" altLang="ja-JP" sz="1800" dirty="0"/>
              <a:t>[</a:t>
            </a:r>
            <a:r>
              <a:rPr lang="ja-JP" altLang="en-US" sz="1800" dirty="0"/>
              <a:t>会社コード</a:t>
            </a:r>
            <a:r>
              <a:rPr lang="en-US" altLang="ja-JP" sz="1800" dirty="0"/>
              <a:t>]</a:t>
            </a:r>
            <a:r>
              <a:rPr lang="ja-JP" altLang="en-US" sz="1800" dirty="0"/>
              <a:t>）</a:t>
            </a:r>
            <a:endParaRPr lang="en-US" altLang="ja-JP" sz="1800" dirty="0"/>
          </a:p>
          <a:p>
            <a:pPr marL="285750" indent="-285750">
              <a:buFont typeface="Arial" panose="020B0604020202020204" pitchFamily="34" charset="0"/>
              <a:buChar char="•"/>
            </a:pPr>
            <a:endParaRPr lang="en-US" altLang="ja-JP" sz="1800" dirty="0"/>
          </a:p>
          <a:p>
            <a:pPr marL="285750" indent="-285750">
              <a:buFont typeface="Arial" panose="020B0604020202020204" pitchFamily="34" charset="0"/>
              <a:buChar char="•"/>
            </a:pPr>
            <a:endParaRPr lang="en-US" altLang="ja-JP" sz="1800" dirty="0"/>
          </a:p>
          <a:p>
            <a:pPr marL="285750" indent="-285750">
              <a:buFont typeface="Arial" panose="020B0604020202020204" pitchFamily="34" charset="0"/>
              <a:buChar char="•"/>
            </a:pPr>
            <a:endParaRPr lang="en-US" altLang="ja-JP" sz="1800" b="1"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8" name="正方形/長方形 7">
            <a:extLst>
              <a:ext uri="{FF2B5EF4-FFF2-40B4-BE49-F238E27FC236}">
                <a16:creationId xmlns:a16="http://schemas.microsoft.com/office/drawing/2014/main" id="{CB2AE78E-8F3E-FE51-0DFE-EB79C5F8C7A4}"/>
              </a:ext>
            </a:extLst>
          </p:cNvPr>
          <p:cNvSpPr/>
          <p:nvPr/>
        </p:nvSpPr>
        <p:spPr>
          <a:xfrm>
            <a:off x="405044" y="329634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第</a:t>
            </a:r>
            <a:r>
              <a:rPr lang="en-US" altLang="ja-JP" sz="1400" dirty="0">
                <a:solidFill>
                  <a:schemeClr val="tx1">
                    <a:lumMod val="75000"/>
                  </a:schemeClr>
                </a:solidFill>
              </a:rPr>
              <a:t>2</a:t>
            </a:r>
            <a:r>
              <a:rPr lang="ja-JP" altLang="en-US" sz="1400" dirty="0">
                <a:solidFill>
                  <a:schemeClr val="tx1">
                    <a:lumMod val="75000"/>
                  </a:schemeClr>
                </a:solidFill>
              </a:rPr>
              <a:t>正規形</a:t>
            </a:r>
            <a:endParaRPr lang="en-US" altLang="ja-JP" sz="1400" dirty="0">
              <a:solidFill>
                <a:schemeClr val="tx1">
                  <a:lumMod val="75000"/>
                </a:schemeClr>
              </a:solidFill>
            </a:endParaRPr>
          </a:p>
          <a:p>
            <a:pPr algn="ctr"/>
            <a:r>
              <a:rPr lang="ja-JP" altLang="en-US" sz="1400" dirty="0">
                <a:solidFill>
                  <a:schemeClr val="tx1">
                    <a:lumMod val="75000"/>
                  </a:schemeClr>
                </a:solidFill>
              </a:rPr>
              <a:t>（社員）</a:t>
            </a:r>
            <a:endParaRPr lang="en-US" altLang="ja-JP" sz="1400" dirty="0">
              <a:solidFill>
                <a:schemeClr val="tx1">
                  <a:lumMod val="75000"/>
                </a:schemeClr>
              </a:solidFill>
            </a:endParaRPr>
          </a:p>
        </p:txBody>
      </p:sp>
      <p:graphicFrame>
        <p:nvGraphicFramePr>
          <p:cNvPr id="10" name="表 9">
            <a:extLst>
              <a:ext uri="{FF2B5EF4-FFF2-40B4-BE49-F238E27FC236}">
                <a16:creationId xmlns:a16="http://schemas.microsoft.com/office/drawing/2014/main" id="{AF5CC071-6418-8110-85EF-ACEFE3664E3C}"/>
              </a:ext>
            </a:extLst>
          </p:cNvPr>
          <p:cNvGraphicFramePr>
            <a:graphicFrameLocks noGrp="1"/>
          </p:cNvGraphicFramePr>
          <p:nvPr>
            <p:extLst>
              <p:ext uri="{D42A27DB-BD31-4B8C-83A1-F6EECF244321}">
                <p14:modId xmlns:p14="http://schemas.microsoft.com/office/powerpoint/2010/main" val="3173696805"/>
              </p:ext>
            </p:extLst>
          </p:nvPr>
        </p:nvGraphicFramePr>
        <p:xfrm>
          <a:off x="405043" y="3999680"/>
          <a:ext cx="7247034" cy="2590800"/>
        </p:xfrm>
        <a:graphic>
          <a:graphicData uri="http://schemas.openxmlformats.org/drawingml/2006/table">
            <a:tbl>
              <a:tblPr firstRow="1" bandRow="1">
                <a:tableStyleId>{5C22544A-7EE6-4342-B048-85BDC9FD1C3A}</a:tableStyleId>
              </a:tblPr>
              <a:tblGrid>
                <a:gridCol w="1207839">
                  <a:extLst>
                    <a:ext uri="{9D8B030D-6E8A-4147-A177-3AD203B41FA5}">
                      <a16:colId xmlns:a16="http://schemas.microsoft.com/office/drawing/2014/main" val="1430862820"/>
                    </a:ext>
                  </a:extLst>
                </a:gridCol>
                <a:gridCol w="1207839">
                  <a:extLst>
                    <a:ext uri="{9D8B030D-6E8A-4147-A177-3AD203B41FA5}">
                      <a16:colId xmlns:a16="http://schemas.microsoft.com/office/drawing/2014/main" val="313098214"/>
                    </a:ext>
                  </a:extLst>
                </a:gridCol>
                <a:gridCol w="1207839">
                  <a:extLst>
                    <a:ext uri="{9D8B030D-6E8A-4147-A177-3AD203B41FA5}">
                      <a16:colId xmlns:a16="http://schemas.microsoft.com/office/drawing/2014/main" val="1614430523"/>
                    </a:ext>
                  </a:extLst>
                </a:gridCol>
                <a:gridCol w="1207839">
                  <a:extLst>
                    <a:ext uri="{9D8B030D-6E8A-4147-A177-3AD203B41FA5}">
                      <a16:colId xmlns:a16="http://schemas.microsoft.com/office/drawing/2014/main" val="3501686637"/>
                    </a:ext>
                  </a:extLst>
                </a:gridCol>
                <a:gridCol w="1207839">
                  <a:extLst>
                    <a:ext uri="{9D8B030D-6E8A-4147-A177-3AD203B41FA5}">
                      <a16:colId xmlns:a16="http://schemas.microsoft.com/office/drawing/2014/main" val="1513970016"/>
                    </a:ext>
                  </a:extLst>
                </a:gridCol>
                <a:gridCol w="1207839">
                  <a:extLst>
                    <a:ext uri="{9D8B030D-6E8A-4147-A177-3AD203B41FA5}">
                      <a16:colId xmlns:a16="http://schemas.microsoft.com/office/drawing/2014/main" val="2192414002"/>
                    </a:ext>
                  </a:extLst>
                </a:gridCol>
              </a:tblGrid>
              <a:tr h="370840">
                <a:tc>
                  <a:txBody>
                    <a:bodyPr/>
                    <a:lstStyle/>
                    <a:p>
                      <a:r>
                        <a:rPr kumimoji="1" lang="ja-JP" altLang="en-US" u="sng" dirty="0">
                          <a:solidFill>
                            <a:schemeClr val="tx1">
                              <a:lumMod val="75000"/>
                            </a:schemeClr>
                          </a:solidFill>
                        </a:rPr>
                        <a:t>会社コード</a:t>
                      </a:r>
                    </a:p>
                  </a:txBody>
                  <a:tcPr/>
                </a:tc>
                <a:tc>
                  <a:txBody>
                    <a:bodyPr/>
                    <a:lstStyle/>
                    <a:p>
                      <a:r>
                        <a:rPr kumimoji="1" lang="ja-JP" altLang="en-US" u="sng" dirty="0">
                          <a:solidFill>
                            <a:schemeClr val="tx1">
                              <a:lumMod val="75000"/>
                            </a:schemeClr>
                          </a:solidFill>
                        </a:rPr>
                        <a:t>社員</a:t>
                      </a:r>
                      <a:r>
                        <a:rPr kumimoji="1" lang="en-US" altLang="ja-JP" u="sng" dirty="0">
                          <a:solidFill>
                            <a:schemeClr val="tx1">
                              <a:lumMod val="75000"/>
                            </a:schemeClr>
                          </a:solidFill>
                        </a:rPr>
                        <a:t>ID</a:t>
                      </a:r>
                      <a:endParaRPr kumimoji="1" lang="ja-JP" altLang="en-US" u="sng" dirty="0">
                        <a:solidFill>
                          <a:schemeClr val="tx1">
                            <a:lumMod val="75000"/>
                          </a:schemeClr>
                        </a:solidFill>
                      </a:endParaRPr>
                    </a:p>
                  </a:txBody>
                  <a:tcPr/>
                </a:tc>
                <a:tc>
                  <a:txBody>
                    <a:bodyPr/>
                    <a:lstStyle/>
                    <a:p>
                      <a:r>
                        <a:rPr kumimoji="1" lang="ja-JP" altLang="en-US" dirty="0">
                          <a:solidFill>
                            <a:schemeClr val="tx1">
                              <a:lumMod val="75000"/>
                            </a:schemeClr>
                          </a:solidFill>
                        </a:rPr>
                        <a:t>社員名</a:t>
                      </a:r>
                    </a:p>
                  </a:txBody>
                  <a:tcPr/>
                </a:tc>
                <a:tc>
                  <a:txBody>
                    <a:bodyPr/>
                    <a:lstStyle/>
                    <a:p>
                      <a:r>
                        <a:rPr kumimoji="1" lang="ja-JP" altLang="en-US" dirty="0">
                          <a:solidFill>
                            <a:schemeClr val="tx1">
                              <a:lumMod val="75000"/>
                            </a:schemeClr>
                          </a:solidFill>
                        </a:rPr>
                        <a:t>年齢</a:t>
                      </a:r>
                    </a:p>
                  </a:txBody>
                  <a:tcPr/>
                </a:tc>
                <a:tc>
                  <a:txBody>
                    <a:bodyPr/>
                    <a:lstStyle/>
                    <a:p>
                      <a:r>
                        <a:rPr kumimoji="1" lang="ja-JP" altLang="en-US" dirty="0">
                          <a:solidFill>
                            <a:schemeClr val="tx1">
                              <a:lumMod val="75000"/>
                            </a:schemeClr>
                          </a:solidFill>
                        </a:rPr>
                        <a:t>部署コード</a:t>
                      </a:r>
                    </a:p>
                  </a:txBody>
                  <a:tcPr/>
                </a:tc>
                <a:tc>
                  <a:txBody>
                    <a:bodyPr/>
                    <a:lstStyle/>
                    <a:p>
                      <a:r>
                        <a:rPr kumimoji="1" lang="ja-JP" altLang="en-US" dirty="0">
                          <a:solidFill>
                            <a:schemeClr val="tx1">
                              <a:lumMod val="75000"/>
                            </a:schemeClr>
                          </a:solidFill>
                        </a:rPr>
                        <a:t>部署名</a:t>
                      </a:r>
                    </a:p>
                  </a:txBody>
                  <a:tcPr/>
                </a:tc>
                <a:extLst>
                  <a:ext uri="{0D108BD9-81ED-4DB2-BD59-A6C34878D82A}">
                    <a16:rowId xmlns:a16="http://schemas.microsoft.com/office/drawing/2014/main" val="2035072520"/>
                  </a:ext>
                </a:extLst>
              </a:tr>
              <a:tr h="370840">
                <a:tc>
                  <a:txBody>
                    <a:bodyPr/>
                    <a:lstStyle/>
                    <a:p>
                      <a:r>
                        <a:rPr kumimoji="1" lang="en-US" altLang="ja-JP" dirty="0"/>
                        <a:t>C0001</a:t>
                      </a:r>
                      <a:endParaRPr kumimoji="1" lang="ja-JP" altLang="en-US" dirty="0"/>
                    </a:p>
                  </a:txBody>
                  <a:tcPr/>
                </a:tc>
                <a:tc>
                  <a:txBody>
                    <a:bodyPr/>
                    <a:lstStyle/>
                    <a:p>
                      <a:r>
                        <a:rPr kumimoji="1" lang="en-US" altLang="ja-JP" dirty="0"/>
                        <a:t>000A</a:t>
                      </a:r>
                      <a:endParaRPr kumimoji="1" lang="ja-JP" altLang="en-US" dirty="0"/>
                    </a:p>
                  </a:txBody>
                  <a:tcPr/>
                </a:tc>
                <a:tc>
                  <a:txBody>
                    <a:bodyPr/>
                    <a:lstStyle/>
                    <a:p>
                      <a:r>
                        <a:rPr kumimoji="1" lang="ja-JP" altLang="en-US" dirty="0"/>
                        <a:t>加藤</a:t>
                      </a:r>
                    </a:p>
                  </a:txBody>
                  <a:tcPr/>
                </a:tc>
                <a:tc>
                  <a:txBody>
                    <a:bodyPr/>
                    <a:lstStyle/>
                    <a:p>
                      <a:r>
                        <a:rPr kumimoji="1" lang="en-US" altLang="ja-JP" dirty="0"/>
                        <a:t>40</a:t>
                      </a:r>
                      <a:endParaRPr kumimoji="1" lang="ja-JP" altLang="en-US" dirty="0"/>
                    </a:p>
                  </a:txBody>
                  <a:tcPr/>
                </a:tc>
                <a:tc>
                  <a:txBody>
                    <a:bodyPr/>
                    <a:lstStyle/>
                    <a:p>
                      <a:r>
                        <a:rPr kumimoji="1" lang="en-US" altLang="ja-JP" dirty="0"/>
                        <a:t>D01</a:t>
                      </a:r>
                      <a:endParaRPr kumimoji="1" lang="ja-JP" altLang="en-US" dirty="0"/>
                    </a:p>
                  </a:txBody>
                  <a:tcPr/>
                </a:tc>
                <a:tc>
                  <a:txBody>
                    <a:bodyPr/>
                    <a:lstStyle/>
                    <a:p>
                      <a:r>
                        <a:rPr kumimoji="1" lang="ja-JP" altLang="en-US" dirty="0"/>
                        <a:t>開発</a:t>
                      </a:r>
                    </a:p>
                  </a:txBody>
                  <a:tcPr/>
                </a:tc>
                <a:extLst>
                  <a:ext uri="{0D108BD9-81ED-4DB2-BD59-A6C34878D82A}">
                    <a16:rowId xmlns:a16="http://schemas.microsoft.com/office/drawing/2014/main" val="3787714943"/>
                  </a:ext>
                </a:extLst>
              </a:tr>
              <a:tr h="370840">
                <a:tc>
                  <a:txBody>
                    <a:bodyPr/>
                    <a:lstStyle/>
                    <a:p>
                      <a:r>
                        <a:rPr kumimoji="1" lang="en-US" altLang="ja-JP" dirty="0"/>
                        <a:t>C0001</a:t>
                      </a:r>
                      <a:endParaRPr kumimoji="1" lang="ja-JP" altLang="en-US" dirty="0"/>
                    </a:p>
                  </a:txBody>
                  <a:tcPr/>
                </a:tc>
                <a:tc>
                  <a:txBody>
                    <a:bodyPr/>
                    <a:lstStyle/>
                    <a:p>
                      <a:r>
                        <a:rPr kumimoji="1" lang="en-US" altLang="ja-JP" dirty="0"/>
                        <a:t>000B</a:t>
                      </a:r>
                      <a:endParaRPr kumimoji="1" lang="ja-JP" altLang="en-US" dirty="0"/>
                    </a:p>
                  </a:txBody>
                  <a:tcPr/>
                </a:tc>
                <a:tc>
                  <a:txBody>
                    <a:bodyPr/>
                    <a:lstStyle/>
                    <a:p>
                      <a:r>
                        <a:rPr kumimoji="1" lang="ja-JP" altLang="en-US" dirty="0"/>
                        <a:t>藤本</a:t>
                      </a:r>
                    </a:p>
                  </a:txBody>
                  <a:tcPr/>
                </a:tc>
                <a:tc>
                  <a:txBody>
                    <a:bodyPr/>
                    <a:lstStyle/>
                    <a:p>
                      <a:r>
                        <a:rPr kumimoji="1" lang="en-US" altLang="ja-JP" dirty="0"/>
                        <a:t>32</a:t>
                      </a:r>
                      <a:endParaRPr kumimoji="1" lang="ja-JP" altLang="en-US" dirty="0"/>
                    </a:p>
                  </a:txBody>
                  <a:tcPr/>
                </a:tc>
                <a:tc>
                  <a:txBody>
                    <a:bodyPr/>
                    <a:lstStyle/>
                    <a:p>
                      <a:r>
                        <a:rPr kumimoji="1" lang="en-US" altLang="ja-JP" dirty="0"/>
                        <a:t>D02</a:t>
                      </a:r>
                      <a:endParaRPr kumimoji="1" lang="ja-JP" altLang="en-US" dirty="0"/>
                    </a:p>
                  </a:txBody>
                  <a:tcPr/>
                </a:tc>
                <a:tc>
                  <a:txBody>
                    <a:bodyPr/>
                    <a:lstStyle/>
                    <a:p>
                      <a:r>
                        <a:rPr kumimoji="1" lang="ja-JP" altLang="en-US" dirty="0"/>
                        <a:t>人事</a:t>
                      </a:r>
                    </a:p>
                  </a:txBody>
                  <a:tcPr/>
                </a:tc>
                <a:extLst>
                  <a:ext uri="{0D108BD9-81ED-4DB2-BD59-A6C34878D82A}">
                    <a16:rowId xmlns:a16="http://schemas.microsoft.com/office/drawing/2014/main" val="532976586"/>
                  </a:ext>
                </a:extLst>
              </a:tr>
              <a:tr h="370840">
                <a:tc>
                  <a:txBody>
                    <a:bodyPr/>
                    <a:lstStyle/>
                    <a:p>
                      <a:r>
                        <a:rPr kumimoji="1" lang="en-US" altLang="ja-JP" dirty="0"/>
                        <a:t>C0001</a:t>
                      </a:r>
                      <a:endParaRPr kumimoji="1" lang="ja-JP" altLang="en-US" dirty="0"/>
                    </a:p>
                  </a:txBody>
                  <a:tcPr/>
                </a:tc>
                <a:tc>
                  <a:txBody>
                    <a:bodyPr/>
                    <a:lstStyle/>
                    <a:p>
                      <a:r>
                        <a:rPr kumimoji="1" lang="en-US" altLang="ja-JP" dirty="0"/>
                        <a:t>001F</a:t>
                      </a:r>
                      <a:endParaRPr kumimoji="1" lang="ja-JP" altLang="en-US" dirty="0"/>
                    </a:p>
                  </a:txBody>
                  <a:tcPr/>
                </a:tc>
                <a:tc>
                  <a:txBody>
                    <a:bodyPr/>
                    <a:lstStyle/>
                    <a:p>
                      <a:r>
                        <a:rPr kumimoji="1" lang="ja-JP" altLang="en-US" dirty="0"/>
                        <a:t>三島</a:t>
                      </a:r>
                    </a:p>
                  </a:txBody>
                  <a:tcPr/>
                </a:tc>
                <a:tc>
                  <a:txBody>
                    <a:bodyPr/>
                    <a:lstStyle/>
                    <a:p>
                      <a:r>
                        <a:rPr kumimoji="1" lang="en-US" altLang="ja-JP" dirty="0"/>
                        <a:t>50</a:t>
                      </a:r>
                      <a:endParaRPr kumimoji="1" lang="ja-JP" altLang="en-US" dirty="0"/>
                    </a:p>
                  </a:txBody>
                  <a:tcPr/>
                </a:tc>
                <a:tc>
                  <a:txBody>
                    <a:bodyPr/>
                    <a:lstStyle/>
                    <a:p>
                      <a:r>
                        <a:rPr kumimoji="1" lang="en-US" altLang="ja-JP" dirty="0"/>
                        <a:t>D03</a:t>
                      </a:r>
                      <a:endParaRPr kumimoji="1" lang="ja-JP" altLang="en-US" dirty="0"/>
                    </a:p>
                  </a:txBody>
                  <a:tcPr/>
                </a:tc>
                <a:tc>
                  <a:txBody>
                    <a:bodyPr/>
                    <a:lstStyle/>
                    <a:p>
                      <a:r>
                        <a:rPr kumimoji="1" lang="ja-JP" altLang="en-US" dirty="0"/>
                        <a:t>営業</a:t>
                      </a:r>
                    </a:p>
                  </a:txBody>
                  <a:tcPr/>
                </a:tc>
                <a:extLst>
                  <a:ext uri="{0D108BD9-81ED-4DB2-BD59-A6C34878D82A}">
                    <a16:rowId xmlns:a16="http://schemas.microsoft.com/office/drawing/2014/main" val="3616448333"/>
                  </a:ext>
                </a:extLst>
              </a:tr>
              <a:tr h="370840">
                <a:tc>
                  <a:txBody>
                    <a:bodyPr/>
                    <a:lstStyle/>
                    <a:p>
                      <a:r>
                        <a:rPr kumimoji="1" lang="en-US" altLang="ja-JP" dirty="0"/>
                        <a:t>C0002</a:t>
                      </a:r>
                      <a:endParaRPr kumimoji="1" lang="ja-JP" altLang="en-US" dirty="0"/>
                    </a:p>
                  </a:txBody>
                  <a:tcPr/>
                </a:tc>
                <a:tc>
                  <a:txBody>
                    <a:bodyPr/>
                    <a:lstStyle/>
                    <a:p>
                      <a:r>
                        <a:rPr kumimoji="1" lang="en-US" altLang="ja-JP" dirty="0"/>
                        <a:t>000A</a:t>
                      </a:r>
                      <a:endParaRPr kumimoji="1" lang="ja-JP" altLang="en-US" dirty="0"/>
                    </a:p>
                  </a:txBody>
                  <a:tcPr/>
                </a:tc>
                <a:tc>
                  <a:txBody>
                    <a:bodyPr/>
                    <a:lstStyle/>
                    <a:p>
                      <a:r>
                        <a:rPr kumimoji="1" lang="ja-JP" altLang="en-US" dirty="0"/>
                        <a:t>斎藤</a:t>
                      </a:r>
                    </a:p>
                  </a:txBody>
                  <a:tcPr/>
                </a:tc>
                <a:tc>
                  <a:txBody>
                    <a:bodyPr/>
                    <a:lstStyle/>
                    <a:p>
                      <a:r>
                        <a:rPr kumimoji="1" lang="en-US" altLang="ja-JP" dirty="0"/>
                        <a:t>47</a:t>
                      </a:r>
                      <a:endParaRPr kumimoji="1" lang="ja-JP" altLang="en-US" dirty="0"/>
                    </a:p>
                  </a:txBody>
                  <a:tcPr/>
                </a:tc>
                <a:tc>
                  <a:txBody>
                    <a:bodyPr/>
                    <a:lstStyle/>
                    <a:p>
                      <a:r>
                        <a:rPr kumimoji="1" lang="en-US" altLang="ja-JP" dirty="0"/>
                        <a:t>D03</a:t>
                      </a:r>
                      <a:endParaRPr kumimoji="1" lang="ja-JP" altLang="en-US" dirty="0"/>
                    </a:p>
                  </a:txBody>
                  <a:tcPr/>
                </a:tc>
                <a:tc>
                  <a:txBody>
                    <a:bodyPr/>
                    <a:lstStyle/>
                    <a:p>
                      <a:r>
                        <a:rPr kumimoji="1" lang="ja-JP" altLang="en-US" dirty="0"/>
                        <a:t>営業</a:t>
                      </a:r>
                    </a:p>
                  </a:txBody>
                  <a:tcPr/>
                </a:tc>
                <a:extLst>
                  <a:ext uri="{0D108BD9-81ED-4DB2-BD59-A6C34878D82A}">
                    <a16:rowId xmlns:a16="http://schemas.microsoft.com/office/drawing/2014/main" val="433193485"/>
                  </a:ext>
                </a:extLst>
              </a:tr>
              <a:tr h="0">
                <a:tc>
                  <a:txBody>
                    <a:bodyPr/>
                    <a:lstStyle/>
                    <a:p>
                      <a:r>
                        <a:rPr kumimoji="1" lang="en-US" altLang="ja-JP" dirty="0"/>
                        <a:t>C0002</a:t>
                      </a:r>
                      <a:endParaRPr kumimoji="1" lang="ja-JP" altLang="en-US" dirty="0"/>
                    </a:p>
                  </a:txBody>
                  <a:tcPr/>
                </a:tc>
                <a:tc>
                  <a:txBody>
                    <a:bodyPr/>
                    <a:lstStyle/>
                    <a:p>
                      <a:r>
                        <a:rPr kumimoji="1" lang="en-US" altLang="ja-JP" dirty="0"/>
                        <a:t>009F</a:t>
                      </a:r>
                      <a:endParaRPr kumimoji="1" lang="ja-JP" altLang="en-US" dirty="0"/>
                    </a:p>
                  </a:txBody>
                  <a:tcPr/>
                </a:tc>
                <a:tc>
                  <a:txBody>
                    <a:bodyPr/>
                    <a:lstStyle/>
                    <a:p>
                      <a:r>
                        <a:rPr kumimoji="1" lang="ja-JP" altLang="en-US" dirty="0"/>
                        <a:t>田島</a:t>
                      </a:r>
                    </a:p>
                  </a:txBody>
                  <a:tcPr/>
                </a:tc>
                <a:tc>
                  <a:txBody>
                    <a:bodyPr/>
                    <a:lstStyle/>
                    <a:p>
                      <a:r>
                        <a:rPr kumimoji="1" lang="en-US" altLang="ja-JP" dirty="0"/>
                        <a:t>25</a:t>
                      </a:r>
                      <a:endParaRPr kumimoji="1" lang="ja-JP" altLang="en-US" dirty="0"/>
                    </a:p>
                  </a:txBody>
                  <a:tcPr/>
                </a:tc>
                <a:tc>
                  <a:txBody>
                    <a:bodyPr/>
                    <a:lstStyle/>
                    <a:p>
                      <a:r>
                        <a:rPr kumimoji="1" lang="en-US" altLang="ja-JP" dirty="0"/>
                        <a:t>D01</a:t>
                      </a:r>
                      <a:endParaRPr kumimoji="1" lang="ja-JP" altLang="en-US" dirty="0"/>
                    </a:p>
                  </a:txBody>
                  <a:tcPr/>
                </a:tc>
                <a:tc>
                  <a:txBody>
                    <a:bodyPr/>
                    <a:lstStyle/>
                    <a:p>
                      <a:r>
                        <a:rPr kumimoji="1" lang="ja-JP" altLang="en-US" dirty="0"/>
                        <a:t>開発</a:t>
                      </a:r>
                    </a:p>
                  </a:txBody>
                  <a:tcPr/>
                </a:tc>
                <a:extLst>
                  <a:ext uri="{0D108BD9-81ED-4DB2-BD59-A6C34878D82A}">
                    <a16:rowId xmlns:a16="http://schemas.microsoft.com/office/drawing/2014/main" val="707118752"/>
                  </a:ext>
                </a:extLst>
              </a:tr>
              <a:tr h="370840">
                <a:tc>
                  <a:txBody>
                    <a:bodyPr/>
                    <a:lstStyle/>
                    <a:p>
                      <a:r>
                        <a:rPr kumimoji="1" lang="en-US" altLang="ja-JP" dirty="0"/>
                        <a:t>C0002</a:t>
                      </a:r>
                      <a:endParaRPr kumimoji="1" lang="ja-JP" altLang="en-US" dirty="0"/>
                    </a:p>
                  </a:txBody>
                  <a:tcPr/>
                </a:tc>
                <a:tc>
                  <a:txBody>
                    <a:bodyPr/>
                    <a:lstStyle/>
                    <a:p>
                      <a:r>
                        <a:rPr kumimoji="1" lang="en-US" altLang="ja-JP" dirty="0"/>
                        <a:t>010A</a:t>
                      </a:r>
                      <a:endParaRPr kumimoji="1" lang="ja-JP" altLang="en-US" dirty="0"/>
                    </a:p>
                  </a:txBody>
                  <a:tcPr/>
                </a:tc>
                <a:tc>
                  <a:txBody>
                    <a:bodyPr/>
                    <a:lstStyle/>
                    <a:p>
                      <a:r>
                        <a:rPr kumimoji="1" lang="ja-JP" altLang="en-US" dirty="0"/>
                        <a:t>渋谷</a:t>
                      </a:r>
                    </a:p>
                  </a:txBody>
                  <a:tcPr/>
                </a:tc>
                <a:tc>
                  <a:txBody>
                    <a:bodyPr/>
                    <a:lstStyle/>
                    <a:p>
                      <a:r>
                        <a:rPr kumimoji="1" lang="en-US" altLang="ja-JP" dirty="0"/>
                        <a:t>33</a:t>
                      </a:r>
                      <a:endParaRPr kumimoji="1" lang="ja-JP" altLang="en-US" dirty="0"/>
                    </a:p>
                  </a:txBody>
                  <a:tcPr/>
                </a:tc>
                <a:tc>
                  <a:txBody>
                    <a:bodyPr/>
                    <a:lstStyle/>
                    <a:p>
                      <a:r>
                        <a:rPr kumimoji="1" lang="en-US" altLang="ja-JP" dirty="0"/>
                        <a:t>D04</a:t>
                      </a:r>
                      <a:endParaRPr kumimoji="1" lang="ja-JP" altLang="en-US" dirty="0"/>
                    </a:p>
                  </a:txBody>
                  <a:tcPr/>
                </a:tc>
                <a:tc>
                  <a:txBody>
                    <a:bodyPr/>
                    <a:lstStyle/>
                    <a:p>
                      <a:r>
                        <a:rPr kumimoji="1" lang="ja-JP" altLang="en-US" dirty="0"/>
                        <a:t>総務</a:t>
                      </a:r>
                    </a:p>
                  </a:txBody>
                  <a:tcPr/>
                </a:tc>
                <a:extLst>
                  <a:ext uri="{0D108BD9-81ED-4DB2-BD59-A6C34878D82A}">
                    <a16:rowId xmlns:a16="http://schemas.microsoft.com/office/drawing/2014/main" val="3593766194"/>
                  </a:ext>
                </a:extLst>
              </a:tr>
            </a:tbl>
          </a:graphicData>
        </a:graphic>
      </p:graphicFrame>
      <p:graphicFrame>
        <p:nvGraphicFramePr>
          <p:cNvPr id="6" name="表 5">
            <a:extLst>
              <a:ext uri="{FF2B5EF4-FFF2-40B4-BE49-F238E27FC236}">
                <a16:creationId xmlns:a16="http://schemas.microsoft.com/office/drawing/2014/main" id="{15DF2B0F-0AD7-9BAA-7138-F6251A65B341}"/>
              </a:ext>
            </a:extLst>
          </p:cNvPr>
          <p:cNvGraphicFramePr>
            <a:graphicFrameLocks noGrp="1"/>
          </p:cNvGraphicFramePr>
          <p:nvPr>
            <p:extLst>
              <p:ext uri="{D42A27DB-BD31-4B8C-83A1-F6EECF244321}">
                <p14:modId xmlns:p14="http://schemas.microsoft.com/office/powerpoint/2010/main" val="279423970"/>
              </p:ext>
            </p:extLst>
          </p:nvPr>
        </p:nvGraphicFramePr>
        <p:xfrm>
          <a:off x="7952666" y="3999680"/>
          <a:ext cx="2701770" cy="1485238"/>
        </p:xfrm>
        <a:graphic>
          <a:graphicData uri="http://schemas.openxmlformats.org/drawingml/2006/table">
            <a:tbl>
              <a:tblPr firstRow="1" bandRow="1">
                <a:tableStyleId>{5C22544A-7EE6-4342-B048-85BDC9FD1C3A}</a:tableStyleId>
              </a:tblPr>
              <a:tblGrid>
                <a:gridCol w="1350885">
                  <a:extLst>
                    <a:ext uri="{9D8B030D-6E8A-4147-A177-3AD203B41FA5}">
                      <a16:colId xmlns:a16="http://schemas.microsoft.com/office/drawing/2014/main" val="125754055"/>
                    </a:ext>
                  </a:extLst>
                </a:gridCol>
                <a:gridCol w="1350885">
                  <a:extLst>
                    <a:ext uri="{9D8B030D-6E8A-4147-A177-3AD203B41FA5}">
                      <a16:colId xmlns:a16="http://schemas.microsoft.com/office/drawing/2014/main" val="3136733704"/>
                    </a:ext>
                  </a:extLst>
                </a:gridCol>
              </a:tblGrid>
              <a:tr h="206893">
                <a:tc>
                  <a:txBody>
                    <a:bodyPr/>
                    <a:lstStyle/>
                    <a:p>
                      <a:r>
                        <a:rPr kumimoji="1" lang="ja-JP" altLang="en-US" u="sng" dirty="0">
                          <a:solidFill>
                            <a:schemeClr val="tx1">
                              <a:lumMod val="75000"/>
                            </a:schemeClr>
                          </a:solidFill>
                        </a:rPr>
                        <a:t>会社コード</a:t>
                      </a:r>
                    </a:p>
                  </a:txBody>
                  <a:tcPr/>
                </a:tc>
                <a:tc>
                  <a:txBody>
                    <a:bodyPr/>
                    <a:lstStyle/>
                    <a:p>
                      <a:r>
                        <a:rPr kumimoji="1" lang="ja-JP" altLang="en-US" dirty="0">
                          <a:solidFill>
                            <a:schemeClr val="tx1">
                              <a:lumMod val="75000"/>
                            </a:schemeClr>
                          </a:solidFill>
                        </a:rPr>
                        <a:t>会社名</a:t>
                      </a:r>
                    </a:p>
                  </a:txBody>
                  <a:tcPr/>
                </a:tc>
                <a:extLst>
                  <a:ext uri="{0D108BD9-81ED-4DB2-BD59-A6C34878D82A}">
                    <a16:rowId xmlns:a16="http://schemas.microsoft.com/office/drawing/2014/main" val="4058254409"/>
                  </a:ext>
                </a:extLst>
              </a:tr>
              <a:tr h="377798">
                <a:tc>
                  <a:txBody>
                    <a:bodyPr/>
                    <a:lstStyle/>
                    <a:p>
                      <a:r>
                        <a:rPr kumimoji="1" lang="en-US" altLang="ja-JP" dirty="0"/>
                        <a:t>C0001</a:t>
                      </a:r>
                      <a:endParaRPr kumimoji="1" lang="ja-JP" altLang="en-US" dirty="0"/>
                    </a:p>
                  </a:txBody>
                  <a:tcPr/>
                </a:tc>
                <a:tc>
                  <a:txBody>
                    <a:bodyPr/>
                    <a:lstStyle/>
                    <a:p>
                      <a:r>
                        <a:rPr kumimoji="1" lang="en-US" altLang="ja-JP" dirty="0"/>
                        <a:t>A</a:t>
                      </a:r>
                      <a:r>
                        <a:rPr kumimoji="1" lang="ja-JP" altLang="en-US" dirty="0"/>
                        <a:t>商事</a:t>
                      </a:r>
                    </a:p>
                  </a:txBody>
                  <a:tcPr/>
                </a:tc>
                <a:extLst>
                  <a:ext uri="{0D108BD9-81ED-4DB2-BD59-A6C34878D82A}">
                    <a16:rowId xmlns:a16="http://schemas.microsoft.com/office/drawing/2014/main" val="4048863321"/>
                  </a:ext>
                </a:extLst>
              </a:tr>
              <a:tr h="370840">
                <a:tc>
                  <a:txBody>
                    <a:bodyPr/>
                    <a:lstStyle/>
                    <a:p>
                      <a:r>
                        <a:rPr kumimoji="1" lang="en-US" altLang="ja-JP" dirty="0"/>
                        <a:t>C0002</a:t>
                      </a:r>
                      <a:endParaRPr kumimoji="1" lang="ja-JP" altLang="en-US" dirty="0"/>
                    </a:p>
                  </a:txBody>
                  <a:tcPr/>
                </a:tc>
                <a:tc>
                  <a:txBody>
                    <a:bodyPr/>
                    <a:lstStyle/>
                    <a:p>
                      <a:r>
                        <a:rPr kumimoji="1" lang="en-US" altLang="ja-JP" dirty="0"/>
                        <a:t>B</a:t>
                      </a:r>
                      <a:r>
                        <a:rPr kumimoji="1" lang="ja-JP" altLang="en-US" dirty="0"/>
                        <a:t>化学</a:t>
                      </a:r>
                    </a:p>
                  </a:txBody>
                  <a:tcPr/>
                </a:tc>
                <a:extLst>
                  <a:ext uri="{0D108BD9-81ED-4DB2-BD59-A6C34878D82A}">
                    <a16:rowId xmlns:a16="http://schemas.microsoft.com/office/drawing/2014/main" val="594273322"/>
                  </a:ext>
                </a:extLst>
              </a:tr>
              <a:tr h="370840">
                <a:tc>
                  <a:txBody>
                    <a:bodyPr/>
                    <a:lstStyle/>
                    <a:p>
                      <a:r>
                        <a:rPr kumimoji="1" lang="en-US" altLang="ja-JP" dirty="0">
                          <a:solidFill>
                            <a:schemeClr val="accent2"/>
                          </a:solidFill>
                        </a:rPr>
                        <a:t>C0003</a:t>
                      </a:r>
                      <a:endParaRPr kumimoji="1" lang="ja-JP" altLang="en-US" dirty="0">
                        <a:solidFill>
                          <a:schemeClr val="accent2"/>
                        </a:solidFill>
                      </a:endParaRPr>
                    </a:p>
                  </a:txBody>
                  <a:tcPr/>
                </a:tc>
                <a:tc>
                  <a:txBody>
                    <a:bodyPr/>
                    <a:lstStyle/>
                    <a:p>
                      <a:r>
                        <a:rPr kumimoji="1" lang="en-US" altLang="ja-JP" dirty="0">
                          <a:solidFill>
                            <a:schemeClr val="accent2"/>
                          </a:solidFill>
                        </a:rPr>
                        <a:t>C</a:t>
                      </a:r>
                      <a:r>
                        <a:rPr kumimoji="1" lang="ja-JP" altLang="en-US" dirty="0">
                          <a:solidFill>
                            <a:schemeClr val="accent2"/>
                          </a:solidFill>
                        </a:rPr>
                        <a:t>建設</a:t>
                      </a:r>
                    </a:p>
                  </a:txBody>
                  <a:tcPr/>
                </a:tc>
                <a:extLst>
                  <a:ext uri="{0D108BD9-81ED-4DB2-BD59-A6C34878D82A}">
                    <a16:rowId xmlns:a16="http://schemas.microsoft.com/office/drawing/2014/main" val="4188556609"/>
                  </a:ext>
                </a:extLst>
              </a:tr>
            </a:tbl>
          </a:graphicData>
        </a:graphic>
      </p:graphicFrame>
      <p:sp>
        <p:nvSpPr>
          <p:cNvPr id="7" name="正方形/長方形 6">
            <a:extLst>
              <a:ext uri="{FF2B5EF4-FFF2-40B4-BE49-F238E27FC236}">
                <a16:creationId xmlns:a16="http://schemas.microsoft.com/office/drawing/2014/main" id="{9DF095EA-2B11-AB45-CC0C-CF18AF909E96}"/>
              </a:ext>
            </a:extLst>
          </p:cNvPr>
          <p:cNvSpPr/>
          <p:nvPr/>
        </p:nvSpPr>
        <p:spPr>
          <a:xfrm>
            <a:off x="7952666" y="329634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第</a:t>
            </a:r>
            <a:r>
              <a:rPr lang="en-US" altLang="ja-JP" sz="1400" dirty="0">
                <a:solidFill>
                  <a:schemeClr val="tx1">
                    <a:lumMod val="75000"/>
                  </a:schemeClr>
                </a:solidFill>
              </a:rPr>
              <a:t>2</a:t>
            </a:r>
            <a:r>
              <a:rPr lang="ja-JP" altLang="en-US" sz="1400" dirty="0">
                <a:solidFill>
                  <a:schemeClr val="tx1">
                    <a:lumMod val="75000"/>
                  </a:schemeClr>
                </a:solidFill>
              </a:rPr>
              <a:t>正規形</a:t>
            </a:r>
            <a:endParaRPr lang="en-US" altLang="ja-JP" sz="1400" dirty="0">
              <a:solidFill>
                <a:schemeClr val="tx1">
                  <a:lumMod val="75000"/>
                </a:schemeClr>
              </a:solidFill>
            </a:endParaRPr>
          </a:p>
          <a:p>
            <a:pPr algn="ctr"/>
            <a:r>
              <a:rPr lang="ja-JP" altLang="en-US" sz="1400" dirty="0">
                <a:solidFill>
                  <a:schemeClr val="tx1">
                    <a:lumMod val="75000"/>
                  </a:schemeClr>
                </a:solidFill>
              </a:rPr>
              <a:t>（会社）</a:t>
            </a:r>
            <a:endParaRPr lang="en-US" altLang="ja-JP" sz="1400" dirty="0">
              <a:solidFill>
                <a:schemeClr val="tx1">
                  <a:lumMod val="75000"/>
                </a:schemeClr>
              </a:solidFill>
            </a:endParaRPr>
          </a:p>
        </p:txBody>
      </p:sp>
      <p:sp>
        <p:nvSpPr>
          <p:cNvPr id="9" name="吹き出し: 線 (枠付き、強調線付き) 8">
            <a:extLst>
              <a:ext uri="{FF2B5EF4-FFF2-40B4-BE49-F238E27FC236}">
                <a16:creationId xmlns:a16="http://schemas.microsoft.com/office/drawing/2014/main" id="{249489D0-78A2-F582-2420-FFDBE341423C}"/>
              </a:ext>
            </a:extLst>
          </p:cNvPr>
          <p:cNvSpPr/>
          <p:nvPr/>
        </p:nvSpPr>
        <p:spPr>
          <a:xfrm>
            <a:off x="4513148" y="5749924"/>
            <a:ext cx="3013390" cy="662435"/>
          </a:xfrm>
          <a:prstGeom prst="accentBorderCallout1">
            <a:avLst>
              <a:gd name="adj1" fmla="val 78218"/>
              <a:gd name="adj2" fmla="val 109510"/>
              <a:gd name="adj3" fmla="val -39117"/>
              <a:gd name="adj4" fmla="val 154396"/>
            </a:avLst>
          </a:prstGeom>
          <a:solidFill>
            <a:schemeClr val="accent1">
              <a:lumMod val="20000"/>
              <a:lumOff val="80000"/>
            </a:schemeClr>
          </a:solid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kumimoji="1" lang="ja-JP" altLang="en-US" b="1" dirty="0">
                <a:solidFill>
                  <a:schemeClr val="accent2"/>
                </a:solidFill>
              </a:rPr>
              <a:t>社員の情報が不明でも、</a:t>
            </a:r>
            <a:br>
              <a:rPr kumimoji="1" lang="en-US" altLang="ja-JP" b="1" dirty="0">
                <a:solidFill>
                  <a:schemeClr val="accent2"/>
                </a:solidFill>
              </a:rPr>
            </a:br>
            <a:r>
              <a:rPr kumimoji="1" lang="ja-JP" altLang="en-US" b="1" dirty="0">
                <a:solidFill>
                  <a:schemeClr val="accent2"/>
                </a:solidFill>
              </a:rPr>
              <a:t>会社の情報を登録できる</a:t>
            </a:r>
          </a:p>
        </p:txBody>
      </p:sp>
    </p:spTree>
    <p:extLst>
      <p:ext uri="{BB962C8B-B14F-4D97-AF65-F5344CB8AC3E}">
        <p14:creationId xmlns:p14="http://schemas.microsoft.com/office/powerpoint/2010/main" val="8313764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8B809-7300-3E2B-A3D0-A7179DEB617C}"/>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1F7E0EED-1BF3-0EE8-D64D-CCBB39286B0E}"/>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1778F9F1-ABD3-53B2-9D31-316969576DC0}"/>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推移的関数従属の解消</a:t>
            </a:r>
            <a:endParaRPr lang="en-US" altLang="ja-JP" sz="2800" dirty="0"/>
          </a:p>
        </p:txBody>
      </p:sp>
      <p:sp>
        <p:nvSpPr>
          <p:cNvPr id="4" name="タイトル プレースホルダー 1">
            <a:extLst>
              <a:ext uri="{FF2B5EF4-FFF2-40B4-BE49-F238E27FC236}">
                <a16:creationId xmlns:a16="http://schemas.microsoft.com/office/drawing/2014/main" id="{041F5748-1245-D3EA-CE2B-FF24AD2C4629}"/>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正規化のステップ　ー第</a:t>
            </a:r>
            <a:r>
              <a:rPr lang="en-US" altLang="ja-JP" dirty="0"/>
              <a:t>3</a:t>
            </a:r>
            <a:r>
              <a:rPr lang="ja-JP" altLang="en-US" dirty="0"/>
              <a:t>正規形ー</a:t>
            </a:r>
            <a:endParaRPr lang="en-US" altLang="ja-JP" dirty="0"/>
          </a:p>
        </p:txBody>
      </p:sp>
      <p:sp>
        <p:nvSpPr>
          <p:cNvPr id="5" name="タイトル プレースホルダー 1">
            <a:extLst>
              <a:ext uri="{FF2B5EF4-FFF2-40B4-BE49-F238E27FC236}">
                <a16:creationId xmlns:a16="http://schemas.microsoft.com/office/drawing/2014/main" id="{8098E5AD-EFBF-46F7-2D1A-D7A6AC242105}"/>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「部署コード」と「部署名」のペアに注目する</a:t>
            </a:r>
            <a:endParaRPr lang="en-US" altLang="ja-JP" sz="1800" dirty="0"/>
          </a:p>
          <a:p>
            <a:pPr marL="285750" indent="-285750">
              <a:buFont typeface="Arial" panose="020B0604020202020204" pitchFamily="34" charset="0"/>
              <a:buChar char="•"/>
            </a:pPr>
            <a:r>
              <a:rPr lang="ja-JP" altLang="en-US" sz="1800" dirty="0"/>
              <a:t>社員テーブルをみると、</a:t>
            </a:r>
            <a:r>
              <a:rPr lang="en-US" altLang="ja-JP" sz="1800" dirty="0"/>
              <a:t>A</a:t>
            </a:r>
            <a:r>
              <a:rPr lang="ja-JP" altLang="en-US" sz="1800" dirty="0"/>
              <a:t>商事には「開発、人事、営業」という</a:t>
            </a:r>
            <a:r>
              <a:rPr lang="en-US" altLang="ja-JP" sz="1800" dirty="0"/>
              <a:t>3</a:t>
            </a:r>
            <a:r>
              <a:rPr lang="ja-JP" altLang="en-US" sz="1800" dirty="0"/>
              <a:t>部署が存在していることがわかる</a:t>
            </a:r>
            <a:endParaRPr lang="en-US" altLang="ja-JP" sz="1800" dirty="0"/>
          </a:p>
          <a:p>
            <a:pPr marL="285750" indent="-285750">
              <a:buFont typeface="Arial" panose="020B0604020202020204" pitchFamily="34" charset="0"/>
              <a:buChar char="•"/>
            </a:pPr>
            <a:r>
              <a:rPr lang="ja-JP" altLang="en-US" sz="1800" dirty="0"/>
              <a:t>実は「広報」という部署も</a:t>
            </a:r>
            <a:r>
              <a:rPr lang="en-US" altLang="ja-JP" sz="1800" dirty="0"/>
              <a:t>A</a:t>
            </a:r>
            <a:r>
              <a:rPr lang="ja-JP" altLang="en-US" sz="1800" dirty="0"/>
              <a:t>商事にはあるかもしれないが、社員情報がそろわない限り、社員テーブルに登録することはできない</a:t>
            </a:r>
            <a:endParaRPr lang="en-US" altLang="ja-JP" sz="1800" dirty="0"/>
          </a:p>
          <a:p>
            <a:pPr marL="285750" indent="-285750">
              <a:buFont typeface="Arial" panose="020B0604020202020204" pitchFamily="34" charset="0"/>
              <a:buChar char="•"/>
            </a:pPr>
            <a:endParaRPr lang="en-US" altLang="ja-JP" sz="1800" dirty="0"/>
          </a:p>
          <a:p>
            <a:pPr marL="285750" indent="-285750">
              <a:buFont typeface="Arial" panose="020B0604020202020204" pitchFamily="34" charset="0"/>
              <a:buChar char="•"/>
            </a:pPr>
            <a:endParaRPr lang="en-US" altLang="ja-JP" sz="1800" b="1"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8" name="正方形/長方形 7">
            <a:extLst>
              <a:ext uri="{FF2B5EF4-FFF2-40B4-BE49-F238E27FC236}">
                <a16:creationId xmlns:a16="http://schemas.microsoft.com/office/drawing/2014/main" id="{74858CFB-E88E-C9F2-C090-5E9AF51FC992}"/>
              </a:ext>
            </a:extLst>
          </p:cNvPr>
          <p:cNvSpPr/>
          <p:nvPr/>
        </p:nvSpPr>
        <p:spPr>
          <a:xfrm>
            <a:off x="405044" y="329634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第</a:t>
            </a:r>
            <a:r>
              <a:rPr lang="en-US" altLang="ja-JP" sz="1400" dirty="0">
                <a:solidFill>
                  <a:schemeClr val="tx1">
                    <a:lumMod val="75000"/>
                  </a:schemeClr>
                </a:solidFill>
              </a:rPr>
              <a:t>2</a:t>
            </a:r>
            <a:r>
              <a:rPr lang="ja-JP" altLang="en-US" sz="1400" dirty="0">
                <a:solidFill>
                  <a:schemeClr val="tx1">
                    <a:lumMod val="75000"/>
                  </a:schemeClr>
                </a:solidFill>
              </a:rPr>
              <a:t>正規形</a:t>
            </a:r>
            <a:endParaRPr lang="en-US" altLang="ja-JP" sz="1400" dirty="0">
              <a:solidFill>
                <a:schemeClr val="tx1">
                  <a:lumMod val="75000"/>
                </a:schemeClr>
              </a:solidFill>
            </a:endParaRPr>
          </a:p>
          <a:p>
            <a:pPr algn="ctr"/>
            <a:r>
              <a:rPr lang="ja-JP" altLang="en-US" sz="1400" dirty="0">
                <a:solidFill>
                  <a:schemeClr val="tx1">
                    <a:lumMod val="75000"/>
                  </a:schemeClr>
                </a:solidFill>
              </a:rPr>
              <a:t>（社員）</a:t>
            </a:r>
            <a:endParaRPr lang="en-US" altLang="ja-JP" sz="1400" dirty="0">
              <a:solidFill>
                <a:schemeClr val="tx1">
                  <a:lumMod val="75000"/>
                </a:schemeClr>
              </a:solidFill>
            </a:endParaRPr>
          </a:p>
        </p:txBody>
      </p:sp>
      <p:graphicFrame>
        <p:nvGraphicFramePr>
          <p:cNvPr id="10" name="表 9">
            <a:extLst>
              <a:ext uri="{FF2B5EF4-FFF2-40B4-BE49-F238E27FC236}">
                <a16:creationId xmlns:a16="http://schemas.microsoft.com/office/drawing/2014/main" id="{BC526701-A016-78E9-F8B3-972793F6394F}"/>
              </a:ext>
            </a:extLst>
          </p:cNvPr>
          <p:cNvGraphicFramePr>
            <a:graphicFrameLocks noGrp="1"/>
          </p:cNvGraphicFramePr>
          <p:nvPr/>
        </p:nvGraphicFramePr>
        <p:xfrm>
          <a:off x="405043" y="3999680"/>
          <a:ext cx="7247034" cy="2590800"/>
        </p:xfrm>
        <a:graphic>
          <a:graphicData uri="http://schemas.openxmlformats.org/drawingml/2006/table">
            <a:tbl>
              <a:tblPr firstRow="1" bandRow="1">
                <a:tableStyleId>{5C22544A-7EE6-4342-B048-85BDC9FD1C3A}</a:tableStyleId>
              </a:tblPr>
              <a:tblGrid>
                <a:gridCol w="1207839">
                  <a:extLst>
                    <a:ext uri="{9D8B030D-6E8A-4147-A177-3AD203B41FA5}">
                      <a16:colId xmlns:a16="http://schemas.microsoft.com/office/drawing/2014/main" val="1430862820"/>
                    </a:ext>
                  </a:extLst>
                </a:gridCol>
                <a:gridCol w="1207839">
                  <a:extLst>
                    <a:ext uri="{9D8B030D-6E8A-4147-A177-3AD203B41FA5}">
                      <a16:colId xmlns:a16="http://schemas.microsoft.com/office/drawing/2014/main" val="313098214"/>
                    </a:ext>
                  </a:extLst>
                </a:gridCol>
                <a:gridCol w="1207839">
                  <a:extLst>
                    <a:ext uri="{9D8B030D-6E8A-4147-A177-3AD203B41FA5}">
                      <a16:colId xmlns:a16="http://schemas.microsoft.com/office/drawing/2014/main" val="1614430523"/>
                    </a:ext>
                  </a:extLst>
                </a:gridCol>
                <a:gridCol w="1207839">
                  <a:extLst>
                    <a:ext uri="{9D8B030D-6E8A-4147-A177-3AD203B41FA5}">
                      <a16:colId xmlns:a16="http://schemas.microsoft.com/office/drawing/2014/main" val="3501686637"/>
                    </a:ext>
                  </a:extLst>
                </a:gridCol>
                <a:gridCol w="1207839">
                  <a:extLst>
                    <a:ext uri="{9D8B030D-6E8A-4147-A177-3AD203B41FA5}">
                      <a16:colId xmlns:a16="http://schemas.microsoft.com/office/drawing/2014/main" val="1513970016"/>
                    </a:ext>
                  </a:extLst>
                </a:gridCol>
                <a:gridCol w="1207839">
                  <a:extLst>
                    <a:ext uri="{9D8B030D-6E8A-4147-A177-3AD203B41FA5}">
                      <a16:colId xmlns:a16="http://schemas.microsoft.com/office/drawing/2014/main" val="2192414002"/>
                    </a:ext>
                  </a:extLst>
                </a:gridCol>
              </a:tblGrid>
              <a:tr h="370840">
                <a:tc>
                  <a:txBody>
                    <a:bodyPr/>
                    <a:lstStyle/>
                    <a:p>
                      <a:r>
                        <a:rPr kumimoji="1" lang="ja-JP" altLang="en-US" u="sng" dirty="0">
                          <a:solidFill>
                            <a:schemeClr val="tx1">
                              <a:lumMod val="75000"/>
                            </a:schemeClr>
                          </a:solidFill>
                        </a:rPr>
                        <a:t>会社コード</a:t>
                      </a:r>
                    </a:p>
                  </a:txBody>
                  <a:tcPr/>
                </a:tc>
                <a:tc>
                  <a:txBody>
                    <a:bodyPr/>
                    <a:lstStyle/>
                    <a:p>
                      <a:r>
                        <a:rPr kumimoji="1" lang="ja-JP" altLang="en-US" u="sng" dirty="0">
                          <a:solidFill>
                            <a:schemeClr val="tx1">
                              <a:lumMod val="75000"/>
                            </a:schemeClr>
                          </a:solidFill>
                        </a:rPr>
                        <a:t>社員</a:t>
                      </a:r>
                      <a:r>
                        <a:rPr kumimoji="1" lang="en-US" altLang="ja-JP" u="sng" dirty="0">
                          <a:solidFill>
                            <a:schemeClr val="tx1">
                              <a:lumMod val="75000"/>
                            </a:schemeClr>
                          </a:solidFill>
                        </a:rPr>
                        <a:t>ID</a:t>
                      </a:r>
                      <a:endParaRPr kumimoji="1" lang="ja-JP" altLang="en-US" u="sng" dirty="0">
                        <a:solidFill>
                          <a:schemeClr val="tx1">
                            <a:lumMod val="75000"/>
                          </a:schemeClr>
                        </a:solidFill>
                      </a:endParaRPr>
                    </a:p>
                  </a:txBody>
                  <a:tcPr/>
                </a:tc>
                <a:tc>
                  <a:txBody>
                    <a:bodyPr/>
                    <a:lstStyle/>
                    <a:p>
                      <a:r>
                        <a:rPr kumimoji="1" lang="ja-JP" altLang="en-US" dirty="0">
                          <a:solidFill>
                            <a:schemeClr val="tx1">
                              <a:lumMod val="75000"/>
                            </a:schemeClr>
                          </a:solidFill>
                        </a:rPr>
                        <a:t>社員名</a:t>
                      </a:r>
                    </a:p>
                  </a:txBody>
                  <a:tcPr/>
                </a:tc>
                <a:tc>
                  <a:txBody>
                    <a:bodyPr/>
                    <a:lstStyle/>
                    <a:p>
                      <a:r>
                        <a:rPr kumimoji="1" lang="ja-JP" altLang="en-US" dirty="0">
                          <a:solidFill>
                            <a:schemeClr val="tx1">
                              <a:lumMod val="75000"/>
                            </a:schemeClr>
                          </a:solidFill>
                        </a:rPr>
                        <a:t>年齢</a:t>
                      </a:r>
                    </a:p>
                  </a:txBody>
                  <a:tcPr/>
                </a:tc>
                <a:tc>
                  <a:txBody>
                    <a:bodyPr/>
                    <a:lstStyle/>
                    <a:p>
                      <a:r>
                        <a:rPr kumimoji="1" lang="ja-JP" altLang="en-US" dirty="0">
                          <a:solidFill>
                            <a:schemeClr val="tx1">
                              <a:lumMod val="75000"/>
                            </a:schemeClr>
                          </a:solidFill>
                        </a:rPr>
                        <a:t>部署コード</a:t>
                      </a:r>
                    </a:p>
                  </a:txBody>
                  <a:tcPr/>
                </a:tc>
                <a:tc>
                  <a:txBody>
                    <a:bodyPr/>
                    <a:lstStyle/>
                    <a:p>
                      <a:r>
                        <a:rPr kumimoji="1" lang="ja-JP" altLang="en-US" dirty="0">
                          <a:solidFill>
                            <a:schemeClr val="tx1">
                              <a:lumMod val="75000"/>
                            </a:schemeClr>
                          </a:solidFill>
                        </a:rPr>
                        <a:t>部署名</a:t>
                      </a:r>
                    </a:p>
                  </a:txBody>
                  <a:tcPr/>
                </a:tc>
                <a:extLst>
                  <a:ext uri="{0D108BD9-81ED-4DB2-BD59-A6C34878D82A}">
                    <a16:rowId xmlns:a16="http://schemas.microsoft.com/office/drawing/2014/main" val="2035072520"/>
                  </a:ext>
                </a:extLst>
              </a:tr>
              <a:tr h="370840">
                <a:tc>
                  <a:txBody>
                    <a:bodyPr/>
                    <a:lstStyle/>
                    <a:p>
                      <a:r>
                        <a:rPr kumimoji="1" lang="en-US" altLang="ja-JP" dirty="0"/>
                        <a:t>C0001</a:t>
                      </a:r>
                      <a:endParaRPr kumimoji="1" lang="ja-JP" altLang="en-US" dirty="0"/>
                    </a:p>
                  </a:txBody>
                  <a:tcPr/>
                </a:tc>
                <a:tc>
                  <a:txBody>
                    <a:bodyPr/>
                    <a:lstStyle/>
                    <a:p>
                      <a:r>
                        <a:rPr kumimoji="1" lang="en-US" altLang="ja-JP" dirty="0"/>
                        <a:t>000A</a:t>
                      </a:r>
                      <a:endParaRPr kumimoji="1" lang="ja-JP" altLang="en-US" dirty="0"/>
                    </a:p>
                  </a:txBody>
                  <a:tcPr/>
                </a:tc>
                <a:tc>
                  <a:txBody>
                    <a:bodyPr/>
                    <a:lstStyle/>
                    <a:p>
                      <a:r>
                        <a:rPr kumimoji="1" lang="ja-JP" altLang="en-US" dirty="0"/>
                        <a:t>加藤</a:t>
                      </a:r>
                    </a:p>
                  </a:txBody>
                  <a:tcPr/>
                </a:tc>
                <a:tc>
                  <a:txBody>
                    <a:bodyPr/>
                    <a:lstStyle/>
                    <a:p>
                      <a:r>
                        <a:rPr kumimoji="1" lang="en-US" altLang="ja-JP" dirty="0"/>
                        <a:t>40</a:t>
                      </a:r>
                      <a:endParaRPr kumimoji="1" lang="ja-JP" altLang="en-US" dirty="0"/>
                    </a:p>
                  </a:txBody>
                  <a:tcPr/>
                </a:tc>
                <a:tc>
                  <a:txBody>
                    <a:bodyPr/>
                    <a:lstStyle/>
                    <a:p>
                      <a:r>
                        <a:rPr kumimoji="1" lang="en-US" altLang="ja-JP" dirty="0"/>
                        <a:t>D01</a:t>
                      </a:r>
                      <a:endParaRPr kumimoji="1" lang="ja-JP" altLang="en-US" dirty="0"/>
                    </a:p>
                  </a:txBody>
                  <a:tcPr/>
                </a:tc>
                <a:tc>
                  <a:txBody>
                    <a:bodyPr/>
                    <a:lstStyle/>
                    <a:p>
                      <a:r>
                        <a:rPr kumimoji="1" lang="ja-JP" altLang="en-US" dirty="0"/>
                        <a:t>開発</a:t>
                      </a:r>
                    </a:p>
                  </a:txBody>
                  <a:tcPr/>
                </a:tc>
                <a:extLst>
                  <a:ext uri="{0D108BD9-81ED-4DB2-BD59-A6C34878D82A}">
                    <a16:rowId xmlns:a16="http://schemas.microsoft.com/office/drawing/2014/main" val="3787714943"/>
                  </a:ext>
                </a:extLst>
              </a:tr>
              <a:tr h="370840">
                <a:tc>
                  <a:txBody>
                    <a:bodyPr/>
                    <a:lstStyle/>
                    <a:p>
                      <a:r>
                        <a:rPr kumimoji="1" lang="en-US" altLang="ja-JP" dirty="0"/>
                        <a:t>C0001</a:t>
                      </a:r>
                      <a:endParaRPr kumimoji="1" lang="ja-JP" altLang="en-US" dirty="0"/>
                    </a:p>
                  </a:txBody>
                  <a:tcPr/>
                </a:tc>
                <a:tc>
                  <a:txBody>
                    <a:bodyPr/>
                    <a:lstStyle/>
                    <a:p>
                      <a:r>
                        <a:rPr kumimoji="1" lang="en-US" altLang="ja-JP" dirty="0"/>
                        <a:t>000B</a:t>
                      </a:r>
                      <a:endParaRPr kumimoji="1" lang="ja-JP" altLang="en-US" dirty="0"/>
                    </a:p>
                  </a:txBody>
                  <a:tcPr/>
                </a:tc>
                <a:tc>
                  <a:txBody>
                    <a:bodyPr/>
                    <a:lstStyle/>
                    <a:p>
                      <a:r>
                        <a:rPr kumimoji="1" lang="ja-JP" altLang="en-US" dirty="0"/>
                        <a:t>藤本</a:t>
                      </a:r>
                    </a:p>
                  </a:txBody>
                  <a:tcPr/>
                </a:tc>
                <a:tc>
                  <a:txBody>
                    <a:bodyPr/>
                    <a:lstStyle/>
                    <a:p>
                      <a:r>
                        <a:rPr kumimoji="1" lang="en-US" altLang="ja-JP" dirty="0"/>
                        <a:t>32</a:t>
                      </a:r>
                      <a:endParaRPr kumimoji="1" lang="ja-JP" altLang="en-US" dirty="0"/>
                    </a:p>
                  </a:txBody>
                  <a:tcPr/>
                </a:tc>
                <a:tc>
                  <a:txBody>
                    <a:bodyPr/>
                    <a:lstStyle/>
                    <a:p>
                      <a:r>
                        <a:rPr kumimoji="1" lang="en-US" altLang="ja-JP" dirty="0"/>
                        <a:t>D02</a:t>
                      </a:r>
                      <a:endParaRPr kumimoji="1" lang="ja-JP" altLang="en-US" dirty="0"/>
                    </a:p>
                  </a:txBody>
                  <a:tcPr/>
                </a:tc>
                <a:tc>
                  <a:txBody>
                    <a:bodyPr/>
                    <a:lstStyle/>
                    <a:p>
                      <a:r>
                        <a:rPr kumimoji="1" lang="ja-JP" altLang="en-US" dirty="0"/>
                        <a:t>人事</a:t>
                      </a:r>
                    </a:p>
                  </a:txBody>
                  <a:tcPr/>
                </a:tc>
                <a:extLst>
                  <a:ext uri="{0D108BD9-81ED-4DB2-BD59-A6C34878D82A}">
                    <a16:rowId xmlns:a16="http://schemas.microsoft.com/office/drawing/2014/main" val="532976586"/>
                  </a:ext>
                </a:extLst>
              </a:tr>
              <a:tr h="370840">
                <a:tc>
                  <a:txBody>
                    <a:bodyPr/>
                    <a:lstStyle/>
                    <a:p>
                      <a:r>
                        <a:rPr kumimoji="1" lang="en-US" altLang="ja-JP" dirty="0"/>
                        <a:t>C0001</a:t>
                      </a:r>
                      <a:endParaRPr kumimoji="1" lang="ja-JP" altLang="en-US" dirty="0"/>
                    </a:p>
                  </a:txBody>
                  <a:tcPr/>
                </a:tc>
                <a:tc>
                  <a:txBody>
                    <a:bodyPr/>
                    <a:lstStyle/>
                    <a:p>
                      <a:r>
                        <a:rPr kumimoji="1" lang="en-US" altLang="ja-JP" dirty="0"/>
                        <a:t>001F</a:t>
                      </a:r>
                      <a:endParaRPr kumimoji="1" lang="ja-JP" altLang="en-US" dirty="0"/>
                    </a:p>
                  </a:txBody>
                  <a:tcPr/>
                </a:tc>
                <a:tc>
                  <a:txBody>
                    <a:bodyPr/>
                    <a:lstStyle/>
                    <a:p>
                      <a:r>
                        <a:rPr kumimoji="1" lang="ja-JP" altLang="en-US" dirty="0"/>
                        <a:t>三島</a:t>
                      </a:r>
                    </a:p>
                  </a:txBody>
                  <a:tcPr/>
                </a:tc>
                <a:tc>
                  <a:txBody>
                    <a:bodyPr/>
                    <a:lstStyle/>
                    <a:p>
                      <a:r>
                        <a:rPr kumimoji="1" lang="en-US" altLang="ja-JP" dirty="0"/>
                        <a:t>50</a:t>
                      </a:r>
                      <a:endParaRPr kumimoji="1" lang="ja-JP" altLang="en-US" dirty="0"/>
                    </a:p>
                  </a:txBody>
                  <a:tcPr/>
                </a:tc>
                <a:tc>
                  <a:txBody>
                    <a:bodyPr/>
                    <a:lstStyle/>
                    <a:p>
                      <a:r>
                        <a:rPr kumimoji="1" lang="en-US" altLang="ja-JP" dirty="0"/>
                        <a:t>D03</a:t>
                      </a:r>
                      <a:endParaRPr kumimoji="1" lang="ja-JP" altLang="en-US" dirty="0"/>
                    </a:p>
                  </a:txBody>
                  <a:tcPr/>
                </a:tc>
                <a:tc>
                  <a:txBody>
                    <a:bodyPr/>
                    <a:lstStyle/>
                    <a:p>
                      <a:r>
                        <a:rPr kumimoji="1" lang="ja-JP" altLang="en-US" dirty="0"/>
                        <a:t>営業</a:t>
                      </a:r>
                    </a:p>
                  </a:txBody>
                  <a:tcPr/>
                </a:tc>
                <a:extLst>
                  <a:ext uri="{0D108BD9-81ED-4DB2-BD59-A6C34878D82A}">
                    <a16:rowId xmlns:a16="http://schemas.microsoft.com/office/drawing/2014/main" val="3616448333"/>
                  </a:ext>
                </a:extLst>
              </a:tr>
              <a:tr h="370840">
                <a:tc>
                  <a:txBody>
                    <a:bodyPr/>
                    <a:lstStyle/>
                    <a:p>
                      <a:r>
                        <a:rPr kumimoji="1" lang="en-US" altLang="ja-JP" dirty="0"/>
                        <a:t>C0002</a:t>
                      </a:r>
                      <a:endParaRPr kumimoji="1" lang="ja-JP" altLang="en-US" dirty="0"/>
                    </a:p>
                  </a:txBody>
                  <a:tcPr/>
                </a:tc>
                <a:tc>
                  <a:txBody>
                    <a:bodyPr/>
                    <a:lstStyle/>
                    <a:p>
                      <a:r>
                        <a:rPr kumimoji="1" lang="en-US" altLang="ja-JP" dirty="0"/>
                        <a:t>000A</a:t>
                      </a:r>
                      <a:endParaRPr kumimoji="1" lang="ja-JP" altLang="en-US" dirty="0"/>
                    </a:p>
                  </a:txBody>
                  <a:tcPr/>
                </a:tc>
                <a:tc>
                  <a:txBody>
                    <a:bodyPr/>
                    <a:lstStyle/>
                    <a:p>
                      <a:r>
                        <a:rPr kumimoji="1" lang="ja-JP" altLang="en-US" dirty="0"/>
                        <a:t>斎藤</a:t>
                      </a:r>
                    </a:p>
                  </a:txBody>
                  <a:tcPr/>
                </a:tc>
                <a:tc>
                  <a:txBody>
                    <a:bodyPr/>
                    <a:lstStyle/>
                    <a:p>
                      <a:r>
                        <a:rPr kumimoji="1" lang="en-US" altLang="ja-JP" dirty="0"/>
                        <a:t>47</a:t>
                      </a:r>
                      <a:endParaRPr kumimoji="1" lang="ja-JP" altLang="en-US" dirty="0"/>
                    </a:p>
                  </a:txBody>
                  <a:tcPr/>
                </a:tc>
                <a:tc>
                  <a:txBody>
                    <a:bodyPr/>
                    <a:lstStyle/>
                    <a:p>
                      <a:r>
                        <a:rPr kumimoji="1" lang="en-US" altLang="ja-JP" dirty="0"/>
                        <a:t>D03</a:t>
                      </a:r>
                      <a:endParaRPr kumimoji="1" lang="ja-JP" altLang="en-US" dirty="0"/>
                    </a:p>
                  </a:txBody>
                  <a:tcPr/>
                </a:tc>
                <a:tc>
                  <a:txBody>
                    <a:bodyPr/>
                    <a:lstStyle/>
                    <a:p>
                      <a:r>
                        <a:rPr kumimoji="1" lang="ja-JP" altLang="en-US" dirty="0"/>
                        <a:t>営業</a:t>
                      </a:r>
                    </a:p>
                  </a:txBody>
                  <a:tcPr/>
                </a:tc>
                <a:extLst>
                  <a:ext uri="{0D108BD9-81ED-4DB2-BD59-A6C34878D82A}">
                    <a16:rowId xmlns:a16="http://schemas.microsoft.com/office/drawing/2014/main" val="433193485"/>
                  </a:ext>
                </a:extLst>
              </a:tr>
              <a:tr h="0">
                <a:tc>
                  <a:txBody>
                    <a:bodyPr/>
                    <a:lstStyle/>
                    <a:p>
                      <a:r>
                        <a:rPr kumimoji="1" lang="en-US" altLang="ja-JP" dirty="0"/>
                        <a:t>C0002</a:t>
                      </a:r>
                      <a:endParaRPr kumimoji="1" lang="ja-JP" altLang="en-US" dirty="0"/>
                    </a:p>
                  </a:txBody>
                  <a:tcPr/>
                </a:tc>
                <a:tc>
                  <a:txBody>
                    <a:bodyPr/>
                    <a:lstStyle/>
                    <a:p>
                      <a:r>
                        <a:rPr kumimoji="1" lang="en-US" altLang="ja-JP" dirty="0"/>
                        <a:t>009F</a:t>
                      </a:r>
                      <a:endParaRPr kumimoji="1" lang="ja-JP" altLang="en-US" dirty="0"/>
                    </a:p>
                  </a:txBody>
                  <a:tcPr/>
                </a:tc>
                <a:tc>
                  <a:txBody>
                    <a:bodyPr/>
                    <a:lstStyle/>
                    <a:p>
                      <a:r>
                        <a:rPr kumimoji="1" lang="ja-JP" altLang="en-US" dirty="0"/>
                        <a:t>田島</a:t>
                      </a:r>
                    </a:p>
                  </a:txBody>
                  <a:tcPr/>
                </a:tc>
                <a:tc>
                  <a:txBody>
                    <a:bodyPr/>
                    <a:lstStyle/>
                    <a:p>
                      <a:r>
                        <a:rPr kumimoji="1" lang="en-US" altLang="ja-JP" dirty="0"/>
                        <a:t>25</a:t>
                      </a:r>
                      <a:endParaRPr kumimoji="1" lang="ja-JP" altLang="en-US" dirty="0"/>
                    </a:p>
                  </a:txBody>
                  <a:tcPr/>
                </a:tc>
                <a:tc>
                  <a:txBody>
                    <a:bodyPr/>
                    <a:lstStyle/>
                    <a:p>
                      <a:r>
                        <a:rPr kumimoji="1" lang="en-US" altLang="ja-JP" dirty="0"/>
                        <a:t>D01</a:t>
                      </a:r>
                      <a:endParaRPr kumimoji="1" lang="ja-JP" altLang="en-US" dirty="0"/>
                    </a:p>
                  </a:txBody>
                  <a:tcPr/>
                </a:tc>
                <a:tc>
                  <a:txBody>
                    <a:bodyPr/>
                    <a:lstStyle/>
                    <a:p>
                      <a:r>
                        <a:rPr kumimoji="1" lang="ja-JP" altLang="en-US" dirty="0"/>
                        <a:t>開発</a:t>
                      </a:r>
                    </a:p>
                  </a:txBody>
                  <a:tcPr/>
                </a:tc>
                <a:extLst>
                  <a:ext uri="{0D108BD9-81ED-4DB2-BD59-A6C34878D82A}">
                    <a16:rowId xmlns:a16="http://schemas.microsoft.com/office/drawing/2014/main" val="707118752"/>
                  </a:ext>
                </a:extLst>
              </a:tr>
              <a:tr h="370840">
                <a:tc>
                  <a:txBody>
                    <a:bodyPr/>
                    <a:lstStyle/>
                    <a:p>
                      <a:r>
                        <a:rPr kumimoji="1" lang="en-US" altLang="ja-JP" dirty="0"/>
                        <a:t>C0002</a:t>
                      </a:r>
                      <a:endParaRPr kumimoji="1" lang="ja-JP" altLang="en-US" dirty="0"/>
                    </a:p>
                  </a:txBody>
                  <a:tcPr/>
                </a:tc>
                <a:tc>
                  <a:txBody>
                    <a:bodyPr/>
                    <a:lstStyle/>
                    <a:p>
                      <a:r>
                        <a:rPr kumimoji="1" lang="en-US" altLang="ja-JP" dirty="0"/>
                        <a:t>010A</a:t>
                      </a:r>
                      <a:endParaRPr kumimoji="1" lang="ja-JP" altLang="en-US" dirty="0"/>
                    </a:p>
                  </a:txBody>
                  <a:tcPr/>
                </a:tc>
                <a:tc>
                  <a:txBody>
                    <a:bodyPr/>
                    <a:lstStyle/>
                    <a:p>
                      <a:r>
                        <a:rPr kumimoji="1" lang="ja-JP" altLang="en-US" dirty="0"/>
                        <a:t>渋谷</a:t>
                      </a:r>
                    </a:p>
                  </a:txBody>
                  <a:tcPr/>
                </a:tc>
                <a:tc>
                  <a:txBody>
                    <a:bodyPr/>
                    <a:lstStyle/>
                    <a:p>
                      <a:r>
                        <a:rPr kumimoji="1" lang="en-US" altLang="ja-JP" dirty="0"/>
                        <a:t>33</a:t>
                      </a:r>
                      <a:endParaRPr kumimoji="1" lang="ja-JP" altLang="en-US" dirty="0"/>
                    </a:p>
                  </a:txBody>
                  <a:tcPr/>
                </a:tc>
                <a:tc>
                  <a:txBody>
                    <a:bodyPr/>
                    <a:lstStyle/>
                    <a:p>
                      <a:r>
                        <a:rPr kumimoji="1" lang="en-US" altLang="ja-JP" dirty="0"/>
                        <a:t>D04</a:t>
                      </a:r>
                      <a:endParaRPr kumimoji="1" lang="ja-JP" altLang="en-US" dirty="0"/>
                    </a:p>
                  </a:txBody>
                  <a:tcPr/>
                </a:tc>
                <a:tc>
                  <a:txBody>
                    <a:bodyPr/>
                    <a:lstStyle/>
                    <a:p>
                      <a:r>
                        <a:rPr kumimoji="1" lang="ja-JP" altLang="en-US" dirty="0"/>
                        <a:t>総務</a:t>
                      </a:r>
                    </a:p>
                  </a:txBody>
                  <a:tcPr/>
                </a:tc>
                <a:extLst>
                  <a:ext uri="{0D108BD9-81ED-4DB2-BD59-A6C34878D82A}">
                    <a16:rowId xmlns:a16="http://schemas.microsoft.com/office/drawing/2014/main" val="3593766194"/>
                  </a:ext>
                </a:extLst>
              </a:tr>
            </a:tbl>
          </a:graphicData>
        </a:graphic>
      </p:graphicFrame>
      <p:graphicFrame>
        <p:nvGraphicFramePr>
          <p:cNvPr id="6" name="表 5">
            <a:extLst>
              <a:ext uri="{FF2B5EF4-FFF2-40B4-BE49-F238E27FC236}">
                <a16:creationId xmlns:a16="http://schemas.microsoft.com/office/drawing/2014/main" id="{E1BD266F-4D79-F038-1A7B-B4BFC50EC12B}"/>
              </a:ext>
            </a:extLst>
          </p:cNvPr>
          <p:cNvGraphicFramePr>
            <a:graphicFrameLocks noGrp="1"/>
          </p:cNvGraphicFramePr>
          <p:nvPr>
            <p:extLst>
              <p:ext uri="{D42A27DB-BD31-4B8C-83A1-F6EECF244321}">
                <p14:modId xmlns:p14="http://schemas.microsoft.com/office/powerpoint/2010/main" val="2671222220"/>
              </p:ext>
            </p:extLst>
          </p:nvPr>
        </p:nvGraphicFramePr>
        <p:xfrm>
          <a:off x="7952666" y="3999680"/>
          <a:ext cx="2701770" cy="1114398"/>
        </p:xfrm>
        <a:graphic>
          <a:graphicData uri="http://schemas.openxmlformats.org/drawingml/2006/table">
            <a:tbl>
              <a:tblPr firstRow="1" bandRow="1">
                <a:tableStyleId>{5C22544A-7EE6-4342-B048-85BDC9FD1C3A}</a:tableStyleId>
              </a:tblPr>
              <a:tblGrid>
                <a:gridCol w="1350885">
                  <a:extLst>
                    <a:ext uri="{9D8B030D-6E8A-4147-A177-3AD203B41FA5}">
                      <a16:colId xmlns:a16="http://schemas.microsoft.com/office/drawing/2014/main" val="125754055"/>
                    </a:ext>
                  </a:extLst>
                </a:gridCol>
                <a:gridCol w="1350885">
                  <a:extLst>
                    <a:ext uri="{9D8B030D-6E8A-4147-A177-3AD203B41FA5}">
                      <a16:colId xmlns:a16="http://schemas.microsoft.com/office/drawing/2014/main" val="3136733704"/>
                    </a:ext>
                  </a:extLst>
                </a:gridCol>
              </a:tblGrid>
              <a:tr h="206893">
                <a:tc>
                  <a:txBody>
                    <a:bodyPr/>
                    <a:lstStyle/>
                    <a:p>
                      <a:r>
                        <a:rPr kumimoji="1" lang="ja-JP" altLang="en-US" u="sng" dirty="0">
                          <a:solidFill>
                            <a:schemeClr val="tx1">
                              <a:lumMod val="75000"/>
                            </a:schemeClr>
                          </a:solidFill>
                        </a:rPr>
                        <a:t>会社コード</a:t>
                      </a:r>
                    </a:p>
                  </a:txBody>
                  <a:tcPr/>
                </a:tc>
                <a:tc>
                  <a:txBody>
                    <a:bodyPr/>
                    <a:lstStyle/>
                    <a:p>
                      <a:r>
                        <a:rPr kumimoji="1" lang="ja-JP" altLang="en-US" dirty="0">
                          <a:solidFill>
                            <a:schemeClr val="tx1">
                              <a:lumMod val="75000"/>
                            </a:schemeClr>
                          </a:solidFill>
                        </a:rPr>
                        <a:t>会社名</a:t>
                      </a:r>
                    </a:p>
                  </a:txBody>
                  <a:tcPr/>
                </a:tc>
                <a:extLst>
                  <a:ext uri="{0D108BD9-81ED-4DB2-BD59-A6C34878D82A}">
                    <a16:rowId xmlns:a16="http://schemas.microsoft.com/office/drawing/2014/main" val="4058254409"/>
                  </a:ext>
                </a:extLst>
              </a:tr>
              <a:tr h="377798">
                <a:tc>
                  <a:txBody>
                    <a:bodyPr/>
                    <a:lstStyle/>
                    <a:p>
                      <a:r>
                        <a:rPr kumimoji="1" lang="en-US" altLang="ja-JP" dirty="0"/>
                        <a:t>C0001</a:t>
                      </a:r>
                      <a:endParaRPr kumimoji="1" lang="ja-JP" altLang="en-US" dirty="0"/>
                    </a:p>
                  </a:txBody>
                  <a:tcPr/>
                </a:tc>
                <a:tc>
                  <a:txBody>
                    <a:bodyPr/>
                    <a:lstStyle/>
                    <a:p>
                      <a:r>
                        <a:rPr kumimoji="1" lang="en-US" altLang="ja-JP" dirty="0"/>
                        <a:t>A</a:t>
                      </a:r>
                      <a:r>
                        <a:rPr kumimoji="1" lang="ja-JP" altLang="en-US" dirty="0"/>
                        <a:t>商事</a:t>
                      </a:r>
                    </a:p>
                  </a:txBody>
                  <a:tcPr/>
                </a:tc>
                <a:extLst>
                  <a:ext uri="{0D108BD9-81ED-4DB2-BD59-A6C34878D82A}">
                    <a16:rowId xmlns:a16="http://schemas.microsoft.com/office/drawing/2014/main" val="4048863321"/>
                  </a:ext>
                </a:extLst>
              </a:tr>
              <a:tr h="370840">
                <a:tc>
                  <a:txBody>
                    <a:bodyPr/>
                    <a:lstStyle/>
                    <a:p>
                      <a:r>
                        <a:rPr kumimoji="1" lang="en-US" altLang="ja-JP" dirty="0"/>
                        <a:t>C0002</a:t>
                      </a:r>
                      <a:endParaRPr kumimoji="1" lang="ja-JP" altLang="en-US" dirty="0"/>
                    </a:p>
                  </a:txBody>
                  <a:tcPr/>
                </a:tc>
                <a:tc>
                  <a:txBody>
                    <a:bodyPr/>
                    <a:lstStyle/>
                    <a:p>
                      <a:r>
                        <a:rPr kumimoji="1" lang="en-US" altLang="ja-JP" dirty="0"/>
                        <a:t>B</a:t>
                      </a:r>
                      <a:r>
                        <a:rPr kumimoji="1" lang="ja-JP" altLang="en-US" dirty="0"/>
                        <a:t>化学</a:t>
                      </a:r>
                    </a:p>
                  </a:txBody>
                  <a:tcPr/>
                </a:tc>
                <a:extLst>
                  <a:ext uri="{0D108BD9-81ED-4DB2-BD59-A6C34878D82A}">
                    <a16:rowId xmlns:a16="http://schemas.microsoft.com/office/drawing/2014/main" val="594273322"/>
                  </a:ext>
                </a:extLst>
              </a:tr>
            </a:tbl>
          </a:graphicData>
        </a:graphic>
      </p:graphicFrame>
      <p:sp>
        <p:nvSpPr>
          <p:cNvPr id="7" name="正方形/長方形 6">
            <a:extLst>
              <a:ext uri="{FF2B5EF4-FFF2-40B4-BE49-F238E27FC236}">
                <a16:creationId xmlns:a16="http://schemas.microsoft.com/office/drawing/2014/main" id="{06A90654-EC43-3B67-2E56-7426F26AACF7}"/>
              </a:ext>
            </a:extLst>
          </p:cNvPr>
          <p:cNvSpPr/>
          <p:nvPr/>
        </p:nvSpPr>
        <p:spPr>
          <a:xfrm>
            <a:off x="7952666" y="329634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第</a:t>
            </a:r>
            <a:r>
              <a:rPr lang="en-US" altLang="ja-JP" sz="1400" dirty="0">
                <a:solidFill>
                  <a:schemeClr val="tx1">
                    <a:lumMod val="75000"/>
                  </a:schemeClr>
                </a:solidFill>
              </a:rPr>
              <a:t>2</a:t>
            </a:r>
            <a:r>
              <a:rPr lang="ja-JP" altLang="en-US" sz="1400" dirty="0">
                <a:solidFill>
                  <a:schemeClr val="tx1">
                    <a:lumMod val="75000"/>
                  </a:schemeClr>
                </a:solidFill>
              </a:rPr>
              <a:t>正規形</a:t>
            </a:r>
            <a:endParaRPr lang="en-US" altLang="ja-JP" sz="1400" dirty="0">
              <a:solidFill>
                <a:schemeClr val="tx1">
                  <a:lumMod val="75000"/>
                </a:schemeClr>
              </a:solidFill>
            </a:endParaRPr>
          </a:p>
          <a:p>
            <a:pPr algn="ctr"/>
            <a:r>
              <a:rPr lang="ja-JP" altLang="en-US" sz="1400" dirty="0">
                <a:solidFill>
                  <a:schemeClr val="tx1">
                    <a:lumMod val="75000"/>
                  </a:schemeClr>
                </a:solidFill>
              </a:rPr>
              <a:t>（会社）</a:t>
            </a:r>
            <a:endParaRPr lang="en-US" altLang="ja-JP" sz="1400" dirty="0">
              <a:solidFill>
                <a:schemeClr val="tx1">
                  <a:lumMod val="75000"/>
                </a:schemeClr>
              </a:solidFill>
            </a:endParaRPr>
          </a:p>
        </p:txBody>
      </p:sp>
    </p:spTree>
    <p:extLst>
      <p:ext uri="{BB962C8B-B14F-4D97-AF65-F5344CB8AC3E}">
        <p14:creationId xmlns:p14="http://schemas.microsoft.com/office/powerpoint/2010/main" val="3371246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9485B-8458-F32D-67EA-7EA972ED3D91}"/>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88290DD2-641D-DE4F-C2F9-522259BD457A}"/>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C8E3CC8A-7A98-3105-9464-5CEA0B5053CC}"/>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推移的関数従属の解消</a:t>
            </a:r>
            <a:endParaRPr lang="en-US" altLang="ja-JP" sz="2800" dirty="0"/>
          </a:p>
        </p:txBody>
      </p:sp>
      <p:sp>
        <p:nvSpPr>
          <p:cNvPr id="4" name="タイトル プレースホルダー 1">
            <a:extLst>
              <a:ext uri="{FF2B5EF4-FFF2-40B4-BE49-F238E27FC236}">
                <a16:creationId xmlns:a16="http://schemas.microsoft.com/office/drawing/2014/main" id="{41741E8E-98D6-D571-DB84-33853812E488}"/>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正規化のステップ　ー第</a:t>
            </a:r>
            <a:r>
              <a:rPr lang="en-US" altLang="ja-JP" dirty="0"/>
              <a:t>3</a:t>
            </a:r>
            <a:r>
              <a:rPr lang="ja-JP" altLang="en-US" dirty="0"/>
              <a:t>正規形ー</a:t>
            </a:r>
            <a:endParaRPr lang="en-US" altLang="ja-JP" dirty="0"/>
          </a:p>
        </p:txBody>
      </p:sp>
      <p:sp>
        <p:nvSpPr>
          <p:cNvPr id="5" name="タイトル プレースホルダー 1">
            <a:extLst>
              <a:ext uri="{FF2B5EF4-FFF2-40B4-BE49-F238E27FC236}">
                <a16:creationId xmlns:a16="http://schemas.microsoft.com/office/drawing/2014/main" id="{DA85E8CF-50F6-EFB4-BB2C-45C70B9BE70F}"/>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推移的関数従属によるデータ登録時の不都合を解消するには第</a:t>
            </a:r>
            <a:r>
              <a:rPr lang="en-US" altLang="ja-JP" sz="1800" dirty="0"/>
              <a:t>2</a:t>
            </a:r>
            <a:r>
              <a:rPr lang="ja-JP" altLang="en-US" sz="1800" dirty="0"/>
              <a:t>正規化のときと同じように、テーブルを分割する</a:t>
            </a:r>
            <a:endParaRPr lang="en-US" altLang="ja-JP" sz="1800" dirty="0"/>
          </a:p>
          <a:p>
            <a:pPr marL="285750" indent="-285750">
              <a:buFont typeface="Arial" panose="020B0604020202020204" pitchFamily="34" charset="0"/>
              <a:buChar char="•"/>
            </a:pPr>
            <a:r>
              <a:rPr lang="ja-JP" altLang="en-US" sz="1800" dirty="0"/>
              <a:t>「部署」テーブルを独立させることで、すべてのテーブルについて、非キー列はキー列に対してのみ従属するようになった</a:t>
            </a:r>
            <a:endParaRPr lang="en-US" altLang="ja-JP" sz="1800" dirty="0"/>
          </a:p>
          <a:p>
            <a:pPr marL="285750" indent="-285750">
              <a:buFont typeface="Arial" panose="020B0604020202020204" pitchFamily="34" charset="0"/>
              <a:buChar char="•"/>
            </a:pPr>
            <a:r>
              <a:rPr lang="ja-JP" altLang="en-US" sz="1800" dirty="0"/>
              <a:t>一人もいない部署を登録できない、という問題を解消することができた</a:t>
            </a:r>
            <a:endParaRPr lang="en-US" altLang="ja-JP" sz="1800" dirty="0"/>
          </a:p>
          <a:p>
            <a:pPr marL="285750" indent="-285750">
              <a:buFont typeface="Arial" panose="020B0604020202020204" pitchFamily="34" charset="0"/>
              <a:buChar char="•"/>
            </a:pPr>
            <a:endParaRPr lang="en-US" altLang="ja-JP" sz="1800" dirty="0"/>
          </a:p>
          <a:p>
            <a:pPr marL="285750" indent="-285750">
              <a:buFont typeface="Arial" panose="020B0604020202020204" pitchFamily="34" charset="0"/>
              <a:buChar char="•"/>
            </a:pPr>
            <a:endParaRPr lang="en-US" altLang="ja-JP" sz="1800" b="1"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8" name="正方形/長方形 7">
            <a:extLst>
              <a:ext uri="{FF2B5EF4-FFF2-40B4-BE49-F238E27FC236}">
                <a16:creationId xmlns:a16="http://schemas.microsoft.com/office/drawing/2014/main" id="{12221268-116C-D61D-D412-AB0F9EED4AE8}"/>
              </a:ext>
            </a:extLst>
          </p:cNvPr>
          <p:cNvSpPr/>
          <p:nvPr/>
        </p:nvSpPr>
        <p:spPr>
          <a:xfrm>
            <a:off x="342899" y="329634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第</a:t>
            </a:r>
            <a:r>
              <a:rPr lang="en-US" altLang="ja-JP" sz="1400" dirty="0">
                <a:solidFill>
                  <a:schemeClr val="tx1">
                    <a:lumMod val="75000"/>
                  </a:schemeClr>
                </a:solidFill>
              </a:rPr>
              <a:t>3</a:t>
            </a:r>
            <a:r>
              <a:rPr lang="ja-JP" altLang="en-US" sz="1400" dirty="0">
                <a:solidFill>
                  <a:schemeClr val="tx1">
                    <a:lumMod val="75000"/>
                  </a:schemeClr>
                </a:solidFill>
              </a:rPr>
              <a:t>正規形</a:t>
            </a:r>
            <a:endParaRPr lang="en-US" altLang="ja-JP" sz="1400" dirty="0">
              <a:solidFill>
                <a:schemeClr val="tx1">
                  <a:lumMod val="75000"/>
                </a:schemeClr>
              </a:solidFill>
            </a:endParaRPr>
          </a:p>
          <a:p>
            <a:pPr algn="ctr"/>
            <a:r>
              <a:rPr lang="ja-JP" altLang="en-US" sz="1400" dirty="0">
                <a:solidFill>
                  <a:schemeClr val="tx1">
                    <a:lumMod val="75000"/>
                  </a:schemeClr>
                </a:solidFill>
              </a:rPr>
              <a:t>（社員）</a:t>
            </a:r>
            <a:endParaRPr lang="en-US" altLang="ja-JP" sz="1400" dirty="0">
              <a:solidFill>
                <a:schemeClr val="tx1">
                  <a:lumMod val="75000"/>
                </a:schemeClr>
              </a:solidFill>
            </a:endParaRPr>
          </a:p>
        </p:txBody>
      </p:sp>
      <p:graphicFrame>
        <p:nvGraphicFramePr>
          <p:cNvPr id="10" name="表 9">
            <a:extLst>
              <a:ext uri="{FF2B5EF4-FFF2-40B4-BE49-F238E27FC236}">
                <a16:creationId xmlns:a16="http://schemas.microsoft.com/office/drawing/2014/main" id="{9A7E3E03-B733-A614-CB08-941321CB8364}"/>
              </a:ext>
            </a:extLst>
          </p:cNvPr>
          <p:cNvGraphicFramePr>
            <a:graphicFrameLocks noGrp="1"/>
          </p:cNvGraphicFramePr>
          <p:nvPr>
            <p:extLst>
              <p:ext uri="{D42A27DB-BD31-4B8C-83A1-F6EECF244321}">
                <p14:modId xmlns:p14="http://schemas.microsoft.com/office/powerpoint/2010/main" val="3057012107"/>
              </p:ext>
            </p:extLst>
          </p:nvPr>
        </p:nvGraphicFramePr>
        <p:xfrm>
          <a:off x="342898" y="3999680"/>
          <a:ext cx="6039195" cy="2590800"/>
        </p:xfrm>
        <a:graphic>
          <a:graphicData uri="http://schemas.openxmlformats.org/drawingml/2006/table">
            <a:tbl>
              <a:tblPr firstRow="1" bandRow="1">
                <a:tableStyleId>{5C22544A-7EE6-4342-B048-85BDC9FD1C3A}</a:tableStyleId>
              </a:tblPr>
              <a:tblGrid>
                <a:gridCol w="1207839">
                  <a:extLst>
                    <a:ext uri="{9D8B030D-6E8A-4147-A177-3AD203B41FA5}">
                      <a16:colId xmlns:a16="http://schemas.microsoft.com/office/drawing/2014/main" val="1430862820"/>
                    </a:ext>
                  </a:extLst>
                </a:gridCol>
                <a:gridCol w="1207839">
                  <a:extLst>
                    <a:ext uri="{9D8B030D-6E8A-4147-A177-3AD203B41FA5}">
                      <a16:colId xmlns:a16="http://schemas.microsoft.com/office/drawing/2014/main" val="313098214"/>
                    </a:ext>
                  </a:extLst>
                </a:gridCol>
                <a:gridCol w="1207839">
                  <a:extLst>
                    <a:ext uri="{9D8B030D-6E8A-4147-A177-3AD203B41FA5}">
                      <a16:colId xmlns:a16="http://schemas.microsoft.com/office/drawing/2014/main" val="1614430523"/>
                    </a:ext>
                  </a:extLst>
                </a:gridCol>
                <a:gridCol w="1207839">
                  <a:extLst>
                    <a:ext uri="{9D8B030D-6E8A-4147-A177-3AD203B41FA5}">
                      <a16:colId xmlns:a16="http://schemas.microsoft.com/office/drawing/2014/main" val="3501686637"/>
                    </a:ext>
                  </a:extLst>
                </a:gridCol>
                <a:gridCol w="1207839">
                  <a:extLst>
                    <a:ext uri="{9D8B030D-6E8A-4147-A177-3AD203B41FA5}">
                      <a16:colId xmlns:a16="http://schemas.microsoft.com/office/drawing/2014/main" val="1513970016"/>
                    </a:ext>
                  </a:extLst>
                </a:gridCol>
              </a:tblGrid>
              <a:tr h="370840">
                <a:tc>
                  <a:txBody>
                    <a:bodyPr/>
                    <a:lstStyle/>
                    <a:p>
                      <a:r>
                        <a:rPr kumimoji="1" lang="ja-JP" altLang="en-US" u="sng" dirty="0">
                          <a:solidFill>
                            <a:schemeClr val="tx1">
                              <a:lumMod val="75000"/>
                            </a:schemeClr>
                          </a:solidFill>
                        </a:rPr>
                        <a:t>会社コード</a:t>
                      </a:r>
                    </a:p>
                  </a:txBody>
                  <a:tcPr/>
                </a:tc>
                <a:tc>
                  <a:txBody>
                    <a:bodyPr/>
                    <a:lstStyle/>
                    <a:p>
                      <a:r>
                        <a:rPr kumimoji="1" lang="ja-JP" altLang="en-US" u="sng" dirty="0">
                          <a:solidFill>
                            <a:schemeClr val="tx1">
                              <a:lumMod val="75000"/>
                            </a:schemeClr>
                          </a:solidFill>
                        </a:rPr>
                        <a:t>社員</a:t>
                      </a:r>
                      <a:r>
                        <a:rPr kumimoji="1" lang="en-US" altLang="ja-JP" u="sng" dirty="0">
                          <a:solidFill>
                            <a:schemeClr val="tx1">
                              <a:lumMod val="75000"/>
                            </a:schemeClr>
                          </a:solidFill>
                        </a:rPr>
                        <a:t>ID</a:t>
                      </a:r>
                      <a:endParaRPr kumimoji="1" lang="ja-JP" altLang="en-US" u="sng" dirty="0">
                        <a:solidFill>
                          <a:schemeClr val="tx1">
                            <a:lumMod val="75000"/>
                          </a:schemeClr>
                        </a:solidFill>
                      </a:endParaRPr>
                    </a:p>
                  </a:txBody>
                  <a:tcPr/>
                </a:tc>
                <a:tc>
                  <a:txBody>
                    <a:bodyPr/>
                    <a:lstStyle/>
                    <a:p>
                      <a:r>
                        <a:rPr kumimoji="1" lang="ja-JP" altLang="en-US" dirty="0">
                          <a:solidFill>
                            <a:schemeClr val="tx1">
                              <a:lumMod val="75000"/>
                            </a:schemeClr>
                          </a:solidFill>
                        </a:rPr>
                        <a:t>社員名</a:t>
                      </a:r>
                    </a:p>
                  </a:txBody>
                  <a:tcPr/>
                </a:tc>
                <a:tc>
                  <a:txBody>
                    <a:bodyPr/>
                    <a:lstStyle/>
                    <a:p>
                      <a:r>
                        <a:rPr kumimoji="1" lang="ja-JP" altLang="en-US" dirty="0">
                          <a:solidFill>
                            <a:schemeClr val="tx1">
                              <a:lumMod val="75000"/>
                            </a:schemeClr>
                          </a:solidFill>
                        </a:rPr>
                        <a:t>年齢</a:t>
                      </a:r>
                    </a:p>
                  </a:txBody>
                  <a:tcPr/>
                </a:tc>
                <a:tc>
                  <a:txBody>
                    <a:bodyPr/>
                    <a:lstStyle/>
                    <a:p>
                      <a:r>
                        <a:rPr kumimoji="1" lang="ja-JP" altLang="en-US" dirty="0">
                          <a:solidFill>
                            <a:schemeClr val="tx1">
                              <a:lumMod val="75000"/>
                            </a:schemeClr>
                          </a:solidFill>
                        </a:rPr>
                        <a:t>部署コード</a:t>
                      </a:r>
                    </a:p>
                  </a:txBody>
                  <a:tcPr/>
                </a:tc>
                <a:extLst>
                  <a:ext uri="{0D108BD9-81ED-4DB2-BD59-A6C34878D82A}">
                    <a16:rowId xmlns:a16="http://schemas.microsoft.com/office/drawing/2014/main" val="2035072520"/>
                  </a:ext>
                </a:extLst>
              </a:tr>
              <a:tr h="370840">
                <a:tc>
                  <a:txBody>
                    <a:bodyPr/>
                    <a:lstStyle/>
                    <a:p>
                      <a:r>
                        <a:rPr kumimoji="1" lang="en-US" altLang="ja-JP" dirty="0"/>
                        <a:t>C0001</a:t>
                      </a:r>
                      <a:endParaRPr kumimoji="1" lang="ja-JP" altLang="en-US" dirty="0"/>
                    </a:p>
                  </a:txBody>
                  <a:tcPr/>
                </a:tc>
                <a:tc>
                  <a:txBody>
                    <a:bodyPr/>
                    <a:lstStyle/>
                    <a:p>
                      <a:r>
                        <a:rPr kumimoji="1" lang="en-US" altLang="ja-JP" dirty="0"/>
                        <a:t>000A</a:t>
                      </a:r>
                      <a:endParaRPr kumimoji="1" lang="ja-JP" altLang="en-US" dirty="0"/>
                    </a:p>
                  </a:txBody>
                  <a:tcPr/>
                </a:tc>
                <a:tc>
                  <a:txBody>
                    <a:bodyPr/>
                    <a:lstStyle/>
                    <a:p>
                      <a:r>
                        <a:rPr kumimoji="1" lang="ja-JP" altLang="en-US" dirty="0"/>
                        <a:t>加藤</a:t>
                      </a:r>
                    </a:p>
                  </a:txBody>
                  <a:tcPr/>
                </a:tc>
                <a:tc>
                  <a:txBody>
                    <a:bodyPr/>
                    <a:lstStyle/>
                    <a:p>
                      <a:r>
                        <a:rPr kumimoji="1" lang="en-US" altLang="ja-JP" dirty="0"/>
                        <a:t>40</a:t>
                      </a:r>
                      <a:endParaRPr kumimoji="1" lang="ja-JP" altLang="en-US" dirty="0"/>
                    </a:p>
                  </a:txBody>
                  <a:tcPr/>
                </a:tc>
                <a:tc>
                  <a:txBody>
                    <a:bodyPr/>
                    <a:lstStyle/>
                    <a:p>
                      <a:r>
                        <a:rPr kumimoji="1" lang="en-US" altLang="ja-JP" dirty="0"/>
                        <a:t>D01</a:t>
                      </a:r>
                      <a:endParaRPr kumimoji="1" lang="ja-JP" altLang="en-US" dirty="0"/>
                    </a:p>
                  </a:txBody>
                  <a:tcPr/>
                </a:tc>
                <a:extLst>
                  <a:ext uri="{0D108BD9-81ED-4DB2-BD59-A6C34878D82A}">
                    <a16:rowId xmlns:a16="http://schemas.microsoft.com/office/drawing/2014/main" val="3787714943"/>
                  </a:ext>
                </a:extLst>
              </a:tr>
              <a:tr h="370840">
                <a:tc>
                  <a:txBody>
                    <a:bodyPr/>
                    <a:lstStyle/>
                    <a:p>
                      <a:r>
                        <a:rPr kumimoji="1" lang="en-US" altLang="ja-JP" dirty="0"/>
                        <a:t>C0001</a:t>
                      </a:r>
                      <a:endParaRPr kumimoji="1" lang="ja-JP" altLang="en-US" dirty="0"/>
                    </a:p>
                  </a:txBody>
                  <a:tcPr/>
                </a:tc>
                <a:tc>
                  <a:txBody>
                    <a:bodyPr/>
                    <a:lstStyle/>
                    <a:p>
                      <a:r>
                        <a:rPr kumimoji="1" lang="en-US" altLang="ja-JP" dirty="0"/>
                        <a:t>000B</a:t>
                      </a:r>
                      <a:endParaRPr kumimoji="1" lang="ja-JP" altLang="en-US" dirty="0"/>
                    </a:p>
                  </a:txBody>
                  <a:tcPr/>
                </a:tc>
                <a:tc>
                  <a:txBody>
                    <a:bodyPr/>
                    <a:lstStyle/>
                    <a:p>
                      <a:r>
                        <a:rPr kumimoji="1" lang="ja-JP" altLang="en-US" dirty="0"/>
                        <a:t>藤本</a:t>
                      </a:r>
                    </a:p>
                  </a:txBody>
                  <a:tcPr/>
                </a:tc>
                <a:tc>
                  <a:txBody>
                    <a:bodyPr/>
                    <a:lstStyle/>
                    <a:p>
                      <a:r>
                        <a:rPr kumimoji="1" lang="en-US" altLang="ja-JP" dirty="0"/>
                        <a:t>32</a:t>
                      </a:r>
                      <a:endParaRPr kumimoji="1" lang="ja-JP" altLang="en-US" dirty="0"/>
                    </a:p>
                  </a:txBody>
                  <a:tcPr/>
                </a:tc>
                <a:tc>
                  <a:txBody>
                    <a:bodyPr/>
                    <a:lstStyle/>
                    <a:p>
                      <a:r>
                        <a:rPr kumimoji="1" lang="en-US" altLang="ja-JP" dirty="0"/>
                        <a:t>D02</a:t>
                      </a:r>
                      <a:endParaRPr kumimoji="1" lang="ja-JP" altLang="en-US" dirty="0"/>
                    </a:p>
                  </a:txBody>
                  <a:tcPr/>
                </a:tc>
                <a:extLst>
                  <a:ext uri="{0D108BD9-81ED-4DB2-BD59-A6C34878D82A}">
                    <a16:rowId xmlns:a16="http://schemas.microsoft.com/office/drawing/2014/main" val="532976586"/>
                  </a:ext>
                </a:extLst>
              </a:tr>
              <a:tr h="370840">
                <a:tc>
                  <a:txBody>
                    <a:bodyPr/>
                    <a:lstStyle/>
                    <a:p>
                      <a:r>
                        <a:rPr kumimoji="1" lang="en-US" altLang="ja-JP" dirty="0"/>
                        <a:t>C0001</a:t>
                      </a:r>
                      <a:endParaRPr kumimoji="1" lang="ja-JP" altLang="en-US" dirty="0"/>
                    </a:p>
                  </a:txBody>
                  <a:tcPr/>
                </a:tc>
                <a:tc>
                  <a:txBody>
                    <a:bodyPr/>
                    <a:lstStyle/>
                    <a:p>
                      <a:r>
                        <a:rPr kumimoji="1" lang="en-US" altLang="ja-JP" dirty="0"/>
                        <a:t>001F</a:t>
                      </a:r>
                      <a:endParaRPr kumimoji="1" lang="ja-JP" altLang="en-US" dirty="0"/>
                    </a:p>
                  </a:txBody>
                  <a:tcPr/>
                </a:tc>
                <a:tc>
                  <a:txBody>
                    <a:bodyPr/>
                    <a:lstStyle/>
                    <a:p>
                      <a:r>
                        <a:rPr kumimoji="1" lang="ja-JP" altLang="en-US" dirty="0"/>
                        <a:t>三島</a:t>
                      </a:r>
                    </a:p>
                  </a:txBody>
                  <a:tcPr/>
                </a:tc>
                <a:tc>
                  <a:txBody>
                    <a:bodyPr/>
                    <a:lstStyle/>
                    <a:p>
                      <a:r>
                        <a:rPr kumimoji="1" lang="en-US" altLang="ja-JP" dirty="0"/>
                        <a:t>50</a:t>
                      </a:r>
                      <a:endParaRPr kumimoji="1" lang="ja-JP" altLang="en-US" dirty="0"/>
                    </a:p>
                  </a:txBody>
                  <a:tcPr/>
                </a:tc>
                <a:tc>
                  <a:txBody>
                    <a:bodyPr/>
                    <a:lstStyle/>
                    <a:p>
                      <a:r>
                        <a:rPr kumimoji="1" lang="en-US" altLang="ja-JP" dirty="0"/>
                        <a:t>D03</a:t>
                      </a:r>
                      <a:endParaRPr kumimoji="1" lang="ja-JP" altLang="en-US" dirty="0"/>
                    </a:p>
                  </a:txBody>
                  <a:tcPr/>
                </a:tc>
                <a:extLst>
                  <a:ext uri="{0D108BD9-81ED-4DB2-BD59-A6C34878D82A}">
                    <a16:rowId xmlns:a16="http://schemas.microsoft.com/office/drawing/2014/main" val="3616448333"/>
                  </a:ext>
                </a:extLst>
              </a:tr>
              <a:tr h="370840">
                <a:tc>
                  <a:txBody>
                    <a:bodyPr/>
                    <a:lstStyle/>
                    <a:p>
                      <a:r>
                        <a:rPr kumimoji="1" lang="en-US" altLang="ja-JP" dirty="0"/>
                        <a:t>C0002</a:t>
                      </a:r>
                      <a:endParaRPr kumimoji="1" lang="ja-JP" altLang="en-US" dirty="0"/>
                    </a:p>
                  </a:txBody>
                  <a:tcPr/>
                </a:tc>
                <a:tc>
                  <a:txBody>
                    <a:bodyPr/>
                    <a:lstStyle/>
                    <a:p>
                      <a:r>
                        <a:rPr kumimoji="1" lang="en-US" altLang="ja-JP" dirty="0"/>
                        <a:t>000A</a:t>
                      </a:r>
                      <a:endParaRPr kumimoji="1" lang="ja-JP" altLang="en-US" dirty="0"/>
                    </a:p>
                  </a:txBody>
                  <a:tcPr/>
                </a:tc>
                <a:tc>
                  <a:txBody>
                    <a:bodyPr/>
                    <a:lstStyle/>
                    <a:p>
                      <a:r>
                        <a:rPr kumimoji="1" lang="ja-JP" altLang="en-US" dirty="0"/>
                        <a:t>斎藤</a:t>
                      </a:r>
                    </a:p>
                  </a:txBody>
                  <a:tcPr/>
                </a:tc>
                <a:tc>
                  <a:txBody>
                    <a:bodyPr/>
                    <a:lstStyle/>
                    <a:p>
                      <a:r>
                        <a:rPr kumimoji="1" lang="en-US" altLang="ja-JP" dirty="0"/>
                        <a:t>47</a:t>
                      </a:r>
                      <a:endParaRPr kumimoji="1" lang="ja-JP" altLang="en-US" dirty="0"/>
                    </a:p>
                  </a:txBody>
                  <a:tcPr/>
                </a:tc>
                <a:tc>
                  <a:txBody>
                    <a:bodyPr/>
                    <a:lstStyle/>
                    <a:p>
                      <a:r>
                        <a:rPr kumimoji="1" lang="en-US" altLang="ja-JP" dirty="0"/>
                        <a:t>D03</a:t>
                      </a:r>
                      <a:endParaRPr kumimoji="1" lang="ja-JP" altLang="en-US" dirty="0"/>
                    </a:p>
                  </a:txBody>
                  <a:tcPr/>
                </a:tc>
                <a:extLst>
                  <a:ext uri="{0D108BD9-81ED-4DB2-BD59-A6C34878D82A}">
                    <a16:rowId xmlns:a16="http://schemas.microsoft.com/office/drawing/2014/main" val="433193485"/>
                  </a:ext>
                </a:extLst>
              </a:tr>
              <a:tr h="0">
                <a:tc>
                  <a:txBody>
                    <a:bodyPr/>
                    <a:lstStyle/>
                    <a:p>
                      <a:r>
                        <a:rPr kumimoji="1" lang="en-US" altLang="ja-JP" dirty="0"/>
                        <a:t>C0002</a:t>
                      </a:r>
                      <a:endParaRPr kumimoji="1" lang="ja-JP" altLang="en-US" dirty="0"/>
                    </a:p>
                  </a:txBody>
                  <a:tcPr/>
                </a:tc>
                <a:tc>
                  <a:txBody>
                    <a:bodyPr/>
                    <a:lstStyle/>
                    <a:p>
                      <a:r>
                        <a:rPr kumimoji="1" lang="en-US" altLang="ja-JP" dirty="0"/>
                        <a:t>009F</a:t>
                      </a:r>
                      <a:endParaRPr kumimoji="1" lang="ja-JP" altLang="en-US" dirty="0"/>
                    </a:p>
                  </a:txBody>
                  <a:tcPr/>
                </a:tc>
                <a:tc>
                  <a:txBody>
                    <a:bodyPr/>
                    <a:lstStyle/>
                    <a:p>
                      <a:r>
                        <a:rPr kumimoji="1" lang="ja-JP" altLang="en-US" dirty="0"/>
                        <a:t>田島</a:t>
                      </a:r>
                    </a:p>
                  </a:txBody>
                  <a:tcPr/>
                </a:tc>
                <a:tc>
                  <a:txBody>
                    <a:bodyPr/>
                    <a:lstStyle/>
                    <a:p>
                      <a:r>
                        <a:rPr kumimoji="1" lang="en-US" altLang="ja-JP" dirty="0"/>
                        <a:t>25</a:t>
                      </a:r>
                      <a:endParaRPr kumimoji="1" lang="ja-JP" altLang="en-US" dirty="0"/>
                    </a:p>
                  </a:txBody>
                  <a:tcPr/>
                </a:tc>
                <a:tc>
                  <a:txBody>
                    <a:bodyPr/>
                    <a:lstStyle/>
                    <a:p>
                      <a:r>
                        <a:rPr kumimoji="1" lang="en-US" altLang="ja-JP" dirty="0"/>
                        <a:t>D01</a:t>
                      </a:r>
                      <a:endParaRPr kumimoji="1" lang="ja-JP" altLang="en-US" dirty="0"/>
                    </a:p>
                  </a:txBody>
                  <a:tcPr/>
                </a:tc>
                <a:extLst>
                  <a:ext uri="{0D108BD9-81ED-4DB2-BD59-A6C34878D82A}">
                    <a16:rowId xmlns:a16="http://schemas.microsoft.com/office/drawing/2014/main" val="707118752"/>
                  </a:ext>
                </a:extLst>
              </a:tr>
              <a:tr h="370840">
                <a:tc>
                  <a:txBody>
                    <a:bodyPr/>
                    <a:lstStyle/>
                    <a:p>
                      <a:r>
                        <a:rPr kumimoji="1" lang="en-US" altLang="ja-JP" dirty="0"/>
                        <a:t>C0002</a:t>
                      </a:r>
                      <a:endParaRPr kumimoji="1" lang="ja-JP" altLang="en-US" dirty="0"/>
                    </a:p>
                  </a:txBody>
                  <a:tcPr/>
                </a:tc>
                <a:tc>
                  <a:txBody>
                    <a:bodyPr/>
                    <a:lstStyle/>
                    <a:p>
                      <a:r>
                        <a:rPr kumimoji="1" lang="en-US" altLang="ja-JP" dirty="0"/>
                        <a:t>010A</a:t>
                      </a:r>
                      <a:endParaRPr kumimoji="1" lang="ja-JP" altLang="en-US" dirty="0"/>
                    </a:p>
                  </a:txBody>
                  <a:tcPr/>
                </a:tc>
                <a:tc>
                  <a:txBody>
                    <a:bodyPr/>
                    <a:lstStyle/>
                    <a:p>
                      <a:r>
                        <a:rPr kumimoji="1" lang="ja-JP" altLang="en-US" dirty="0"/>
                        <a:t>渋谷</a:t>
                      </a:r>
                    </a:p>
                  </a:txBody>
                  <a:tcPr/>
                </a:tc>
                <a:tc>
                  <a:txBody>
                    <a:bodyPr/>
                    <a:lstStyle/>
                    <a:p>
                      <a:r>
                        <a:rPr kumimoji="1" lang="en-US" altLang="ja-JP" dirty="0"/>
                        <a:t>33</a:t>
                      </a:r>
                      <a:endParaRPr kumimoji="1" lang="ja-JP" altLang="en-US" dirty="0"/>
                    </a:p>
                  </a:txBody>
                  <a:tcPr/>
                </a:tc>
                <a:tc>
                  <a:txBody>
                    <a:bodyPr/>
                    <a:lstStyle/>
                    <a:p>
                      <a:r>
                        <a:rPr kumimoji="1" lang="en-US" altLang="ja-JP" dirty="0"/>
                        <a:t>D04</a:t>
                      </a:r>
                      <a:endParaRPr kumimoji="1" lang="ja-JP" altLang="en-US" dirty="0"/>
                    </a:p>
                  </a:txBody>
                  <a:tcPr/>
                </a:tc>
                <a:extLst>
                  <a:ext uri="{0D108BD9-81ED-4DB2-BD59-A6C34878D82A}">
                    <a16:rowId xmlns:a16="http://schemas.microsoft.com/office/drawing/2014/main" val="3593766194"/>
                  </a:ext>
                </a:extLst>
              </a:tr>
            </a:tbl>
          </a:graphicData>
        </a:graphic>
      </p:graphicFrame>
      <p:graphicFrame>
        <p:nvGraphicFramePr>
          <p:cNvPr id="6" name="表 5">
            <a:extLst>
              <a:ext uri="{FF2B5EF4-FFF2-40B4-BE49-F238E27FC236}">
                <a16:creationId xmlns:a16="http://schemas.microsoft.com/office/drawing/2014/main" id="{2ED8FD36-B946-7B8E-9F9D-09EBBB5B9046}"/>
              </a:ext>
            </a:extLst>
          </p:cNvPr>
          <p:cNvGraphicFramePr>
            <a:graphicFrameLocks noGrp="1"/>
          </p:cNvGraphicFramePr>
          <p:nvPr>
            <p:extLst>
              <p:ext uri="{D42A27DB-BD31-4B8C-83A1-F6EECF244321}">
                <p14:modId xmlns:p14="http://schemas.microsoft.com/office/powerpoint/2010/main" val="3007682061"/>
              </p:ext>
            </p:extLst>
          </p:nvPr>
        </p:nvGraphicFramePr>
        <p:xfrm>
          <a:off x="6487848" y="3999680"/>
          <a:ext cx="2701770" cy="1114398"/>
        </p:xfrm>
        <a:graphic>
          <a:graphicData uri="http://schemas.openxmlformats.org/drawingml/2006/table">
            <a:tbl>
              <a:tblPr firstRow="1" bandRow="1">
                <a:tableStyleId>{5C22544A-7EE6-4342-B048-85BDC9FD1C3A}</a:tableStyleId>
              </a:tblPr>
              <a:tblGrid>
                <a:gridCol w="1350885">
                  <a:extLst>
                    <a:ext uri="{9D8B030D-6E8A-4147-A177-3AD203B41FA5}">
                      <a16:colId xmlns:a16="http://schemas.microsoft.com/office/drawing/2014/main" val="125754055"/>
                    </a:ext>
                  </a:extLst>
                </a:gridCol>
                <a:gridCol w="1350885">
                  <a:extLst>
                    <a:ext uri="{9D8B030D-6E8A-4147-A177-3AD203B41FA5}">
                      <a16:colId xmlns:a16="http://schemas.microsoft.com/office/drawing/2014/main" val="3136733704"/>
                    </a:ext>
                  </a:extLst>
                </a:gridCol>
              </a:tblGrid>
              <a:tr h="206893">
                <a:tc>
                  <a:txBody>
                    <a:bodyPr/>
                    <a:lstStyle/>
                    <a:p>
                      <a:r>
                        <a:rPr kumimoji="1" lang="ja-JP" altLang="en-US" u="sng" dirty="0">
                          <a:solidFill>
                            <a:schemeClr val="tx1">
                              <a:lumMod val="75000"/>
                            </a:schemeClr>
                          </a:solidFill>
                        </a:rPr>
                        <a:t>会社コード</a:t>
                      </a:r>
                    </a:p>
                  </a:txBody>
                  <a:tcPr/>
                </a:tc>
                <a:tc>
                  <a:txBody>
                    <a:bodyPr/>
                    <a:lstStyle/>
                    <a:p>
                      <a:r>
                        <a:rPr kumimoji="1" lang="ja-JP" altLang="en-US" dirty="0">
                          <a:solidFill>
                            <a:schemeClr val="tx1">
                              <a:lumMod val="75000"/>
                            </a:schemeClr>
                          </a:solidFill>
                        </a:rPr>
                        <a:t>会社名</a:t>
                      </a:r>
                    </a:p>
                  </a:txBody>
                  <a:tcPr/>
                </a:tc>
                <a:extLst>
                  <a:ext uri="{0D108BD9-81ED-4DB2-BD59-A6C34878D82A}">
                    <a16:rowId xmlns:a16="http://schemas.microsoft.com/office/drawing/2014/main" val="4058254409"/>
                  </a:ext>
                </a:extLst>
              </a:tr>
              <a:tr h="377798">
                <a:tc>
                  <a:txBody>
                    <a:bodyPr/>
                    <a:lstStyle/>
                    <a:p>
                      <a:r>
                        <a:rPr kumimoji="1" lang="en-US" altLang="ja-JP" dirty="0"/>
                        <a:t>C0001</a:t>
                      </a:r>
                      <a:endParaRPr kumimoji="1" lang="ja-JP" altLang="en-US" dirty="0"/>
                    </a:p>
                  </a:txBody>
                  <a:tcPr/>
                </a:tc>
                <a:tc>
                  <a:txBody>
                    <a:bodyPr/>
                    <a:lstStyle/>
                    <a:p>
                      <a:r>
                        <a:rPr kumimoji="1" lang="en-US" altLang="ja-JP" dirty="0"/>
                        <a:t>A</a:t>
                      </a:r>
                      <a:r>
                        <a:rPr kumimoji="1" lang="ja-JP" altLang="en-US" dirty="0"/>
                        <a:t>商事</a:t>
                      </a:r>
                    </a:p>
                  </a:txBody>
                  <a:tcPr/>
                </a:tc>
                <a:extLst>
                  <a:ext uri="{0D108BD9-81ED-4DB2-BD59-A6C34878D82A}">
                    <a16:rowId xmlns:a16="http://schemas.microsoft.com/office/drawing/2014/main" val="4048863321"/>
                  </a:ext>
                </a:extLst>
              </a:tr>
              <a:tr h="370840">
                <a:tc>
                  <a:txBody>
                    <a:bodyPr/>
                    <a:lstStyle/>
                    <a:p>
                      <a:r>
                        <a:rPr kumimoji="1" lang="en-US" altLang="ja-JP" dirty="0"/>
                        <a:t>C0002</a:t>
                      </a:r>
                      <a:endParaRPr kumimoji="1" lang="ja-JP" altLang="en-US" dirty="0"/>
                    </a:p>
                  </a:txBody>
                  <a:tcPr/>
                </a:tc>
                <a:tc>
                  <a:txBody>
                    <a:bodyPr/>
                    <a:lstStyle/>
                    <a:p>
                      <a:r>
                        <a:rPr kumimoji="1" lang="en-US" altLang="ja-JP" dirty="0"/>
                        <a:t>B</a:t>
                      </a:r>
                      <a:r>
                        <a:rPr kumimoji="1" lang="ja-JP" altLang="en-US" dirty="0"/>
                        <a:t>化学</a:t>
                      </a:r>
                    </a:p>
                  </a:txBody>
                  <a:tcPr/>
                </a:tc>
                <a:extLst>
                  <a:ext uri="{0D108BD9-81ED-4DB2-BD59-A6C34878D82A}">
                    <a16:rowId xmlns:a16="http://schemas.microsoft.com/office/drawing/2014/main" val="594273322"/>
                  </a:ext>
                </a:extLst>
              </a:tr>
            </a:tbl>
          </a:graphicData>
        </a:graphic>
      </p:graphicFrame>
      <p:sp>
        <p:nvSpPr>
          <p:cNvPr id="7" name="正方形/長方形 6">
            <a:extLst>
              <a:ext uri="{FF2B5EF4-FFF2-40B4-BE49-F238E27FC236}">
                <a16:creationId xmlns:a16="http://schemas.microsoft.com/office/drawing/2014/main" id="{8E30B216-F01A-98ED-6EEC-74437B0A4994}"/>
              </a:ext>
            </a:extLst>
          </p:cNvPr>
          <p:cNvSpPr/>
          <p:nvPr/>
        </p:nvSpPr>
        <p:spPr>
          <a:xfrm>
            <a:off x="6487848" y="329634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第</a:t>
            </a:r>
            <a:r>
              <a:rPr lang="en-US" altLang="ja-JP" sz="1400" dirty="0">
                <a:solidFill>
                  <a:schemeClr val="tx1">
                    <a:lumMod val="75000"/>
                  </a:schemeClr>
                </a:solidFill>
              </a:rPr>
              <a:t>3</a:t>
            </a:r>
            <a:r>
              <a:rPr lang="ja-JP" altLang="en-US" sz="1400" dirty="0">
                <a:solidFill>
                  <a:schemeClr val="tx1">
                    <a:lumMod val="75000"/>
                  </a:schemeClr>
                </a:solidFill>
              </a:rPr>
              <a:t>正規形</a:t>
            </a:r>
            <a:endParaRPr lang="en-US" altLang="ja-JP" sz="1400" dirty="0">
              <a:solidFill>
                <a:schemeClr val="tx1">
                  <a:lumMod val="75000"/>
                </a:schemeClr>
              </a:solidFill>
            </a:endParaRPr>
          </a:p>
          <a:p>
            <a:pPr algn="ctr"/>
            <a:r>
              <a:rPr lang="ja-JP" altLang="en-US" sz="1400" dirty="0">
                <a:solidFill>
                  <a:schemeClr val="tx1">
                    <a:lumMod val="75000"/>
                  </a:schemeClr>
                </a:solidFill>
              </a:rPr>
              <a:t>（会社）</a:t>
            </a:r>
            <a:endParaRPr lang="en-US" altLang="ja-JP" sz="1400" dirty="0">
              <a:solidFill>
                <a:schemeClr val="tx1">
                  <a:lumMod val="75000"/>
                </a:schemeClr>
              </a:solidFill>
            </a:endParaRPr>
          </a:p>
        </p:txBody>
      </p:sp>
      <p:graphicFrame>
        <p:nvGraphicFramePr>
          <p:cNvPr id="9" name="表 8">
            <a:extLst>
              <a:ext uri="{FF2B5EF4-FFF2-40B4-BE49-F238E27FC236}">
                <a16:creationId xmlns:a16="http://schemas.microsoft.com/office/drawing/2014/main" id="{1C0B21A1-9647-719D-1B34-191C99F9C8F6}"/>
              </a:ext>
            </a:extLst>
          </p:cNvPr>
          <p:cNvGraphicFramePr>
            <a:graphicFrameLocks noGrp="1"/>
          </p:cNvGraphicFramePr>
          <p:nvPr>
            <p:extLst>
              <p:ext uri="{D42A27DB-BD31-4B8C-83A1-F6EECF244321}">
                <p14:modId xmlns:p14="http://schemas.microsoft.com/office/powerpoint/2010/main" val="3752328365"/>
              </p:ext>
            </p:extLst>
          </p:nvPr>
        </p:nvGraphicFramePr>
        <p:xfrm>
          <a:off x="9295373" y="3999680"/>
          <a:ext cx="2701770" cy="1856078"/>
        </p:xfrm>
        <a:graphic>
          <a:graphicData uri="http://schemas.openxmlformats.org/drawingml/2006/table">
            <a:tbl>
              <a:tblPr firstRow="1" bandRow="1">
                <a:tableStyleId>{5C22544A-7EE6-4342-B048-85BDC9FD1C3A}</a:tableStyleId>
              </a:tblPr>
              <a:tblGrid>
                <a:gridCol w="1350885">
                  <a:extLst>
                    <a:ext uri="{9D8B030D-6E8A-4147-A177-3AD203B41FA5}">
                      <a16:colId xmlns:a16="http://schemas.microsoft.com/office/drawing/2014/main" val="125754055"/>
                    </a:ext>
                  </a:extLst>
                </a:gridCol>
                <a:gridCol w="1350885">
                  <a:extLst>
                    <a:ext uri="{9D8B030D-6E8A-4147-A177-3AD203B41FA5}">
                      <a16:colId xmlns:a16="http://schemas.microsoft.com/office/drawing/2014/main" val="3136733704"/>
                    </a:ext>
                  </a:extLst>
                </a:gridCol>
              </a:tblGrid>
              <a:tr h="206893">
                <a:tc>
                  <a:txBody>
                    <a:bodyPr/>
                    <a:lstStyle/>
                    <a:p>
                      <a:r>
                        <a:rPr kumimoji="1" lang="ja-JP" altLang="en-US" u="sng" dirty="0">
                          <a:solidFill>
                            <a:schemeClr val="tx1">
                              <a:lumMod val="75000"/>
                            </a:schemeClr>
                          </a:solidFill>
                        </a:rPr>
                        <a:t>部署コード</a:t>
                      </a:r>
                    </a:p>
                  </a:txBody>
                  <a:tcPr/>
                </a:tc>
                <a:tc>
                  <a:txBody>
                    <a:bodyPr/>
                    <a:lstStyle/>
                    <a:p>
                      <a:r>
                        <a:rPr kumimoji="1" lang="ja-JP" altLang="en-US" dirty="0">
                          <a:solidFill>
                            <a:schemeClr val="tx1">
                              <a:lumMod val="75000"/>
                            </a:schemeClr>
                          </a:solidFill>
                        </a:rPr>
                        <a:t>部署名</a:t>
                      </a:r>
                    </a:p>
                  </a:txBody>
                  <a:tcPr/>
                </a:tc>
                <a:extLst>
                  <a:ext uri="{0D108BD9-81ED-4DB2-BD59-A6C34878D82A}">
                    <a16:rowId xmlns:a16="http://schemas.microsoft.com/office/drawing/2014/main" val="4058254409"/>
                  </a:ext>
                </a:extLst>
              </a:tr>
              <a:tr h="377798">
                <a:tc>
                  <a:txBody>
                    <a:bodyPr/>
                    <a:lstStyle/>
                    <a:p>
                      <a:r>
                        <a:rPr kumimoji="1" lang="en-US" altLang="ja-JP" dirty="0"/>
                        <a:t>D01</a:t>
                      </a:r>
                      <a:endParaRPr kumimoji="1" lang="ja-JP" altLang="en-US" dirty="0"/>
                    </a:p>
                  </a:txBody>
                  <a:tcPr/>
                </a:tc>
                <a:tc>
                  <a:txBody>
                    <a:bodyPr/>
                    <a:lstStyle/>
                    <a:p>
                      <a:r>
                        <a:rPr kumimoji="1" lang="ja-JP" altLang="en-US" dirty="0"/>
                        <a:t>開発</a:t>
                      </a:r>
                    </a:p>
                  </a:txBody>
                  <a:tcPr/>
                </a:tc>
                <a:extLst>
                  <a:ext uri="{0D108BD9-81ED-4DB2-BD59-A6C34878D82A}">
                    <a16:rowId xmlns:a16="http://schemas.microsoft.com/office/drawing/2014/main" val="4048863321"/>
                  </a:ext>
                </a:extLst>
              </a:tr>
              <a:tr h="370840">
                <a:tc>
                  <a:txBody>
                    <a:bodyPr/>
                    <a:lstStyle/>
                    <a:p>
                      <a:r>
                        <a:rPr kumimoji="1" lang="en-US" altLang="ja-JP" dirty="0"/>
                        <a:t>D02</a:t>
                      </a:r>
                      <a:endParaRPr kumimoji="1" lang="ja-JP" altLang="en-US" dirty="0"/>
                    </a:p>
                  </a:txBody>
                  <a:tcPr/>
                </a:tc>
                <a:tc>
                  <a:txBody>
                    <a:bodyPr/>
                    <a:lstStyle/>
                    <a:p>
                      <a:r>
                        <a:rPr kumimoji="1" lang="ja-JP" altLang="en-US" dirty="0"/>
                        <a:t>人事</a:t>
                      </a:r>
                    </a:p>
                  </a:txBody>
                  <a:tcPr/>
                </a:tc>
                <a:extLst>
                  <a:ext uri="{0D108BD9-81ED-4DB2-BD59-A6C34878D82A}">
                    <a16:rowId xmlns:a16="http://schemas.microsoft.com/office/drawing/2014/main" val="594273322"/>
                  </a:ext>
                </a:extLst>
              </a:tr>
              <a:tr h="370840">
                <a:tc>
                  <a:txBody>
                    <a:bodyPr/>
                    <a:lstStyle/>
                    <a:p>
                      <a:r>
                        <a:rPr kumimoji="1" lang="en-US" altLang="ja-JP" dirty="0"/>
                        <a:t>D03</a:t>
                      </a:r>
                      <a:endParaRPr kumimoji="1" lang="ja-JP" altLang="en-US" dirty="0"/>
                    </a:p>
                  </a:txBody>
                  <a:tcPr/>
                </a:tc>
                <a:tc>
                  <a:txBody>
                    <a:bodyPr/>
                    <a:lstStyle/>
                    <a:p>
                      <a:r>
                        <a:rPr kumimoji="1" lang="ja-JP" altLang="en-US" dirty="0"/>
                        <a:t>営業</a:t>
                      </a:r>
                    </a:p>
                  </a:txBody>
                  <a:tcPr/>
                </a:tc>
                <a:extLst>
                  <a:ext uri="{0D108BD9-81ED-4DB2-BD59-A6C34878D82A}">
                    <a16:rowId xmlns:a16="http://schemas.microsoft.com/office/drawing/2014/main" val="1528371204"/>
                  </a:ext>
                </a:extLst>
              </a:tr>
              <a:tr h="370840">
                <a:tc>
                  <a:txBody>
                    <a:bodyPr/>
                    <a:lstStyle/>
                    <a:p>
                      <a:r>
                        <a:rPr kumimoji="1" lang="en-US" altLang="ja-JP" dirty="0"/>
                        <a:t>D04</a:t>
                      </a:r>
                      <a:endParaRPr kumimoji="1" lang="ja-JP" altLang="en-US" dirty="0"/>
                    </a:p>
                  </a:txBody>
                  <a:tcPr/>
                </a:tc>
                <a:tc>
                  <a:txBody>
                    <a:bodyPr/>
                    <a:lstStyle/>
                    <a:p>
                      <a:r>
                        <a:rPr kumimoji="1" lang="ja-JP" altLang="en-US" dirty="0"/>
                        <a:t>総務</a:t>
                      </a:r>
                    </a:p>
                  </a:txBody>
                  <a:tcPr/>
                </a:tc>
                <a:extLst>
                  <a:ext uri="{0D108BD9-81ED-4DB2-BD59-A6C34878D82A}">
                    <a16:rowId xmlns:a16="http://schemas.microsoft.com/office/drawing/2014/main" val="3685763355"/>
                  </a:ext>
                </a:extLst>
              </a:tr>
            </a:tbl>
          </a:graphicData>
        </a:graphic>
      </p:graphicFrame>
      <p:sp>
        <p:nvSpPr>
          <p:cNvPr id="11" name="正方形/長方形 10">
            <a:extLst>
              <a:ext uri="{FF2B5EF4-FFF2-40B4-BE49-F238E27FC236}">
                <a16:creationId xmlns:a16="http://schemas.microsoft.com/office/drawing/2014/main" id="{CF5E33F6-55B6-6F9E-9945-B300FCA32028}"/>
              </a:ext>
            </a:extLst>
          </p:cNvPr>
          <p:cNvSpPr/>
          <p:nvPr/>
        </p:nvSpPr>
        <p:spPr>
          <a:xfrm>
            <a:off x="9295373" y="329634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第</a:t>
            </a:r>
            <a:r>
              <a:rPr lang="en-US" altLang="ja-JP" sz="1400" dirty="0">
                <a:solidFill>
                  <a:schemeClr val="tx1">
                    <a:lumMod val="75000"/>
                  </a:schemeClr>
                </a:solidFill>
              </a:rPr>
              <a:t>3</a:t>
            </a:r>
            <a:r>
              <a:rPr lang="ja-JP" altLang="en-US" sz="1400" dirty="0">
                <a:solidFill>
                  <a:schemeClr val="tx1">
                    <a:lumMod val="75000"/>
                  </a:schemeClr>
                </a:solidFill>
              </a:rPr>
              <a:t>正規形</a:t>
            </a:r>
            <a:endParaRPr lang="en-US" altLang="ja-JP" sz="1400" dirty="0">
              <a:solidFill>
                <a:schemeClr val="tx1">
                  <a:lumMod val="75000"/>
                </a:schemeClr>
              </a:solidFill>
            </a:endParaRPr>
          </a:p>
          <a:p>
            <a:pPr algn="ctr"/>
            <a:r>
              <a:rPr lang="ja-JP" altLang="en-US" sz="1400" dirty="0">
                <a:solidFill>
                  <a:schemeClr val="tx1">
                    <a:lumMod val="75000"/>
                  </a:schemeClr>
                </a:solidFill>
              </a:rPr>
              <a:t>（部署）</a:t>
            </a:r>
            <a:endParaRPr lang="en-US" altLang="ja-JP" sz="1400" dirty="0">
              <a:solidFill>
                <a:schemeClr val="tx1">
                  <a:lumMod val="75000"/>
                </a:schemeClr>
              </a:solidFill>
            </a:endParaRPr>
          </a:p>
        </p:txBody>
      </p:sp>
    </p:spTree>
    <p:extLst>
      <p:ext uri="{BB962C8B-B14F-4D97-AF65-F5344CB8AC3E}">
        <p14:creationId xmlns:p14="http://schemas.microsoft.com/office/powerpoint/2010/main" val="26200277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7FDE1-B9BC-BDDF-8EBB-7642597A05C3}"/>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27672FE1-DD30-BAA5-2762-29C1C8E90C62}"/>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E02AF9D4-E072-A3A6-E5E4-99B97BB6B746}"/>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二つのテーブルの間の列同士をつなげる外部キー</a:t>
            </a:r>
            <a:endParaRPr lang="en-US" altLang="ja-JP" sz="2800" dirty="0"/>
          </a:p>
        </p:txBody>
      </p:sp>
      <p:sp>
        <p:nvSpPr>
          <p:cNvPr id="4" name="タイトル プレースホルダー 1">
            <a:extLst>
              <a:ext uri="{FF2B5EF4-FFF2-40B4-BE49-F238E27FC236}">
                <a16:creationId xmlns:a16="http://schemas.microsoft.com/office/drawing/2014/main" id="{44FB5A84-74D4-37BC-D84C-9D247B88EEE7}"/>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外部キーについて</a:t>
            </a:r>
            <a:endParaRPr lang="en-US" altLang="ja-JP" dirty="0"/>
          </a:p>
        </p:txBody>
      </p:sp>
      <p:sp>
        <p:nvSpPr>
          <p:cNvPr id="5" name="タイトル プレースホルダー 1">
            <a:extLst>
              <a:ext uri="{FF2B5EF4-FFF2-40B4-BE49-F238E27FC236}">
                <a16:creationId xmlns:a16="http://schemas.microsoft.com/office/drawing/2014/main" id="{BD3C9A7D-0D4F-BD1A-4E54-ECB539A9B55D}"/>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下記の例では、社員テーブルの「会社コード」や「部署コード」列が「外部キー」となる</a:t>
            </a:r>
            <a:endParaRPr lang="en-US" altLang="ja-JP" sz="1800" dirty="0"/>
          </a:p>
          <a:p>
            <a:pPr marL="285750" indent="-285750">
              <a:buFont typeface="Arial" panose="020B0604020202020204" pitchFamily="34" charset="0"/>
              <a:buChar char="•"/>
            </a:pPr>
            <a:r>
              <a:rPr lang="ja-JP" altLang="en-US" sz="1800" dirty="0"/>
              <a:t>この外部キーの役割は、「会社」テーブルや「部署」テーブルに存在しない会社や部署を「社員」テーブルに登録しないように</a:t>
            </a:r>
            <a:br>
              <a:rPr lang="en-US" altLang="ja-JP" sz="1800" dirty="0"/>
            </a:br>
            <a:r>
              <a:rPr lang="ja-JP" altLang="en-US" sz="1800" dirty="0"/>
              <a:t>制約を課すことができる</a:t>
            </a:r>
            <a:endParaRPr lang="en-US" altLang="ja-JP" sz="1800" dirty="0"/>
          </a:p>
          <a:p>
            <a:pPr marL="285750" indent="-285750">
              <a:buFont typeface="Arial" panose="020B0604020202020204" pitchFamily="34" charset="0"/>
              <a:buChar char="•"/>
            </a:pPr>
            <a:r>
              <a:rPr lang="ja-JP" altLang="en-US" sz="1800" dirty="0"/>
              <a:t>この制約から</a:t>
            </a:r>
            <a:r>
              <a:rPr lang="ja-JP" altLang="en-US" sz="1800" b="1" dirty="0"/>
              <a:t>「会社」テーブルや「部署」テーブルは親、「社員」テーブルは子</a:t>
            </a:r>
            <a:r>
              <a:rPr lang="ja-JP" altLang="en-US" sz="1800" dirty="0"/>
              <a:t>、と言える</a:t>
            </a:r>
            <a:endParaRPr lang="en-US" altLang="ja-JP" sz="1800" dirty="0"/>
          </a:p>
          <a:p>
            <a:pPr marL="285750" indent="-285750">
              <a:buFont typeface="Arial" panose="020B0604020202020204" pitchFamily="34" charset="0"/>
              <a:buChar char="•"/>
            </a:pPr>
            <a:endParaRPr lang="en-US" altLang="ja-JP" sz="1800" dirty="0"/>
          </a:p>
          <a:p>
            <a:pPr marL="285750" indent="-285750">
              <a:buFont typeface="Arial" panose="020B0604020202020204" pitchFamily="34" charset="0"/>
              <a:buChar char="•"/>
            </a:pPr>
            <a:endParaRPr lang="en-US" altLang="ja-JP" sz="1800" b="1"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11" name="正方形/長方形 10">
            <a:extLst>
              <a:ext uri="{FF2B5EF4-FFF2-40B4-BE49-F238E27FC236}">
                <a16:creationId xmlns:a16="http://schemas.microsoft.com/office/drawing/2014/main" id="{F1D6BC0A-FB07-E9EB-D656-9272C1C94D55}"/>
              </a:ext>
            </a:extLst>
          </p:cNvPr>
          <p:cNvSpPr/>
          <p:nvPr/>
        </p:nvSpPr>
        <p:spPr>
          <a:xfrm>
            <a:off x="342899" y="329634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第</a:t>
            </a:r>
            <a:r>
              <a:rPr lang="en-US" altLang="ja-JP" sz="1400" dirty="0">
                <a:solidFill>
                  <a:schemeClr val="tx1">
                    <a:lumMod val="75000"/>
                  </a:schemeClr>
                </a:solidFill>
              </a:rPr>
              <a:t>3</a:t>
            </a:r>
            <a:r>
              <a:rPr lang="ja-JP" altLang="en-US" sz="1400" dirty="0">
                <a:solidFill>
                  <a:schemeClr val="tx1">
                    <a:lumMod val="75000"/>
                  </a:schemeClr>
                </a:solidFill>
              </a:rPr>
              <a:t>正規形</a:t>
            </a:r>
            <a:endParaRPr lang="en-US" altLang="ja-JP" sz="1400" dirty="0">
              <a:solidFill>
                <a:schemeClr val="tx1">
                  <a:lumMod val="75000"/>
                </a:schemeClr>
              </a:solidFill>
            </a:endParaRPr>
          </a:p>
          <a:p>
            <a:pPr algn="ctr"/>
            <a:r>
              <a:rPr lang="ja-JP" altLang="en-US" sz="1400" dirty="0">
                <a:solidFill>
                  <a:schemeClr val="tx1">
                    <a:lumMod val="75000"/>
                  </a:schemeClr>
                </a:solidFill>
              </a:rPr>
              <a:t>（社員）</a:t>
            </a:r>
            <a:endParaRPr lang="en-US" altLang="ja-JP" sz="1400" dirty="0">
              <a:solidFill>
                <a:schemeClr val="tx1">
                  <a:lumMod val="75000"/>
                </a:schemeClr>
              </a:solidFill>
            </a:endParaRPr>
          </a:p>
        </p:txBody>
      </p:sp>
      <p:graphicFrame>
        <p:nvGraphicFramePr>
          <p:cNvPr id="12" name="表 11">
            <a:extLst>
              <a:ext uri="{FF2B5EF4-FFF2-40B4-BE49-F238E27FC236}">
                <a16:creationId xmlns:a16="http://schemas.microsoft.com/office/drawing/2014/main" id="{B1429D24-804D-84B4-E206-A9EF5487AFEB}"/>
              </a:ext>
            </a:extLst>
          </p:cNvPr>
          <p:cNvGraphicFramePr>
            <a:graphicFrameLocks noGrp="1"/>
          </p:cNvGraphicFramePr>
          <p:nvPr>
            <p:extLst>
              <p:ext uri="{D42A27DB-BD31-4B8C-83A1-F6EECF244321}">
                <p14:modId xmlns:p14="http://schemas.microsoft.com/office/powerpoint/2010/main" val="2685123794"/>
              </p:ext>
            </p:extLst>
          </p:nvPr>
        </p:nvGraphicFramePr>
        <p:xfrm>
          <a:off x="342898" y="3999680"/>
          <a:ext cx="6039195" cy="2590800"/>
        </p:xfrm>
        <a:graphic>
          <a:graphicData uri="http://schemas.openxmlformats.org/drawingml/2006/table">
            <a:tbl>
              <a:tblPr firstRow="1" bandRow="1">
                <a:tableStyleId>{5C22544A-7EE6-4342-B048-85BDC9FD1C3A}</a:tableStyleId>
              </a:tblPr>
              <a:tblGrid>
                <a:gridCol w="1207839">
                  <a:extLst>
                    <a:ext uri="{9D8B030D-6E8A-4147-A177-3AD203B41FA5}">
                      <a16:colId xmlns:a16="http://schemas.microsoft.com/office/drawing/2014/main" val="1430862820"/>
                    </a:ext>
                  </a:extLst>
                </a:gridCol>
                <a:gridCol w="1207839">
                  <a:extLst>
                    <a:ext uri="{9D8B030D-6E8A-4147-A177-3AD203B41FA5}">
                      <a16:colId xmlns:a16="http://schemas.microsoft.com/office/drawing/2014/main" val="313098214"/>
                    </a:ext>
                  </a:extLst>
                </a:gridCol>
                <a:gridCol w="1207839">
                  <a:extLst>
                    <a:ext uri="{9D8B030D-6E8A-4147-A177-3AD203B41FA5}">
                      <a16:colId xmlns:a16="http://schemas.microsoft.com/office/drawing/2014/main" val="1614430523"/>
                    </a:ext>
                  </a:extLst>
                </a:gridCol>
                <a:gridCol w="1207839">
                  <a:extLst>
                    <a:ext uri="{9D8B030D-6E8A-4147-A177-3AD203B41FA5}">
                      <a16:colId xmlns:a16="http://schemas.microsoft.com/office/drawing/2014/main" val="3501686637"/>
                    </a:ext>
                  </a:extLst>
                </a:gridCol>
                <a:gridCol w="1207839">
                  <a:extLst>
                    <a:ext uri="{9D8B030D-6E8A-4147-A177-3AD203B41FA5}">
                      <a16:colId xmlns:a16="http://schemas.microsoft.com/office/drawing/2014/main" val="1513970016"/>
                    </a:ext>
                  </a:extLst>
                </a:gridCol>
              </a:tblGrid>
              <a:tr h="370840">
                <a:tc>
                  <a:txBody>
                    <a:bodyPr/>
                    <a:lstStyle/>
                    <a:p>
                      <a:r>
                        <a:rPr kumimoji="1" lang="ja-JP" altLang="en-US" u="sng" dirty="0">
                          <a:solidFill>
                            <a:schemeClr val="tx1">
                              <a:lumMod val="75000"/>
                            </a:schemeClr>
                          </a:solidFill>
                        </a:rPr>
                        <a:t>会社コード</a:t>
                      </a:r>
                    </a:p>
                  </a:txBody>
                  <a:tcPr/>
                </a:tc>
                <a:tc>
                  <a:txBody>
                    <a:bodyPr/>
                    <a:lstStyle/>
                    <a:p>
                      <a:r>
                        <a:rPr kumimoji="1" lang="ja-JP" altLang="en-US" u="sng" dirty="0">
                          <a:solidFill>
                            <a:schemeClr val="tx1">
                              <a:lumMod val="75000"/>
                            </a:schemeClr>
                          </a:solidFill>
                        </a:rPr>
                        <a:t>社員</a:t>
                      </a:r>
                      <a:r>
                        <a:rPr kumimoji="1" lang="en-US" altLang="ja-JP" u="sng" dirty="0">
                          <a:solidFill>
                            <a:schemeClr val="tx1">
                              <a:lumMod val="75000"/>
                            </a:schemeClr>
                          </a:solidFill>
                        </a:rPr>
                        <a:t>ID</a:t>
                      </a:r>
                      <a:endParaRPr kumimoji="1" lang="ja-JP" altLang="en-US" u="sng" dirty="0">
                        <a:solidFill>
                          <a:schemeClr val="tx1">
                            <a:lumMod val="75000"/>
                          </a:schemeClr>
                        </a:solidFill>
                      </a:endParaRPr>
                    </a:p>
                  </a:txBody>
                  <a:tcPr/>
                </a:tc>
                <a:tc>
                  <a:txBody>
                    <a:bodyPr/>
                    <a:lstStyle/>
                    <a:p>
                      <a:r>
                        <a:rPr kumimoji="1" lang="ja-JP" altLang="en-US" dirty="0">
                          <a:solidFill>
                            <a:schemeClr val="tx1">
                              <a:lumMod val="75000"/>
                            </a:schemeClr>
                          </a:solidFill>
                        </a:rPr>
                        <a:t>社員名</a:t>
                      </a:r>
                    </a:p>
                  </a:txBody>
                  <a:tcPr/>
                </a:tc>
                <a:tc>
                  <a:txBody>
                    <a:bodyPr/>
                    <a:lstStyle/>
                    <a:p>
                      <a:r>
                        <a:rPr kumimoji="1" lang="ja-JP" altLang="en-US" dirty="0">
                          <a:solidFill>
                            <a:schemeClr val="tx1">
                              <a:lumMod val="75000"/>
                            </a:schemeClr>
                          </a:solidFill>
                        </a:rPr>
                        <a:t>年齢</a:t>
                      </a:r>
                    </a:p>
                  </a:txBody>
                  <a:tcPr/>
                </a:tc>
                <a:tc>
                  <a:txBody>
                    <a:bodyPr/>
                    <a:lstStyle/>
                    <a:p>
                      <a:r>
                        <a:rPr kumimoji="1" lang="ja-JP" altLang="en-US" dirty="0">
                          <a:solidFill>
                            <a:schemeClr val="tx1">
                              <a:lumMod val="75000"/>
                            </a:schemeClr>
                          </a:solidFill>
                        </a:rPr>
                        <a:t>部署コード</a:t>
                      </a:r>
                    </a:p>
                  </a:txBody>
                  <a:tcPr/>
                </a:tc>
                <a:extLst>
                  <a:ext uri="{0D108BD9-81ED-4DB2-BD59-A6C34878D82A}">
                    <a16:rowId xmlns:a16="http://schemas.microsoft.com/office/drawing/2014/main" val="2035072520"/>
                  </a:ext>
                </a:extLst>
              </a:tr>
              <a:tr h="370840">
                <a:tc>
                  <a:txBody>
                    <a:bodyPr/>
                    <a:lstStyle/>
                    <a:p>
                      <a:r>
                        <a:rPr kumimoji="1" lang="en-US" altLang="ja-JP" dirty="0"/>
                        <a:t>C0001</a:t>
                      </a:r>
                      <a:endParaRPr kumimoji="1" lang="ja-JP" altLang="en-US" dirty="0"/>
                    </a:p>
                  </a:txBody>
                  <a:tcPr/>
                </a:tc>
                <a:tc>
                  <a:txBody>
                    <a:bodyPr/>
                    <a:lstStyle/>
                    <a:p>
                      <a:r>
                        <a:rPr kumimoji="1" lang="en-US" altLang="ja-JP" dirty="0"/>
                        <a:t>000A</a:t>
                      </a:r>
                      <a:endParaRPr kumimoji="1" lang="ja-JP" altLang="en-US" dirty="0"/>
                    </a:p>
                  </a:txBody>
                  <a:tcPr/>
                </a:tc>
                <a:tc>
                  <a:txBody>
                    <a:bodyPr/>
                    <a:lstStyle/>
                    <a:p>
                      <a:r>
                        <a:rPr kumimoji="1" lang="ja-JP" altLang="en-US" dirty="0"/>
                        <a:t>加藤</a:t>
                      </a:r>
                    </a:p>
                  </a:txBody>
                  <a:tcPr/>
                </a:tc>
                <a:tc>
                  <a:txBody>
                    <a:bodyPr/>
                    <a:lstStyle/>
                    <a:p>
                      <a:r>
                        <a:rPr kumimoji="1" lang="en-US" altLang="ja-JP" dirty="0"/>
                        <a:t>40</a:t>
                      </a:r>
                      <a:endParaRPr kumimoji="1" lang="ja-JP" altLang="en-US" dirty="0"/>
                    </a:p>
                  </a:txBody>
                  <a:tcPr/>
                </a:tc>
                <a:tc>
                  <a:txBody>
                    <a:bodyPr/>
                    <a:lstStyle/>
                    <a:p>
                      <a:r>
                        <a:rPr kumimoji="1" lang="en-US" altLang="ja-JP" dirty="0"/>
                        <a:t>D01</a:t>
                      </a:r>
                      <a:endParaRPr kumimoji="1" lang="ja-JP" altLang="en-US" dirty="0"/>
                    </a:p>
                  </a:txBody>
                  <a:tcPr/>
                </a:tc>
                <a:extLst>
                  <a:ext uri="{0D108BD9-81ED-4DB2-BD59-A6C34878D82A}">
                    <a16:rowId xmlns:a16="http://schemas.microsoft.com/office/drawing/2014/main" val="3787714943"/>
                  </a:ext>
                </a:extLst>
              </a:tr>
              <a:tr h="370840">
                <a:tc>
                  <a:txBody>
                    <a:bodyPr/>
                    <a:lstStyle/>
                    <a:p>
                      <a:r>
                        <a:rPr kumimoji="1" lang="en-US" altLang="ja-JP" dirty="0"/>
                        <a:t>C0001</a:t>
                      </a:r>
                      <a:endParaRPr kumimoji="1" lang="ja-JP" altLang="en-US" dirty="0"/>
                    </a:p>
                  </a:txBody>
                  <a:tcPr/>
                </a:tc>
                <a:tc>
                  <a:txBody>
                    <a:bodyPr/>
                    <a:lstStyle/>
                    <a:p>
                      <a:r>
                        <a:rPr kumimoji="1" lang="en-US" altLang="ja-JP" dirty="0"/>
                        <a:t>000B</a:t>
                      </a:r>
                      <a:endParaRPr kumimoji="1" lang="ja-JP" altLang="en-US" dirty="0"/>
                    </a:p>
                  </a:txBody>
                  <a:tcPr/>
                </a:tc>
                <a:tc>
                  <a:txBody>
                    <a:bodyPr/>
                    <a:lstStyle/>
                    <a:p>
                      <a:r>
                        <a:rPr kumimoji="1" lang="ja-JP" altLang="en-US" dirty="0"/>
                        <a:t>藤本</a:t>
                      </a:r>
                    </a:p>
                  </a:txBody>
                  <a:tcPr/>
                </a:tc>
                <a:tc>
                  <a:txBody>
                    <a:bodyPr/>
                    <a:lstStyle/>
                    <a:p>
                      <a:r>
                        <a:rPr kumimoji="1" lang="en-US" altLang="ja-JP" dirty="0"/>
                        <a:t>32</a:t>
                      </a:r>
                      <a:endParaRPr kumimoji="1" lang="ja-JP" altLang="en-US" dirty="0"/>
                    </a:p>
                  </a:txBody>
                  <a:tcPr/>
                </a:tc>
                <a:tc>
                  <a:txBody>
                    <a:bodyPr/>
                    <a:lstStyle/>
                    <a:p>
                      <a:r>
                        <a:rPr kumimoji="1" lang="en-US" altLang="ja-JP" dirty="0"/>
                        <a:t>D02</a:t>
                      </a:r>
                      <a:endParaRPr kumimoji="1" lang="ja-JP" altLang="en-US" dirty="0"/>
                    </a:p>
                  </a:txBody>
                  <a:tcPr/>
                </a:tc>
                <a:extLst>
                  <a:ext uri="{0D108BD9-81ED-4DB2-BD59-A6C34878D82A}">
                    <a16:rowId xmlns:a16="http://schemas.microsoft.com/office/drawing/2014/main" val="532976586"/>
                  </a:ext>
                </a:extLst>
              </a:tr>
              <a:tr h="370840">
                <a:tc>
                  <a:txBody>
                    <a:bodyPr/>
                    <a:lstStyle/>
                    <a:p>
                      <a:r>
                        <a:rPr kumimoji="1" lang="en-US" altLang="ja-JP" dirty="0"/>
                        <a:t>C0001</a:t>
                      </a:r>
                      <a:endParaRPr kumimoji="1" lang="ja-JP" altLang="en-US" dirty="0"/>
                    </a:p>
                  </a:txBody>
                  <a:tcPr/>
                </a:tc>
                <a:tc>
                  <a:txBody>
                    <a:bodyPr/>
                    <a:lstStyle/>
                    <a:p>
                      <a:r>
                        <a:rPr kumimoji="1" lang="en-US" altLang="ja-JP" dirty="0"/>
                        <a:t>001F</a:t>
                      </a:r>
                      <a:endParaRPr kumimoji="1" lang="ja-JP" altLang="en-US" dirty="0"/>
                    </a:p>
                  </a:txBody>
                  <a:tcPr/>
                </a:tc>
                <a:tc>
                  <a:txBody>
                    <a:bodyPr/>
                    <a:lstStyle/>
                    <a:p>
                      <a:r>
                        <a:rPr kumimoji="1" lang="ja-JP" altLang="en-US" dirty="0"/>
                        <a:t>三島</a:t>
                      </a:r>
                    </a:p>
                  </a:txBody>
                  <a:tcPr/>
                </a:tc>
                <a:tc>
                  <a:txBody>
                    <a:bodyPr/>
                    <a:lstStyle/>
                    <a:p>
                      <a:r>
                        <a:rPr kumimoji="1" lang="en-US" altLang="ja-JP" dirty="0"/>
                        <a:t>50</a:t>
                      </a:r>
                      <a:endParaRPr kumimoji="1" lang="ja-JP" altLang="en-US" dirty="0"/>
                    </a:p>
                  </a:txBody>
                  <a:tcPr/>
                </a:tc>
                <a:tc>
                  <a:txBody>
                    <a:bodyPr/>
                    <a:lstStyle/>
                    <a:p>
                      <a:r>
                        <a:rPr kumimoji="1" lang="en-US" altLang="ja-JP" dirty="0"/>
                        <a:t>D03</a:t>
                      </a:r>
                      <a:endParaRPr kumimoji="1" lang="ja-JP" altLang="en-US" dirty="0"/>
                    </a:p>
                  </a:txBody>
                  <a:tcPr/>
                </a:tc>
                <a:extLst>
                  <a:ext uri="{0D108BD9-81ED-4DB2-BD59-A6C34878D82A}">
                    <a16:rowId xmlns:a16="http://schemas.microsoft.com/office/drawing/2014/main" val="3616448333"/>
                  </a:ext>
                </a:extLst>
              </a:tr>
              <a:tr h="370840">
                <a:tc>
                  <a:txBody>
                    <a:bodyPr/>
                    <a:lstStyle/>
                    <a:p>
                      <a:r>
                        <a:rPr kumimoji="1" lang="en-US" altLang="ja-JP" dirty="0"/>
                        <a:t>C0002</a:t>
                      </a:r>
                      <a:endParaRPr kumimoji="1" lang="ja-JP" altLang="en-US" dirty="0"/>
                    </a:p>
                  </a:txBody>
                  <a:tcPr/>
                </a:tc>
                <a:tc>
                  <a:txBody>
                    <a:bodyPr/>
                    <a:lstStyle/>
                    <a:p>
                      <a:r>
                        <a:rPr kumimoji="1" lang="en-US" altLang="ja-JP" dirty="0"/>
                        <a:t>000A</a:t>
                      </a:r>
                      <a:endParaRPr kumimoji="1" lang="ja-JP" altLang="en-US" dirty="0"/>
                    </a:p>
                  </a:txBody>
                  <a:tcPr/>
                </a:tc>
                <a:tc>
                  <a:txBody>
                    <a:bodyPr/>
                    <a:lstStyle/>
                    <a:p>
                      <a:r>
                        <a:rPr kumimoji="1" lang="ja-JP" altLang="en-US" dirty="0"/>
                        <a:t>斎藤</a:t>
                      </a:r>
                    </a:p>
                  </a:txBody>
                  <a:tcPr/>
                </a:tc>
                <a:tc>
                  <a:txBody>
                    <a:bodyPr/>
                    <a:lstStyle/>
                    <a:p>
                      <a:r>
                        <a:rPr kumimoji="1" lang="en-US" altLang="ja-JP" dirty="0"/>
                        <a:t>47</a:t>
                      </a:r>
                      <a:endParaRPr kumimoji="1" lang="ja-JP" altLang="en-US" dirty="0"/>
                    </a:p>
                  </a:txBody>
                  <a:tcPr/>
                </a:tc>
                <a:tc>
                  <a:txBody>
                    <a:bodyPr/>
                    <a:lstStyle/>
                    <a:p>
                      <a:r>
                        <a:rPr kumimoji="1" lang="en-US" altLang="ja-JP" dirty="0"/>
                        <a:t>D03</a:t>
                      </a:r>
                      <a:endParaRPr kumimoji="1" lang="ja-JP" altLang="en-US" dirty="0"/>
                    </a:p>
                  </a:txBody>
                  <a:tcPr/>
                </a:tc>
                <a:extLst>
                  <a:ext uri="{0D108BD9-81ED-4DB2-BD59-A6C34878D82A}">
                    <a16:rowId xmlns:a16="http://schemas.microsoft.com/office/drawing/2014/main" val="433193485"/>
                  </a:ext>
                </a:extLst>
              </a:tr>
              <a:tr h="0">
                <a:tc>
                  <a:txBody>
                    <a:bodyPr/>
                    <a:lstStyle/>
                    <a:p>
                      <a:r>
                        <a:rPr kumimoji="1" lang="en-US" altLang="ja-JP" dirty="0"/>
                        <a:t>C0002</a:t>
                      </a:r>
                      <a:endParaRPr kumimoji="1" lang="ja-JP" altLang="en-US" dirty="0"/>
                    </a:p>
                  </a:txBody>
                  <a:tcPr/>
                </a:tc>
                <a:tc>
                  <a:txBody>
                    <a:bodyPr/>
                    <a:lstStyle/>
                    <a:p>
                      <a:r>
                        <a:rPr kumimoji="1" lang="en-US" altLang="ja-JP" dirty="0"/>
                        <a:t>009F</a:t>
                      </a:r>
                      <a:endParaRPr kumimoji="1" lang="ja-JP" altLang="en-US" dirty="0"/>
                    </a:p>
                  </a:txBody>
                  <a:tcPr/>
                </a:tc>
                <a:tc>
                  <a:txBody>
                    <a:bodyPr/>
                    <a:lstStyle/>
                    <a:p>
                      <a:r>
                        <a:rPr kumimoji="1" lang="ja-JP" altLang="en-US" dirty="0"/>
                        <a:t>田島</a:t>
                      </a:r>
                    </a:p>
                  </a:txBody>
                  <a:tcPr/>
                </a:tc>
                <a:tc>
                  <a:txBody>
                    <a:bodyPr/>
                    <a:lstStyle/>
                    <a:p>
                      <a:r>
                        <a:rPr kumimoji="1" lang="en-US" altLang="ja-JP" dirty="0"/>
                        <a:t>25</a:t>
                      </a:r>
                      <a:endParaRPr kumimoji="1" lang="ja-JP" altLang="en-US" dirty="0"/>
                    </a:p>
                  </a:txBody>
                  <a:tcPr/>
                </a:tc>
                <a:tc>
                  <a:txBody>
                    <a:bodyPr/>
                    <a:lstStyle/>
                    <a:p>
                      <a:r>
                        <a:rPr kumimoji="1" lang="en-US" altLang="ja-JP" dirty="0"/>
                        <a:t>D01</a:t>
                      </a:r>
                      <a:endParaRPr kumimoji="1" lang="ja-JP" altLang="en-US" dirty="0"/>
                    </a:p>
                  </a:txBody>
                  <a:tcPr/>
                </a:tc>
                <a:extLst>
                  <a:ext uri="{0D108BD9-81ED-4DB2-BD59-A6C34878D82A}">
                    <a16:rowId xmlns:a16="http://schemas.microsoft.com/office/drawing/2014/main" val="707118752"/>
                  </a:ext>
                </a:extLst>
              </a:tr>
              <a:tr h="370840">
                <a:tc>
                  <a:txBody>
                    <a:bodyPr/>
                    <a:lstStyle/>
                    <a:p>
                      <a:r>
                        <a:rPr kumimoji="1" lang="en-US" altLang="ja-JP" dirty="0"/>
                        <a:t>C0002</a:t>
                      </a:r>
                      <a:endParaRPr kumimoji="1" lang="ja-JP" altLang="en-US" dirty="0"/>
                    </a:p>
                  </a:txBody>
                  <a:tcPr/>
                </a:tc>
                <a:tc>
                  <a:txBody>
                    <a:bodyPr/>
                    <a:lstStyle/>
                    <a:p>
                      <a:r>
                        <a:rPr kumimoji="1" lang="en-US" altLang="ja-JP" dirty="0"/>
                        <a:t>010A</a:t>
                      </a:r>
                      <a:endParaRPr kumimoji="1" lang="ja-JP" altLang="en-US" dirty="0"/>
                    </a:p>
                  </a:txBody>
                  <a:tcPr/>
                </a:tc>
                <a:tc>
                  <a:txBody>
                    <a:bodyPr/>
                    <a:lstStyle/>
                    <a:p>
                      <a:r>
                        <a:rPr kumimoji="1" lang="ja-JP" altLang="en-US" dirty="0"/>
                        <a:t>渋谷</a:t>
                      </a:r>
                    </a:p>
                  </a:txBody>
                  <a:tcPr/>
                </a:tc>
                <a:tc>
                  <a:txBody>
                    <a:bodyPr/>
                    <a:lstStyle/>
                    <a:p>
                      <a:r>
                        <a:rPr kumimoji="1" lang="en-US" altLang="ja-JP" dirty="0"/>
                        <a:t>33</a:t>
                      </a:r>
                      <a:endParaRPr kumimoji="1" lang="ja-JP" altLang="en-US" dirty="0"/>
                    </a:p>
                  </a:txBody>
                  <a:tcPr/>
                </a:tc>
                <a:tc>
                  <a:txBody>
                    <a:bodyPr/>
                    <a:lstStyle/>
                    <a:p>
                      <a:r>
                        <a:rPr kumimoji="1" lang="en-US" altLang="ja-JP" dirty="0"/>
                        <a:t>D04</a:t>
                      </a:r>
                      <a:endParaRPr kumimoji="1" lang="ja-JP" altLang="en-US" dirty="0"/>
                    </a:p>
                  </a:txBody>
                  <a:tcPr/>
                </a:tc>
                <a:extLst>
                  <a:ext uri="{0D108BD9-81ED-4DB2-BD59-A6C34878D82A}">
                    <a16:rowId xmlns:a16="http://schemas.microsoft.com/office/drawing/2014/main" val="3593766194"/>
                  </a:ext>
                </a:extLst>
              </a:tr>
            </a:tbl>
          </a:graphicData>
        </a:graphic>
      </p:graphicFrame>
      <p:graphicFrame>
        <p:nvGraphicFramePr>
          <p:cNvPr id="13" name="表 12">
            <a:extLst>
              <a:ext uri="{FF2B5EF4-FFF2-40B4-BE49-F238E27FC236}">
                <a16:creationId xmlns:a16="http://schemas.microsoft.com/office/drawing/2014/main" id="{DC1C43F8-8018-2C8E-A97F-B8412223DDE8}"/>
              </a:ext>
            </a:extLst>
          </p:cNvPr>
          <p:cNvGraphicFramePr>
            <a:graphicFrameLocks noGrp="1"/>
          </p:cNvGraphicFramePr>
          <p:nvPr>
            <p:extLst>
              <p:ext uri="{D42A27DB-BD31-4B8C-83A1-F6EECF244321}">
                <p14:modId xmlns:p14="http://schemas.microsoft.com/office/powerpoint/2010/main" val="2779578440"/>
              </p:ext>
            </p:extLst>
          </p:nvPr>
        </p:nvGraphicFramePr>
        <p:xfrm>
          <a:off x="6487848" y="3999680"/>
          <a:ext cx="2701770" cy="1114398"/>
        </p:xfrm>
        <a:graphic>
          <a:graphicData uri="http://schemas.openxmlformats.org/drawingml/2006/table">
            <a:tbl>
              <a:tblPr firstRow="1" bandRow="1">
                <a:tableStyleId>{5C22544A-7EE6-4342-B048-85BDC9FD1C3A}</a:tableStyleId>
              </a:tblPr>
              <a:tblGrid>
                <a:gridCol w="1350885">
                  <a:extLst>
                    <a:ext uri="{9D8B030D-6E8A-4147-A177-3AD203B41FA5}">
                      <a16:colId xmlns:a16="http://schemas.microsoft.com/office/drawing/2014/main" val="125754055"/>
                    </a:ext>
                  </a:extLst>
                </a:gridCol>
                <a:gridCol w="1350885">
                  <a:extLst>
                    <a:ext uri="{9D8B030D-6E8A-4147-A177-3AD203B41FA5}">
                      <a16:colId xmlns:a16="http://schemas.microsoft.com/office/drawing/2014/main" val="3136733704"/>
                    </a:ext>
                  </a:extLst>
                </a:gridCol>
              </a:tblGrid>
              <a:tr h="206893">
                <a:tc>
                  <a:txBody>
                    <a:bodyPr/>
                    <a:lstStyle/>
                    <a:p>
                      <a:r>
                        <a:rPr kumimoji="1" lang="ja-JP" altLang="en-US" u="sng" dirty="0">
                          <a:solidFill>
                            <a:schemeClr val="tx1">
                              <a:lumMod val="75000"/>
                            </a:schemeClr>
                          </a:solidFill>
                        </a:rPr>
                        <a:t>会社コード</a:t>
                      </a:r>
                    </a:p>
                  </a:txBody>
                  <a:tcPr/>
                </a:tc>
                <a:tc>
                  <a:txBody>
                    <a:bodyPr/>
                    <a:lstStyle/>
                    <a:p>
                      <a:r>
                        <a:rPr kumimoji="1" lang="ja-JP" altLang="en-US" dirty="0">
                          <a:solidFill>
                            <a:schemeClr val="tx1">
                              <a:lumMod val="75000"/>
                            </a:schemeClr>
                          </a:solidFill>
                        </a:rPr>
                        <a:t>会社名</a:t>
                      </a:r>
                    </a:p>
                  </a:txBody>
                  <a:tcPr/>
                </a:tc>
                <a:extLst>
                  <a:ext uri="{0D108BD9-81ED-4DB2-BD59-A6C34878D82A}">
                    <a16:rowId xmlns:a16="http://schemas.microsoft.com/office/drawing/2014/main" val="4058254409"/>
                  </a:ext>
                </a:extLst>
              </a:tr>
              <a:tr h="377798">
                <a:tc>
                  <a:txBody>
                    <a:bodyPr/>
                    <a:lstStyle/>
                    <a:p>
                      <a:r>
                        <a:rPr kumimoji="1" lang="en-US" altLang="ja-JP" dirty="0"/>
                        <a:t>C0001</a:t>
                      </a:r>
                      <a:endParaRPr kumimoji="1" lang="ja-JP" altLang="en-US" dirty="0"/>
                    </a:p>
                  </a:txBody>
                  <a:tcPr/>
                </a:tc>
                <a:tc>
                  <a:txBody>
                    <a:bodyPr/>
                    <a:lstStyle/>
                    <a:p>
                      <a:r>
                        <a:rPr kumimoji="1" lang="en-US" altLang="ja-JP" dirty="0"/>
                        <a:t>A</a:t>
                      </a:r>
                      <a:r>
                        <a:rPr kumimoji="1" lang="ja-JP" altLang="en-US" dirty="0"/>
                        <a:t>商事</a:t>
                      </a:r>
                    </a:p>
                  </a:txBody>
                  <a:tcPr/>
                </a:tc>
                <a:extLst>
                  <a:ext uri="{0D108BD9-81ED-4DB2-BD59-A6C34878D82A}">
                    <a16:rowId xmlns:a16="http://schemas.microsoft.com/office/drawing/2014/main" val="4048863321"/>
                  </a:ext>
                </a:extLst>
              </a:tr>
              <a:tr h="370840">
                <a:tc>
                  <a:txBody>
                    <a:bodyPr/>
                    <a:lstStyle/>
                    <a:p>
                      <a:r>
                        <a:rPr kumimoji="1" lang="en-US" altLang="ja-JP" dirty="0"/>
                        <a:t>C0002</a:t>
                      </a:r>
                      <a:endParaRPr kumimoji="1" lang="ja-JP" altLang="en-US" dirty="0"/>
                    </a:p>
                  </a:txBody>
                  <a:tcPr/>
                </a:tc>
                <a:tc>
                  <a:txBody>
                    <a:bodyPr/>
                    <a:lstStyle/>
                    <a:p>
                      <a:r>
                        <a:rPr kumimoji="1" lang="en-US" altLang="ja-JP" dirty="0"/>
                        <a:t>B</a:t>
                      </a:r>
                      <a:r>
                        <a:rPr kumimoji="1" lang="ja-JP" altLang="en-US" dirty="0"/>
                        <a:t>化学</a:t>
                      </a:r>
                    </a:p>
                  </a:txBody>
                  <a:tcPr/>
                </a:tc>
                <a:extLst>
                  <a:ext uri="{0D108BD9-81ED-4DB2-BD59-A6C34878D82A}">
                    <a16:rowId xmlns:a16="http://schemas.microsoft.com/office/drawing/2014/main" val="594273322"/>
                  </a:ext>
                </a:extLst>
              </a:tr>
            </a:tbl>
          </a:graphicData>
        </a:graphic>
      </p:graphicFrame>
      <p:sp>
        <p:nvSpPr>
          <p:cNvPr id="14" name="正方形/長方形 13">
            <a:extLst>
              <a:ext uri="{FF2B5EF4-FFF2-40B4-BE49-F238E27FC236}">
                <a16:creationId xmlns:a16="http://schemas.microsoft.com/office/drawing/2014/main" id="{3ED28AE8-29B5-4D94-A7B7-956FCD3DA201}"/>
              </a:ext>
            </a:extLst>
          </p:cNvPr>
          <p:cNvSpPr/>
          <p:nvPr/>
        </p:nvSpPr>
        <p:spPr>
          <a:xfrm>
            <a:off x="6487848" y="329634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第</a:t>
            </a:r>
            <a:r>
              <a:rPr lang="en-US" altLang="ja-JP" sz="1400" dirty="0">
                <a:solidFill>
                  <a:schemeClr val="tx1">
                    <a:lumMod val="75000"/>
                  </a:schemeClr>
                </a:solidFill>
              </a:rPr>
              <a:t>3</a:t>
            </a:r>
            <a:r>
              <a:rPr lang="ja-JP" altLang="en-US" sz="1400" dirty="0">
                <a:solidFill>
                  <a:schemeClr val="tx1">
                    <a:lumMod val="75000"/>
                  </a:schemeClr>
                </a:solidFill>
              </a:rPr>
              <a:t>正規形</a:t>
            </a:r>
            <a:endParaRPr lang="en-US" altLang="ja-JP" sz="1400" dirty="0">
              <a:solidFill>
                <a:schemeClr val="tx1">
                  <a:lumMod val="75000"/>
                </a:schemeClr>
              </a:solidFill>
            </a:endParaRPr>
          </a:p>
          <a:p>
            <a:pPr algn="ctr"/>
            <a:r>
              <a:rPr lang="ja-JP" altLang="en-US" sz="1400" dirty="0">
                <a:solidFill>
                  <a:schemeClr val="tx1">
                    <a:lumMod val="75000"/>
                  </a:schemeClr>
                </a:solidFill>
              </a:rPr>
              <a:t>（会社）</a:t>
            </a:r>
            <a:endParaRPr lang="en-US" altLang="ja-JP" sz="1400" dirty="0">
              <a:solidFill>
                <a:schemeClr val="tx1">
                  <a:lumMod val="75000"/>
                </a:schemeClr>
              </a:solidFill>
            </a:endParaRPr>
          </a:p>
        </p:txBody>
      </p:sp>
      <p:graphicFrame>
        <p:nvGraphicFramePr>
          <p:cNvPr id="15" name="表 14">
            <a:extLst>
              <a:ext uri="{FF2B5EF4-FFF2-40B4-BE49-F238E27FC236}">
                <a16:creationId xmlns:a16="http://schemas.microsoft.com/office/drawing/2014/main" id="{C682ED6C-AA53-14A7-6419-CEED6EAE2615}"/>
              </a:ext>
            </a:extLst>
          </p:cNvPr>
          <p:cNvGraphicFramePr>
            <a:graphicFrameLocks noGrp="1"/>
          </p:cNvGraphicFramePr>
          <p:nvPr>
            <p:extLst>
              <p:ext uri="{D42A27DB-BD31-4B8C-83A1-F6EECF244321}">
                <p14:modId xmlns:p14="http://schemas.microsoft.com/office/powerpoint/2010/main" val="4217938237"/>
              </p:ext>
            </p:extLst>
          </p:nvPr>
        </p:nvGraphicFramePr>
        <p:xfrm>
          <a:off x="9321800" y="3999680"/>
          <a:ext cx="2675343" cy="1850998"/>
        </p:xfrm>
        <a:graphic>
          <a:graphicData uri="http://schemas.openxmlformats.org/drawingml/2006/table">
            <a:tbl>
              <a:tblPr firstRow="1" bandRow="1">
                <a:tableStyleId>{5C22544A-7EE6-4342-B048-85BDC9FD1C3A}</a:tableStyleId>
              </a:tblPr>
              <a:tblGrid>
                <a:gridCol w="1324458">
                  <a:extLst>
                    <a:ext uri="{9D8B030D-6E8A-4147-A177-3AD203B41FA5}">
                      <a16:colId xmlns:a16="http://schemas.microsoft.com/office/drawing/2014/main" val="125754055"/>
                    </a:ext>
                  </a:extLst>
                </a:gridCol>
                <a:gridCol w="1350885">
                  <a:extLst>
                    <a:ext uri="{9D8B030D-6E8A-4147-A177-3AD203B41FA5}">
                      <a16:colId xmlns:a16="http://schemas.microsoft.com/office/drawing/2014/main" val="3136733704"/>
                    </a:ext>
                  </a:extLst>
                </a:gridCol>
              </a:tblGrid>
              <a:tr h="206893">
                <a:tc>
                  <a:txBody>
                    <a:bodyPr/>
                    <a:lstStyle/>
                    <a:p>
                      <a:r>
                        <a:rPr kumimoji="1" lang="ja-JP" altLang="en-US" u="sng" dirty="0">
                          <a:solidFill>
                            <a:schemeClr val="tx1">
                              <a:lumMod val="75000"/>
                            </a:schemeClr>
                          </a:solidFill>
                        </a:rPr>
                        <a:t>部署コード</a:t>
                      </a:r>
                    </a:p>
                  </a:txBody>
                  <a:tcPr/>
                </a:tc>
                <a:tc>
                  <a:txBody>
                    <a:bodyPr/>
                    <a:lstStyle/>
                    <a:p>
                      <a:r>
                        <a:rPr kumimoji="1" lang="ja-JP" altLang="en-US" dirty="0">
                          <a:solidFill>
                            <a:schemeClr val="tx1">
                              <a:lumMod val="75000"/>
                            </a:schemeClr>
                          </a:solidFill>
                        </a:rPr>
                        <a:t>部署名</a:t>
                      </a:r>
                    </a:p>
                  </a:txBody>
                  <a:tcPr/>
                </a:tc>
                <a:extLst>
                  <a:ext uri="{0D108BD9-81ED-4DB2-BD59-A6C34878D82A}">
                    <a16:rowId xmlns:a16="http://schemas.microsoft.com/office/drawing/2014/main" val="4058254409"/>
                  </a:ext>
                </a:extLst>
              </a:tr>
              <a:tr h="377798">
                <a:tc>
                  <a:txBody>
                    <a:bodyPr/>
                    <a:lstStyle/>
                    <a:p>
                      <a:r>
                        <a:rPr kumimoji="1" lang="en-US" altLang="ja-JP" dirty="0"/>
                        <a:t>D01</a:t>
                      </a:r>
                      <a:endParaRPr kumimoji="1" lang="ja-JP" altLang="en-US" dirty="0"/>
                    </a:p>
                  </a:txBody>
                  <a:tcPr/>
                </a:tc>
                <a:tc>
                  <a:txBody>
                    <a:bodyPr/>
                    <a:lstStyle/>
                    <a:p>
                      <a:r>
                        <a:rPr kumimoji="1" lang="ja-JP" altLang="en-US" dirty="0"/>
                        <a:t>開発</a:t>
                      </a:r>
                    </a:p>
                  </a:txBody>
                  <a:tcPr/>
                </a:tc>
                <a:extLst>
                  <a:ext uri="{0D108BD9-81ED-4DB2-BD59-A6C34878D82A}">
                    <a16:rowId xmlns:a16="http://schemas.microsoft.com/office/drawing/2014/main" val="4048863321"/>
                  </a:ext>
                </a:extLst>
              </a:tr>
              <a:tr h="370840">
                <a:tc>
                  <a:txBody>
                    <a:bodyPr/>
                    <a:lstStyle/>
                    <a:p>
                      <a:r>
                        <a:rPr kumimoji="1" lang="en-US" altLang="ja-JP" dirty="0"/>
                        <a:t>D02</a:t>
                      </a:r>
                      <a:endParaRPr kumimoji="1" lang="ja-JP" altLang="en-US" dirty="0"/>
                    </a:p>
                  </a:txBody>
                  <a:tcPr/>
                </a:tc>
                <a:tc>
                  <a:txBody>
                    <a:bodyPr/>
                    <a:lstStyle/>
                    <a:p>
                      <a:r>
                        <a:rPr kumimoji="1" lang="ja-JP" altLang="en-US" dirty="0"/>
                        <a:t>人事</a:t>
                      </a:r>
                    </a:p>
                  </a:txBody>
                  <a:tcPr/>
                </a:tc>
                <a:extLst>
                  <a:ext uri="{0D108BD9-81ED-4DB2-BD59-A6C34878D82A}">
                    <a16:rowId xmlns:a16="http://schemas.microsoft.com/office/drawing/2014/main" val="594273322"/>
                  </a:ext>
                </a:extLst>
              </a:tr>
              <a:tr h="370840">
                <a:tc>
                  <a:txBody>
                    <a:bodyPr/>
                    <a:lstStyle/>
                    <a:p>
                      <a:r>
                        <a:rPr kumimoji="1" lang="en-US" altLang="ja-JP" dirty="0"/>
                        <a:t>D03</a:t>
                      </a:r>
                      <a:endParaRPr kumimoji="1" lang="ja-JP" altLang="en-US" dirty="0"/>
                    </a:p>
                  </a:txBody>
                  <a:tcPr/>
                </a:tc>
                <a:tc>
                  <a:txBody>
                    <a:bodyPr/>
                    <a:lstStyle/>
                    <a:p>
                      <a:r>
                        <a:rPr kumimoji="1" lang="ja-JP" altLang="en-US" dirty="0"/>
                        <a:t>営業</a:t>
                      </a:r>
                    </a:p>
                  </a:txBody>
                  <a:tcPr/>
                </a:tc>
                <a:extLst>
                  <a:ext uri="{0D108BD9-81ED-4DB2-BD59-A6C34878D82A}">
                    <a16:rowId xmlns:a16="http://schemas.microsoft.com/office/drawing/2014/main" val="1528371204"/>
                  </a:ext>
                </a:extLst>
              </a:tr>
              <a:tr h="0">
                <a:tc>
                  <a:txBody>
                    <a:bodyPr/>
                    <a:lstStyle/>
                    <a:p>
                      <a:r>
                        <a:rPr kumimoji="1" lang="en-US" altLang="ja-JP" dirty="0"/>
                        <a:t>D04</a:t>
                      </a:r>
                      <a:endParaRPr kumimoji="1" lang="ja-JP" altLang="en-US" dirty="0"/>
                    </a:p>
                  </a:txBody>
                  <a:tcPr/>
                </a:tc>
                <a:tc>
                  <a:txBody>
                    <a:bodyPr/>
                    <a:lstStyle/>
                    <a:p>
                      <a:r>
                        <a:rPr kumimoji="1" lang="ja-JP" altLang="en-US" dirty="0"/>
                        <a:t>総務</a:t>
                      </a:r>
                    </a:p>
                  </a:txBody>
                  <a:tcPr/>
                </a:tc>
                <a:extLst>
                  <a:ext uri="{0D108BD9-81ED-4DB2-BD59-A6C34878D82A}">
                    <a16:rowId xmlns:a16="http://schemas.microsoft.com/office/drawing/2014/main" val="3685763355"/>
                  </a:ext>
                </a:extLst>
              </a:tr>
            </a:tbl>
          </a:graphicData>
        </a:graphic>
      </p:graphicFrame>
      <p:sp>
        <p:nvSpPr>
          <p:cNvPr id="16" name="正方形/長方形 15">
            <a:extLst>
              <a:ext uri="{FF2B5EF4-FFF2-40B4-BE49-F238E27FC236}">
                <a16:creationId xmlns:a16="http://schemas.microsoft.com/office/drawing/2014/main" id="{AFEA816F-4DD1-F239-BD0C-A6158587A1F9}"/>
              </a:ext>
            </a:extLst>
          </p:cNvPr>
          <p:cNvSpPr/>
          <p:nvPr/>
        </p:nvSpPr>
        <p:spPr>
          <a:xfrm>
            <a:off x="9295373" y="3296343"/>
            <a:ext cx="1458000" cy="593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lumMod val="75000"/>
                  </a:schemeClr>
                </a:solidFill>
              </a:rPr>
              <a:t>第</a:t>
            </a:r>
            <a:r>
              <a:rPr lang="en-US" altLang="ja-JP" sz="1400" dirty="0">
                <a:solidFill>
                  <a:schemeClr val="tx1">
                    <a:lumMod val="75000"/>
                  </a:schemeClr>
                </a:solidFill>
              </a:rPr>
              <a:t>3</a:t>
            </a:r>
            <a:r>
              <a:rPr lang="ja-JP" altLang="en-US" sz="1400" dirty="0">
                <a:solidFill>
                  <a:schemeClr val="tx1">
                    <a:lumMod val="75000"/>
                  </a:schemeClr>
                </a:solidFill>
              </a:rPr>
              <a:t>正規形</a:t>
            </a:r>
            <a:endParaRPr lang="en-US" altLang="ja-JP" sz="1400" dirty="0">
              <a:solidFill>
                <a:schemeClr val="tx1">
                  <a:lumMod val="75000"/>
                </a:schemeClr>
              </a:solidFill>
            </a:endParaRPr>
          </a:p>
          <a:p>
            <a:pPr algn="ctr"/>
            <a:r>
              <a:rPr lang="ja-JP" altLang="en-US" sz="1400" dirty="0">
                <a:solidFill>
                  <a:schemeClr val="tx1">
                    <a:lumMod val="75000"/>
                  </a:schemeClr>
                </a:solidFill>
              </a:rPr>
              <a:t>（部署）</a:t>
            </a:r>
            <a:endParaRPr lang="en-US" altLang="ja-JP" sz="1400" dirty="0">
              <a:solidFill>
                <a:schemeClr val="tx1">
                  <a:lumMod val="75000"/>
                </a:schemeClr>
              </a:solidFill>
            </a:endParaRPr>
          </a:p>
        </p:txBody>
      </p:sp>
    </p:spTree>
    <p:extLst>
      <p:ext uri="{BB962C8B-B14F-4D97-AF65-F5344CB8AC3E}">
        <p14:creationId xmlns:p14="http://schemas.microsoft.com/office/powerpoint/2010/main" val="7577780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F853F-E889-86A6-C246-E57B23B48F21}"/>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EB316833-5C1B-B87A-21D1-782C0F49D550}"/>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491BC590-0001-776F-94C4-E692A166808D}"/>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「結合」のため実施する</a:t>
            </a:r>
            <a:r>
              <a:rPr lang="en-US" altLang="ja-JP" sz="2800" dirty="0"/>
              <a:t>SQL【JOIN</a:t>
            </a:r>
            <a:r>
              <a:rPr lang="ja-JP" altLang="en-US" sz="2800" dirty="0"/>
              <a:t>句を用いる</a:t>
            </a:r>
            <a:r>
              <a:rPr lang="en-US" altLang="ja-JP" sz="2800" dirty="0"/>
              <a:t>】</a:t>
            </a:r>
          </a:p>
        </p:txBody>
      </p:sp>
      <p:sp>
        <p:nvSpPr>
          <p:cNvPr id="4" name="タイトル プレースホルダー 1">
            <a:extLst>
              <a:ext uri="{FF2B5EF4-FFF2-40B4-BE49-F238E27FC236}">
                <a16:creationId xmlns:a16="http://schemas.microsoft.com/office/drawing/2014/main" id="{41176036-FC33-D5F4-CF78-5875D2B37A0F}"/>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外部キーについて</a:t>
            </a:r>
            <a:endParaRPr lang="en-US" altLang="ja-JP" dirty="0"/>
          </a:p>
        </p:txBody>
      </p:sp>
      <p:sp>
        <p:nvSpPr>
          <p:cNvPr id="5" name="タイトル プレースホルダー 1">
            <a:extLst>
              <a:ext uri="{FF2B5EF4-FFF2-40B4-BE49-F238E27FC236}">
                <a16:creationId xmlns:a16="http://schemas.microsoft.com/office/drawing/2014/main" id="{BDCB45C3-B6BB-2F4E-53DA-2AEC3E4844EB}"/>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endParaRPr lang="en-US" altLang="ja-JP" sz="1800" dirty="0"/>
          </a:p>
          <a:p>
            <a:pPr marL="285750" indent="-285750">
              <a:buFont typeface="Arial" panose="020B0604020202020204" pitchFamily="34" charset="0"/>
              <a:buChar char="•"/>
            </a:pPr>
            <a:endParaRPr lang="en-US" altLang="ja-JP" sz="1800" b="1"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sp>
        <p:nvSpPr>
          <p:cNvPr id="6" name="タイトル プレースホルダー 1">
            <a:extLst>
              <a:ext uri="{FF2B5EF4-FFF2-40B4-BE49-F238E27FC236}">
                <a16:creationId xmlns:a16="http://schemas.microsoft.com/office/drawing/2014/main" id="{94054A7A-8041-AC30-CD17-F608E9BFA052}"/>
              </a:ext>
            </a:extLst>
          </p:cNvPr>
          <p:cNvSpPr txBox="1">
            <a:spLocks/>
          </p:cNvSpPr>
          <p:nvPr/>
        </p:nvSpPr>
        <p:spPr>
          <a:xfrm>
            <a:off x="508000" y="2298704"/>
            <a:ext cx="11506200" cy="113029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pPr marL="285750" indent="-285750">
              <a:buFont typeface="Arial" panose="020B0604020202020204" pitchFamily="34" charset="0"/>
              <a:buChar char="•"/>
            </a:pPr>
            <a:r>
              <a:rPr lang="ja-JP" altLang="en-US" sz="1800" dirty="0"/>
              <a:t>「社員」テーブルと「部署」テーブルを内部結合する（内部結合は結合条件を満たすもののみを戻す結合方法）</a:t>
            </a:r>
            <a:endParaRPr lang="en-US" altLang="ja-JP" sz="1800" dirty="0"/>
          </a:p>
          <a:p>
            <a:pPr marL="285750" indent="-285750">
              <a:buFont typeface="Arial" panose="020B0604020202020204" pitchFamily="34" charset="0"/>
              <a:buChar char="•"/>
            </a:pPr>
            <a:r>
              <a:rPr lang="ja-JP" altLang="en-US" sz="1800" dirty="0"/>
              <a:t>外部キーである「部署コード」列が同一であることを結合条件として指定する</a:t>
            </a:r>
            <a:endParaRPr lang="en-US" altLang="ja-JP" sz="1800" dirty="0"/>
          </a:p>
          <a:p>
            <a:pPr marL="285750" indent="-285750">
              <a:buFont typeface="Arial" panose="020B0604020202020204" pitchFamily="34" charset="0"/>
              <a:buChar char="•"/>
            </a:pPr>
            <a:r>
              <a:rPr lang="ja-JP" altLang="en-US" sz="1800" dirty="0"/>
              <a:t>「結合」をすると「正規化」前の状態に戻すことができる。</a:t>
            </a:r>
            <a:endParaRPr lang="en-US" altLang="ja-JP" sz="1800" dirty="0"/>
          </a:p>
          <a:p>
            <a:pPr marL="285750" indent="-285750">
              <a:buFont typeface="Arial" panose="020B0604020202020204" pitchFamily="34" charset="0"/>
              <a:buChar char="•"/>
            </a:pPr>
            <a:endParaRPr lang="en-US" altLang="ja-JP" sz="1800" dirty="0"/>
          </a:p>
          <a:p>
            <a:pPr marL="285750" indent="-285750">
              <a:buFont typeface="Arial" panose="020B0604020202020204" pitchFamily="34" charset="0"/>
              <a:buChar char="•"/>
            </a:pPr>
            <a:endParaRPr lang="en-US" altLang="ja-JP" sz="1800" dirty="0"/>
          </a:p>
          <a:p>
            <a:pPr marL="285750" indent="-285750">
              <a:buFont typeface="Arial" panose="020B0604020202020204" pitchFamily="34" charset="0"/>
              <a:buChar char="•"/>
            </a:pPr>
            <a:endParaRPr lang="en-US" altLang="ja-JP" sz="1800" b="1"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pic>
        <p:nvPicPr>
          <p:cNvPr id="8" name="図 7">
            <a:extLst>
              <a:ext uri="{FF2B5EF4-FFF2-40B4-BE49-F238E27FC236}">
                <a16:creationId xmlns:a16="http://schemas.microsoft.com/office/drawing/2014/main" id="{241D2DEE-423F-03E5-8532-F63C16283449}"/>
              </a:ext>
            </a:extLst>
          </p:cNvPr>
          <p:cNvPicPr>
            <a:picLocks noChangeAspect="1"/>
          </p:cNvPicPr>
          <p:nvPr/>
        </p:nvPicPr>
        <p:blipFill>
          <a:blip r:embed="rId2"/>
          <a:stretch>
            <a:fillRect/>
          </a:stretch>
        </p:blipFill>
        <p:spPr>
          <a:xfrm>
            <a:off x="330200" y="3217626"/>
            <a:ext cx="5182323" cy="3305636"/>
          </a:xfrm>
          <a:prstGeom prst="rect">
            <a:avLst/>
          </a:prstGeom>
        </p:spPr>
      </p:pic>
      <p:sp>
        <p:nvSpPr>
          <p:cNvPr id="9" name="二等辺三角形 8">
            <a:extLst>
              <a:ext uri="{FF2B5EF4-FFF2-40B4-BE49-F238E27FC236}">
                <a16:creationId xmlns:a16="http://schemas.microsoft.com/office/drawing/2014/main" id="{DEFBE9F4-89D5-2ED7-E34E-DE578195040E}"/>
              </a:ext>
            </a:extLst>
          </p:cNvPr>
          <p:cNvSpPr/>
          <p:nvPr/>
        </p:nvSpPr>
        <p:spPr>
          <a:xfrm rot="5400000">
            <a:off x="4066885" y="4577605"/>
            <a:ext cx="3305637" cy="585679"/>
          </a:xfrm>
          <a:prstGeom prst="triangle">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0" name="表 9">
            <a:extLst>
              <a:ext uri="{FF2B5EF4-FFF2-40B4-BE49-F238E27FC236}">
                <a16:creationId xmlns:a16="http://schemas.microsoft.com/office/drawing/2014/main" id="{E09E9B3A-4ED5-F01B-235D-8C259C03DC5C}"/>
              </a:ext>
            </a:extLst>
          </p:cNvPr>
          <p:cNvGraphicFramePr>
            <a:graphicFrameLocks noGrp="1"/>
          </p:cNvGraphicFramePr>
          <p:nvPr>
            <p:extLst>
              <p:ext uri="{D42A27DB-BD31-4B8C-83A1-F6EECF244321}">
                <p14:modId xmlns:p14="http://schemas.microsoft.com/office/powerpoint/2010/main" val="565716321"/>
              </p:ext>
            </p:extLst>
          </p:nvPr>
        </p:nvGraphicFramePr>
        <p:xfrm>
          <a:off x="6248488" y="3217626"/>
          <a:ext cx="5621286" cy="3305636"/>
        </p:xfrm>
        <a:graphic>
          <a:graphicData uri="http://schemas.openxmlformats.org/drawingml/2006/table">
            <a:tbl>
              <a:tblPr firstRow="1" bandRow="1">
                <a:tableStyleId>{5C22544A-7EE6-4342-B048-85BDC9FD1C3A}</a:tableStyleId>
              </a:tblPr>
              <a:tblGrid>
                <a:gridCol w="936881">
                  <a:extLst>
                    <a:ext uri="{9D8B030D-6E8A-4147-A177-3AD203B41FA5}">
                      <a16:colId xmlns:a16="http://schemas.microsoft.com/office/drawing/2014/main" val="1430862820"/>
                    </a:ext>
                  </a:extLst>
                </a:gridCol>
                <a:gridCol w="936881">
                  <a:extLst>
                    <a:ext uri="{9D8B030D-6E8A-4147-A177-3AD203B41FA5}">
                      <a16:colId xmlns:a16="http://schemas.microsoft.com/office/drawing/2014/main" val="313098214"/>
                    </a:ext>
                  </a:extLst>
                </a:gridCol>
                <a:gridCol w="936881">
                  <a:extLst>
                    <a:ext uri="{9D8B030D-6E8A-4147-A177-3AD203B41FA5}">
                      <a16:colId xmlns:a16="http://schemas.microsoft.com/office/drawing/2014/main" val="1614430523"/>
                    </a:ext>
                  </a:extLst>
                </a:gridCol>
                <a:gridCol w="936881">
                  <a:extLst>
                    <a:ext uri="{9D8B030D-6E8A-4147-A177-3AD203B41FA5}">
                      <a16:colId xmlns:a16="http://schemas.microsoft.com/office/drawing/2014/main" val="3501686637"/>
                    </a:ext>
                  </a:extLst>
                </a:gridCol>
                <a:gridCol w="936881">
                  <a:extLst>
                    <a:ext uri="{9D8B030D-6E8A-4147-A177-3AD203B41FA5}">
                      <a16:colId xmlns:a16="http://schemas.microsoft.com/office/drawing/2014/main" val="1513970016"/>
                    </a:ext>
                  </a:extLst>
                </a:gridCol>
                <a:gridCol w="936881">
                  <a:extLst>
                    <a:ext uri="{9D8B030D-6E8A-4147-A177-3AD203B41FA5}">
                      <a16:colId xmlns:a16="http://schemas.microsoft.com/office/drawing/2014/main" val="2192414002"/>
                    </a:ext>
                  </a:extLst>
                </a:gridCol>
              </a:tblGrid>
              <a:tr h="739805">
                <a:tc>
                  <a:txBody>
                    <a:bodyPr/>
                    <a:lstStyle/>
                    <a:p>
                      <a:r>
                        <a:rPr kumimoji="1" lang="ja-JP" altLang="en-US" u="sng" dirty="0">
                          <a:solidFill>
                            <a:schemeClr val="tx1">
                              <a:lumMod val="75000"/>
                            </a:schemeClr>
                          </a:solidFill>
                        </a:rPr>
                        <a:t>会社コード</a:t>
                      </a:r>
                    </a:p>
                  </a:txBody>
                  <a:tcPr/>
                </a:tc>
                <a:tc>
                  <a:txBody>
                    <a:bodyPr/>
                    <a:lstStyle/>
                    <a:p>
                      <a:r>
                        <a:rPr kumimoji="1" lang="ja-JP" altLang="en-US" u="sng" dirty="0">
                          <a:solidFill>
                            <a:schemeClr val="tx1">
                              <a:lumMod val="75000"/>
                            </a:schemeClr>
                          </a:solidFill>
                        </a:rPr>
                        <a:t>社員</a:t>
                      </a:r>
                      <a:r>
                        <a:rPr kumimoji="1" lang="en-US" altLang="ja-JP" u="sng" dirty="0">
                          <a:solidFill>
                            <a:schemeClr val="tx1">
                              <a:lumMod val="75000"/>
                            </a:schemeClr>
                          </a:solidFill>
                        </a:rPr>
                        <a:t>ID</a:t>
                      </a:r>
                      <a:endParaRPr kumimoji="1" lang="ja-JP" altLang="en-US" u="sng" dirty="0">
                        <a:solidFill>
                          <a:schemeClr val="tx1">
                            <a:lumMod val="75000"/>
                          </a:schemeClr>
                        </a:solidFill>
                      </a:endParaRPr>
                    </a:p>
                  </a:txBody>
                  <a:tcPr/>
                </a:tc>
                <a:tc>
                  <a:txBody>
                    <a:bodyPr/>
                    <a:lstStyle/>
                    <a:p>
                      <a:r>
                        <a:rPr kumimoji="1" lang="ja-JP" altLang="en-US" dirty="0">
                          <a:solidFill>
                            <a:schemeClr val="tx1">
                              <a:lumMod val="75000"/>
                            </a:schemeClr>
                          </a:solidFill>
                        </a:rPr>
                        <a:t>社員名</a:t>
                      </a:r>
                    </a:p>
                  </a:txBody>
                  <a:tcPr/>
                </a:tc>
                <a:tc>
                  <a:txBody>
                    <a:bodyPr/>
                    <a:lstStyle/>
                    <a:p>
                      <a:r>
                        <a:rPr kumimoji="1" lang="ja-JP" altLang="en-US" dirty="0">
                          <a:solidFill>
                            <a:schemeClr val="tx1">
                              <a:lumMod val="75000"/>
                            </a:schemeClr>
                          </a:solidFill>
                        </a:rPr>
                        <a:t>年齢</a:t>
                      </a:r>
                    </a:p>
                  </a:txBody>
                  <a:tcPr/>
                </a:tc>
                <a:tc>
                  <a:txBody>
                    <a:bodyPr/>
                    <a:lstStyle/>
                    <a:p>
                      <a:r>
                        <a:rPr kumimoji="1" lang="ja-JP" altLang="en-US" dirty="0">
                          <a:solidFill>
                            <a:schemeClr val="tx1">
                              <a:lumMod val="75000"/>
                            </a:schemeClr>
                          </a:solidFill>
                        </a:rPr>
                        <a:t>部署コード</a:t>
                      </a:r>
                    </a:p>
                  </a:txBody>
                  <a:tcPr/>
                </a:tc>
                <a:tc>
                  <a:txBody>
                    <a:bodyPr/>
                    <a:lstStyle/>
                    <a:p>
                      <a:r>
                        <a:rPr kumimoji="1" lang="ja-JP" altLang="en-US" dirty="0">
                          <a:solidFill>
                            <a:schemeClr val="tx1">
                              <a:lumMod val="75000"/>
                            </a:schemeClr>
                          </a:solidFill>
                        </a:rPr>
                        <a:t>部署名</a:t>
                      </a:r>
                    </a:p>
                  </a:txBody>
                  <a:tcPr/>
                </a:tc>
                <a:extLst>
                  <a:ext uri="{0D108BD9-81ED-4DB2-BD59-A6C34878D82A}">
                    <a16:rowId xmlns:a16="http://schemas.microsoft.com/office/drawing/2014/main" val="2035072520"/>
                  </a:ext>
                </a:extLst>
              </a:tr>
              <a:tr h="428617">
                <a:tc>
                  <a:txBody>
                    <a:bodyPr/>
                    <a:lstStyle/>
                    <a:p>
                      <a:r>
                        <a:rPr kumimoji="1" lang="en-US" altLang="ja-JP" dirty="0"/>
                        <a:t>C0001</a:t>
                      </a:r>
                      <a:endParaRPr kumimoji="1" lang="ja-JP" altLang="en-US" dirty="0"/>
                    </a:p>
                  </a:txBody>
                  <a:tcPr/>
                </a:tc>
                <a:tc>
                  <a:txBody>
                    <a:bodyPr/>
                    <a:lstStyle/>
                    <a:p>
                      <a:r>
                        <a:rPr kumimoji="1" lang="en-US" altLang="ja-JP" dirty="0"/>
                        <a:t>000A</a:t>
                      </a:r>
                      <a:endParaRPr kumimoji="1" lang="ja-JP" altLang="en-US" dirty="0"/>
                    </a:p>
                  </a:txBody>
                  <a:tcPr/>
                </a:tc>
                <a:tc>
                  <a:txBody>
                    <a:bodyPr/>
                    <a:lstStyle/>
                    <a:p>
                      <a:r>
                        <a:rPr kumimoji="1" lang="ja-JP" altLang="en-US" dirty="0"/>
                        <a:t>加藤</a:t>
                      </a:r>
                    </a:p>
                  </a:txBody>
                  <a:tcPr/>
                </a:tc>
                <a:tc>
                  <a:txBody>
                    <a:bodyPr/>
                    <a:lstStyle/>
                    <a:p>
                      <a:r>
                        <a:rPr kumimoji="1" lang="en-US" altLang="ja-JP" dirty="0"/>
                        <a:t>40</a:t>
                      </a:r>
                      <a:endParaRPr kumimoji="1" lang="ja-JP" altLang="en-US" dirty="0"/>
                    </a:p>
                  </a:txBody>
                  <a:tcPr/>
                </a:tc>
                <a:tc>
                  <a:txBody>
                    <a:bodyPr/>
                    <a:lstStyle/>
                    <a:p>
                      <a:r>
                        <a:rPr kumimoji="1" lang="en-US" altLang="ja-JP" dirty="0"/>
                        <a:t>D01</a:t>
                      </a:r>
                      <a:endParaRPr kumimoji="1" lang="ja-JP" altLang="en-US" dirty="0"/>
                    </a:p>
                  </a:txBody>
                  <a:tcPr/>
                </a:tc>
                <a:tc>
                  <a:txBody>
                    <a:bodyPr/>
                    <a:lstStyle/>
                    <a:p>
                      <a:r>
                        <a:rPr kumimoji="1" lang="ja-JP" altLang="en-US" dirty="0"/>
                        <a:t>開発</a:t>
                      </a:r>
                    </a:p>
                  </a:txBody>
                  <a:tcPr/>
                </a:tc>
                <a:extLst>
                  <a:ext uri="{0D108BD9-81ED-4DB2-BD59-A6C34878D82A}">
                    <a16:rowId xmlns:a16="http://schemas.microsoft.com/office/drawing/2014/main" val="3787714943"/>
                  </a:ext>
                </a:extLst>
              </a:tr>
              <a:tr h="428617">
                <a:tc>
                  <a:txBody>
                    <a:bodyPr/>
                    <a:lstStyle/>
                    <a:p>
                      <a:r>
                        <a:rPr kumimoji="1" lang="en-US" altLang="ja-JP" dirty="0"/>
                        <a:t>C0001</a:t>
                      </a:r>
                      <a:endParaRPr kumimoji="1" lang="ja-JP" altLang="en-US" dirty="0"/>
                    </a:p>
                  </a:txBody>
                  <a:tcPr/>
                </a:tc>
                <a:tc>
                  <a:txBody>
                    <a:bodyPr/>
                    <a:lstStyle/>
                    <a:p>
                      <a:r>
                        <a:rPr kumimoji="1" lang="en-US" altLang="ja-JP" dirty="0"/>
                        <a:t>000B</a:t>
                      </a:r>
                      <a:endParaRPr kumimoji="1" lang="ja-JP" altLang="en-US" dirty="0"/>
                    </a:p>
                  </a:txBody>
                  <a:tcPr/>
                </a:tc>
                <a:tc>
                  <a:txBody>
                    <a:bodyPr/>
                    <a:lstStyle/>
                    <a:p>
                      <a:r>
                        <a:rPr kumimoji="1" lang="ja-JP" altLang="en-US" dirty="0"/>
                        <a:t>藤本</a:t>
                      </a:r>
                    </a:p>
                  </a:txBody>
                  <a:tcPr/>
                </a:tc>
                <a:tc>
                  <a:txBody>
                    <a:bodyPr/>
                    <a:lstStyle/>
                    <a:p>
                      <a:r>
                        <a:rPr kumimoji="1" lang="en-US" altLang="ja-JP" dirty="0"/>
                        <a:t>32</a:t>
                      </a:r>
                      <a:endParaRPr kumimoji="1" lang="ja-JP" altLang="en-US" dirty="0"/>
                    </a:p>
                  </a:txBody>
                  <a:tcPr/>
                </a:tc>
                <a:tc>
                  <a:txBody>
                    <a:bodyPr/>
                    <a:lstStyle/>
                    <a:p>
                      <a:r>
                        <a:rPr kumimoji="1" lang="en-US" altLang="ja-JP" dirty="0"/>
                        <a:t>D02</a:t>
                      </a:r>
                      <a:endParaRPr kumimoji="1" lang="ja-JP" altLang="en-US" dirty="0"/>
                    </a:p>
                  </a:txBody>
                  <a:tcPr/>
                </a:tc>
                <a:tc>
                  <a:txBody>
                    <a:bodyPr/>
                    <a:lstStyle/>
                    <a:p>
                      <a:r>
                        <a:rPr kumimoji="1" lang="ja-JP" altLang="en-US" dirty="0"/>
                        <a:t>人事</a:t>
                      </a:r>
                    </a:p>
                  </a:txBody>
                  <a:tcPr/>
                </a:tc>
                <a:extLst>
                  <a:ext uri="{0D108BD9-81ED-4DB2-BD59-A6C34878D82A}">
                    <a16:rowId xmlns:a16="http://schemas.microsoft.com/office/drawing/2014/main" val="532976586"/>
                  </a:ext>
                </a:extLst>
              </a:tr>
              <a:tr h="428617">
                <a:tc>
                  <a:txBody>
                    <a:bodyPr/>
                    <a:lstStyle/>
                    <a:p>
                      <a:r>
                        <a:rPr kumimoji="1" lang="en-US" altLang="ja-JP" dirty="0"/>
                        <a:t>C0001</a:t>
                      </a:r>
                      <a:endParaRPr kumimoji="1" lang="ja-JP" altLang="en-US" dirty="0"/>
                    </a:p>
                  </a:txBody>
                  <a:tcPr/>
                </a:tc>
                <a:tc>
                  <a:txBody>
                    <a:bodyPr/>
                    <a:lstStyle/>
                    <a:p>
                      <a:r>
                        <a:rPr kumimoji="1" lang="en-US" altLang="ja-JP" dirty="0"/>
                        <a:t>001F</a:t>
                      </a:r>
                      <a:endParaRPr kumimoji="1" lang="ja-JP" altLang="en-US" dirty="0"/>
                    </a:p>
                  </a:txBody>
                  <a:tcPr/>
                </a:tc>
                <a:tc>
                  <a:txBody>
                    <a:bodyPr/>
                    <a:lstStyle/>
                    <a:p>
                      <a:r>
                        <a:rPr kumimoji="1" lang="ja-JP" altLang="en-US" dirty="0"/>
                        <a:t>三島</a:t>
                      </a:r>
                    </a:p>
                  </a:txBody>
                  <a:tcPr/>
                </a:tc>
                <a:tc>
                  <a:txBody>
                    <a:bodyPr/>
                    <a:lstStyle/>
                    <a:p>
                      <a:r>
                        <a:rPr kumimoji="1" lang="en-US" altLang="ja-JP" dirty="0"/>
                        <a:t>50</a:t>
                      </a:r>
                      <a:endParaRPr kumimoji="1" lang="ja-JP" altLang="en-US" dirty="0"/>
                    </a:p>
                  </a:txBody>
                  <a:tcPr/>
                </a:tc>
                <a:tc>
                  <a:txBody>
                    <a:bodyPr/>
                    <a:lstStyle/>
                    <a:p>
                      <a:r>
                        <a:rPr kumimoji="1" lang="en-US" altLang="ja-JP" dirty="0"/>
                        <a:t>D03</a:t>
                      </a:r>
                      <a:endParaRPr kumimoji="1" lang="ja-JP" altLang="en-US" dirty="0"/>
                    </a:p>
                  </a:txBody>
                  <a:tcPr/>
                </a:tc>
                <a:tc>
                  <a:txBody>
                    <a:bodyPr/>
                    <a:lstStyle/>
                    <a:p>
                      <a:r>
                        <a:rPr kumimoji="1" lang="ja-JP" altLang="en-US" dirty="0"/>
                        <a:t>営業</a:t>
                      </a:r>
                    </a:p>
                  </a:txBody>
                  <a:tcPr/>
                </a:tc>
                <a:extLst>
                  <a:ext uri="{0D108BD9-81ED-4DB2-BD59-A6C34878D82A}">
                    <a16:rowId xmlns:a16="http://schemas.microsoft.com/office/drawing/2014/main" val="3616448333"/>
                  </a:ext>
                </a:extLst>
              </a:tr>
              <a:tr h="428617">
                <a:tc>
                  <a:txBody>
                    <a:bodyPr/>
                    <a:lstStyle/>
                    <a:p>
                      <a:r>
                        <a:rPr kumimoji="1" lang="en-US" altLang="ja-JP" dirty="0"/>
                        <a:t>C0002</a:t>
                      </a:r>
                      <a:endParaRPr kumimoji="1" lang="ja-JP" altLang="en-US" dirty="0"/>
                    </a:p>
                  </a:txBody>
                  <a:tcPr/>
                </a:tc>
                <a:tc>
                  <a:txBody>
                    <a:bodyPr/>
                    <a:lstStyle/>
                    <a:p>
                      <a:r>
                        <a:rPr kumimoji="1" lang="en-US" altLang="ja-JP" dirty="0"/>
                        <a:t>000A</a:t>
                      </a:r>
                      <a:endParaRPr kumimoji="1" lang="ja-JP" altLang="en-US" dirty="0"/>
                    </a:p>
                  </a:txBody>
                  <a:tcPr/>
                </a:tc>
                <a:tc>
                  <a:txBody>
                    <a:bodyPr/>
                    <a:lstStyle/>
                    <a:p>
                      <a:r>
                        <a:rPr kumimoji="1" lang="ja-JP" altLang="en-US" dirty="0"/>
                        <a:t>斎藤</a:t>
                      </a:r>
                    </a:p>
                  </a:txBody>
                  <a:tcPr/>
                </a:tc>
                <a:tc>
                  <a:txBody>
                    <a:bodyPr/>
                    <a:lstStyle/>
                    <a:p>
                      <a:r>
                        <a:rPr kumimoji="1" lang="en-US" altLang="ja-JP" dirty="0"/>
                        <a:t>47</a:t>
                      </a:r>
                      <a:endParaRPr kumimoji="1" lang="ja-JP" altLang="en-US" dirty="0"/>
                    </a:p>
                  </a:txBody>
                  <a:tcPr/>
                </a:tc>
                <a:tc>
                  <a:txBody>
                    <a:bodyPr/>
                    <a:lstStyle/>
                    <a:p>
                      <a:r>
                        <a:rPr kumimoji="1" lang="en-US" altLang="ja-JP" dirty="0"/>
                        <a:t>D03</a:t>
                      </a:r>
                      <a:endParaRPr kumimoji="1" lang="ja-JP" altLang="en-US" dirty="0"/>
                    </a:p>
                  </a:txBody>
                  <a:tcPr/>
                </a:tc>
                <a:tc>
                  <a:txBody>
                    <a:bodyPr/>
                    <a:lstStyle/>
                    <a:p>
                      <a:r>
                        <a:rPr kumimoji="1" lang="ja-JP" altLang="en-US" dirty="0"/>
                        <a:t>営業</a:t>
                      </a:r>
                    </a:p>
                  </a:txBody>
                  <a:tcPr/>
                </a:tc>
                <a:extLst>
                  <a:ext uri="{0D108BD9-81ED-4DB2-BD59-A6C34878D82A}">
                    <a16:rowId xmlns:a16="http://schemas.microsoft.com/office/drawing/2014/main" val="433193485"/>
                  </a:ext>
                </a:extLst>
              </a:tr>
              <a:tr h="422746">
                <a:tc>
                  <a:txBody>
                    <a:bodyPr/>
                    <a:lstStyle/>
                    <a:p>
                      <a:r>
                        <a:rPr kumimoji="1" lang="en-US" altLang="ja-JP" dirty="0"/>
                        <a:t>C0002</a:t>
                      </a:r>
                      <a:endParaRPr kumimoji="1" lang="ja-JP" altLang="en-US" dirty="0"/>
                    </a:p>
                  </a:txBody>
                  <a:tcPr/>
                </a:tc>
                <a:tc>
                  <a:txBody>
                    <a:bodyPr/>
                    <a:lstStyle/>
                    <a:p>
                      <a:r>
                        <a:rPr kumimoji="1" lang="en-US" altLang="ja-JP" dirty="0"/>
                        <a:t>009F</a:t>
                      </a:r>
                      <a:endParaRPr kumimoji="1" lang="ja-JP" altLang="en-US" dirty="0"/>
                    </a:p>
                  </a:txBody>
                  <a:tcPr/>
                </a:tc>
                <a:tc>
                  <a:txBody>
                    <a:bodyPr/>
                    <a:lstStyle/>
                    <a:p>
                      <a:r>
                        <a:rPr kumimoji="1" lang="ja-JP" altLang="en-US" dirty="0"/>
                        <a:t>田島</a:t>
                      </a:r>
                    </a:p>
                  </a:txBody>
                  <a:tcPr/>
                </a:tc>
                <a:tc>
                  <a:txBody>
                    <a:bodyPr/>
                    <a:lstStyle/>
                    <a:p>
                      <a:r>
                        <a:rPr kumimoji="1" lang="en-US" altLang="ja-JP" dirty="0"/>
                        <a:t>25</a:t>
                      </a:r>
                      <a:endParaRPr kumimoji="1" lang="ja-JP" altLang="en-US" dirty="0"/>
                    </a:p>
                  </a:txBody>
                  <a:tcPr/>
                </a:tc>
                <a:tc>
                  <a:txBody>
                    <a:bodyPr/>
                    <a:lstStyle/>
                    <a:p>
                      <a:r>
                        <a:rPr kumimoji="1" lang="en-US" altLang="ja-JP" dirty="0"/>
                        <a:t>D01</a:t>
                      </a:r>
                      <a:endParaRPr kumimoji="1" lang="ja-JP" altLang="en-US" dirty="0"/>
                    </a:p>
                  </a:txBody>
                  <a:tcPr/>
                </a:tc>
                <a:tc>
                  <a:txBody>
                    <a:bodyPr/>
                    <a:lstStyle/>
                    <a:p>
                      <a:r>
                        <a:rPr kumimoji="1" lang="ja-JP" altLang="en-US" dirty="0"/>
                        <a:t>開発</a:t>
                      </a:r>
                    </a:p>
                  </a:txBody>
                  <a:tcPr/>
                </a:tc>
                <a:extLst>
                  <a:ext uri="{0D108BD9-81ED-4DB2-BD59-A6C34878D82A}">
                    <a16:rowId xmlns:a16="http://schemas.microsoft.com/office/drawing/2014/main" val="707118752"/>
                  </a:ext>
                </a:extLst>
              </a:tr>
              <a:tr h="428617">
                <a:tc>
                  <a:txBody>
                    <a:bodyPr/>
                    <a:lstStyle/>
                    <a:p>
                      <a:r>
                        <a:rPr kumimoji="1" lang="en-US" altLang="ja-JP" dirty="0"/>
                        <a:t>C0002</a:t>
                      </a:r>
                      <a:endParaRPr kumimoji="1" lang="ja-JP" altLang="en-US" dirty="0"/>
                    </a:p>
                  </a:txBody>
                  <a:tcPr/>
                </a:tc>
                <a:tc>
                  <a:txBody>
                    <a:bodyPr/>
                    <a:lstStyle/>
                    <a:p>
                      <a:r>
                        <a:rPr kumimoji="1" lang="en-US" altLang="ja-JP" dirty="0"/>
                        <a:t>010A</a:t>
                      </a:r>
                      <a:endParaRPr kumimoji="1" lang="ja-JP" altLang="en-US" dirty="0"/>
                    </a:p>
                  </a:txBody>
                  <a:tcPr/>
                </a:tc>
                <a:tc>
                  <a:txBody>
                    <a:bodyPr/>
                    <a:lstStyle/>
                    <a:p>
                      <a:r>
                        <a:rPr kumimoji="1" lang="ja-JP" altLang="en-US" dirty="0"/>
                        <a:t>渋谷</a:t>
                      </a:r>
                    </a:p>
                  </a:txBody>
                  <a:tcPr/>
                </a:tc>
                <a:tc>
                  <a:txBody>
                    <a:bodyPr/>
                    <a:lstStyle/>
                    <a:p>
                      <a:r>
                        <a:rPr kumimoji="1" lang="en-US" altLang="ja-JP" dirty="0"/>
                        <a:t>33</a:t>
                      </a:r>
                      <a:endParaRPr kumimoji="1" lang="ja-JP" altLang="en-US" dirty="0"/>
                    </a:p>
                  </a:txBody>
                  <a:tcPr/>
                </a:tc>
                <a:tc>
                  <a:txBody>
                    <a:bodyPr/>
                    <a:lstStyle/>
                    <a:p>
                      <a:r>
                        <a:rPr kumimoji="1" lang="en-US" altLang="ja-JP" dirty="0"/>
                        <a:t>D04</a:t>
                      </a:r>
                      <a:endParaRPr kumimoji="1" lang="ja-JP" altLang="en-US" dirty="0"/>
                    </a:p>
                  </a:txBody>
                  <a:tcPr/>
                </a:tc>
                <a:tc>
                  <a:txBody>
                    <a:bodyPr/>
                    <a:lstStyle/>
                    <a:p>
                      <a:r>
                        <a:rPr kumimoji="1" lang="ja-JP" altLang="en-US" dirty="0"/>
                        <a:t>総務</a:t>
                      </a:r>
                    </a:p>
                  </a:txBody>
                  <a:tcPr/>
                </a:tc>
                <a:extLst>
                  <a:ext uri="{0D108BD9-81ED-4DB2-BD59-A6C34878D82A}">
                    <a16:rowId xmlns:a16="http://schemas.microsoft.com/office/drawing/2014/main" val="3593766194"/>
                  </a:ext>
                </a:extLst>
              </a:tr>
            </a:tbl>
          </a:graphicData>
        </a:graphic>
      </p:graphicFrame>
    </p:spTree>
    <p:extLst>
      <p:ext uri="{BB962C8B-B14F-4D97-AF65-F5344CB8AC3E}">
        <p14:creationId xmlns:p14="http://schemas.microsoft.com/office/powerpoint/2010/main" val="2641927919"/>
      </p:ext>
    </p:extLst>
  </p:cSld>
  <p:clrMapOvr>
    <a:masterClrMapping/>
  </p:clrMapOvr>
</p:sld>
</file>

<file path=ppt/theme/theme1.xml><?xml version="1.0" encoding="utf-8"?>
<a:theme xmlns:a="http://schemas.openxmlformats.org/drawingml/2006/main" name="Office テーマ">
  <a:themeElements>
    <a:clrScheme name="ユーザー定義 1">
      <a:dk1>
        <a:srgbClr val="3F3F3F"/>
      </a:dk1>
      <a:lt1>
        <a:sysClr val="window" lastClr="FFFFFF"/>
      </a:lt1>
      <a:dk2>
        <a:srgbClr val="3F3F3F"/>
      </a:dk2>
      <a:lt2>
        <a:srgbClr val="E8E8E8"/>
      </a:lt2>
      <a:accent1>
        <a:srgbClr val="FFFF00"/>
      </a:accent1>
      <a:accent2>
        <a:srgbClr val="FF0000"/>
      </a:accent2>
      <a:accent3>
        <a:srgbClr val="D8D8D8"/>
      </a:accent3>
      <a:accent4>
        <a:srgbClr val="0F9ED5"/>
      </a:accent4>
      <a:accent5>
        <a:srgbClr val="A02B93"/>
      </a:accent5>
      <a:accent6>
        <a:srgbClr val="4EA72E"/>
      </a:accent6>
      <a:hlink>
        <a:srgbClr val="467886"/>
      </a:hlink>
      <a:folHlink>
        <a:srgbClr val="96607D"/>
      </a:folHlink>
    </a:clrScheme>
    <a:fontScheme name="ユーザー定義 3">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807</TotalTime>
  <Words>4498</Words>
  <Application>Microsoft Office PowerPoint</Application>
  <PresentationFormat>ワイド画面</PresentationFormat>
  <Paragraphs>949</Paragraphs>
  <Slides>32</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32</vt:i4>
      </vt:variant>
    </vt:vector>
  </HeadingPairs>
  <TitlesOfParts>
    <vt:vector size="37" baseType="lpstr">
      <vt:lpstr>Meiryo UI</vt:lpstr>
      <vt:lpstr>游ゴシック</vt:lpstr>
      <vt:lpstr>Arial</vt:lpstr>
      <vt:lpstr>Wingdings</vt:lpstr>
      <vt:lpstr>Office テーマ</vt:lpstr>
      <vt:lpstr>PowerPoint プレゼンテーション</vt:lpstr>
      <vt:lpstr>目次　Vol1</vt:lpstr>
      <vt:lpstr>目次　Vol2</vt:lpstr>
      <vt:lpstr>目次　Vol3</vt:lpstr>
      <vt:lpstr>目次　Vol4</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弘樹 中村</dc:creator>
  <cp:lastModifiedBy>弘樹 中村</cp:lastModifiedBy>
  <cp:revision>1</cp:revision>
  <dcterms:created xsi:type="dcterms:W3CDTF">2025-10-25T06:16:43Z</dcterms:created>
  <dcterms:modified xsi:type="dcterms:W3CDTF">2026-09-22T06:52:26Z</dcterms:modified>
</cp:coreProperties>
</file>